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3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414" r:id="rId35"/>
    <p:sldId id="286" r:id="rId36"/>
    <p:sldId id="287" r:id="rId37"/>
    <p:sldId id="288" r:id="rId38"/>
    <p:sldId id="289" r:id="rId39"/>
    <p:sldId id="290" r:id="rId40"/>
    <p:sldId id="417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415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8" r:id="rId129"/>
    <p:sldId id="377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416" r:id="rId141"/>
    <p:sldId id="395" r:id="rId142"/>
    <p:sldId id="396" r:id="rId143"/>
    <p:sldId id="397" r:id="rId144"/>
    <p:sldId id="398" r:id="rId145"/>
    <p:sldId id="399" r:id="rId146"/>
    <p:sldId id="400" r:id="rId147"/>
    <p:sldId id="401" r:id="rId148"/>
    <p:sldId id="402" r:id="rId149"/>
    <p:sldId id="403" r:id="rId150"/>
    <p:sldId id="404" r:id="rId151"/>
    <p:sldId id="405" r:id="rId152"/>
    <p:sldId id="406" r:id="rId153"/>
    <p:sldId id="407" r:id="rId154"/>
    <p:sldId id="408" r:id="rId155"/>
    <p:sldId id="409" r:id="rId156"/>
    <p:sldId id="410" r:id="rId157"/>
    <p:sldId id="411" r:id="rId158"/>
    <p:sldId id="382" r:id="rId159"/>
    <p:sldId id="383" r:id="rId160"/>
    <p:sldId id="412" r:id="rId161"/>
    <p:sldId id="384" r:id="rId162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414"/>
            <p14:sldId id="286"/>
            <p14:sldId id="287"/>
            <p14:sldId id="288"/>
            <p14:sldId id="289"/>
            <p14:sldId id="290"/>
            <p14:sldId id="417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415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99" id="{3789D1E7-A78A-4166-B0AF-6F8C3134DEB1}">
          <p14:sldIdLst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416"/>
            <p14:sldId id="395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253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2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viewProps" Target="view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13/08/2025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9331-0941-3DB3-A77D-1122A08F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A6F45E34-A7E8-C2E7-A272-F1FC6697F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F8A0BF4A-132B-7085-2C76-D6A928B87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15C1BB5F-E4C5-01B1-212E-C5481DA75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3106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48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49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59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60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82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83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102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103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104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115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116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117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127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129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13/08/2025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13/08/2025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13/08/2025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/C99" TargetMode="Externa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7.bin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5.wmf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wmf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 xmlns=""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 xmlns=""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 xmlns=""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consist of {A,…,Z,a,…,z,_,0,…,9}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starts with {A,…,Z,a,…,z,_}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variables: 31 </a:t>
            </a:r>
            <a:r>
              <a:rPr lang="en-US" altLang="nl-BE" sz="2000" i="1"/>
              <a:t>significant</a:t>
            </a:r>
            <a:endParaRPr lang="en-US" altLang="nl-BE" sz="2000"/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functions: 6 </a:t>
            </a:r>
            <a:r>
              <a:rPr lang="en-US" altLang="nl-BE" sz="2000" i="1"/>
              <a:t>significant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no reserved words allowed: </a:t>
            </a:r>
            <a:r>
              <a:rPr lang="en-US" altLang="nl-BE" sz="2400">
                <a:latin typeface="Times New Roman" pitchFamily="18" charset="0"/>
              </a:rPr>
              <a:t>if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while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char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int</a:t>
            </a:r>
            <a:r>
              <a:rPr lang="en-US" altLang="nl-BE" sz="240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camelCase (e.g., </a:t>
            </a:r>
            <a:r>
              <a:rPr lang="en-US" altLang="nl-BE" sz="2000">
                <a:latin typeface="Times New Roman" pitchFamily="18" charset="0"/>
              </a:rPr>
              <a:t>nrOfRuns</a:t>
            </a:r>
            <a:r>
              <a:rPr lang="en-US" altLang="nl-BE" sz="2000"/>
              <a:t>) or </a:t>
            </a:r>
            <a:r>
              <a:rPr lang="en-US" altLang="nl-BE" sz="2000">
                <a:latin typeface="Times New Roman" pitchFamily="18" charset="0"/>
              </a:rPr>
              <a:t>'_'</a:t>
            </a:r>
            <a:r>
              <a:rPr lang="en-US" altLang="nl-BE" sz="2000"/>
              <a:t> (e.g., </a:t>
            </a:r>
            <a:r>
              <a:rPr lang="en-US" altLang="nl-BE" sz="2000">
                <a:latin typeface="Times New Roman" pitchFamily="18" charset="0"/>
              </a:rPr>
              <a:t>nr_of_runs</a:t>
            </a:r>
            <a:r>
              <a:rPr lang="en-US" altLang="nl-BE" sz="200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float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4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-FLT_MAX,…,-FLT_MIN, 0.0, FLT_MIN,…,FLT_MAX</a:t>
            </a:r>
          </a:p>
          <a:p>
            <a:pPr eaLnBrk="1" hangingPunct="1"/>
            <a:r>
              <a:rPr lang="en-US" altLang="nl-BE" dirty="0"/>
              <a:t>precision: FLT</a:t>
            </a:r>
            <a:r>
              <a:rPr lang="en-US" altLang="nl-BE" dirty="0">
                <a:latin typeface="Times New Roman" pitchFamily="18" charset="0"/>
              </a:rPr>
              <a:t>_EPSILON</a:t>
            </a:r>
            <a:r>
              <a:rPr lang="en-US" altLang="nl-BE" dirty="0"/>
              <a:t>, FLT</a:t>
            </a:r>
            <a:r>
              <a:rPr lang="en-US" altLang="nl-BE" dirty="0">
                <a:latin typeface="Times New Roman" pitchFamily="18" charset="0"/>
              </a:rPr>
              <a:t>_DIG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-34.0f, .5f, -0.3f, 1.3e12f, -1.1e-3f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49BE-98E0-694A-7F05-23545B26D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E9CBCF2E-B124-AE87-CBA7-A9228B717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20E2A885-F6A9-176D-EFC5-1DD997C9A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8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 dirty="0"/>
              <a:t>precision: </a:t>
            </a:r>
            <a:r>
              <a:rPr lang="en-US" altLang="nl-BE" dirty="0">
                <a:latin typeface="Times New Roman" pitchFamily="18" charset="0"/>
              </a:rPr>
              <a:t>DBL_EPSILON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 dirty="0"/>
              <a:t>modifiers:</a:t>
            </a:r>
          </a:p>
          <a:p>
            <a:pPr lvl="1" eaLnBrk="1" hangingPunct="1"/>
            <a:r>
              <a:rPr lang="en-US" altLang="nl-BE" dirty="0">
                <a:latin typeface="Times New Roman" pitchFamily="18" charset="0"/>
              </a:rPr>
              <a:t>long double</a:t>
            </a:r>
            <a:r>
              <a:rPr lang="en-US" altLang="nl-BE" dirty="0"/>
              <a:t>: rarely used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2CDC382B-2767-D42C-A45C-1EA166D0BB2F}"/>
              </a:ext>
            </a:extLst>
          </p:cNvPr>
          <p:cNvGrpSpPr>
            <a:grpSpLocks/>
          </p:cNvGrpSpPr>
          <p:nvPr/>
        </p:nvGrpSpPr>
        <p:grpSpPr bwMode="auto">
          <a:xfrm>
            <a:off x="4442618" y="1159670"/>
            <a:ext cx="4221163" cy="900113"/>
            <a:chOff x="2880" y="1139"/>
            <a:chExt cx="2659" cy="567"/>
          </a:xfrm>
        </p:grpSpPr>
        <p:sp>
          <p:nvSpPr>
            <p:cNvPr id="9221" name="Text Box 5">
              <a:extLst>
                <a:ext uri="{FF2B5EF4-FFF2-40B4-BE49-F238E27FC236}">
                  <a16:creationId xmlns:a16="http://schemas.microsoft.com/office/drawing/2014/main" id="{CB15796C-C4D7-196B-EBF6-CC7A9563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" y="113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 dirty="0"/>
                <a:t>defined in </a:t>
              </a:r>
              <a:r>
                <a:rPr lang="en-US" altLang="nl-BE" sz="2400" dirty="0" err="1">
                  <a:latin typeface="Times New Roman" pitchFamily="18" charset="0"/>
                </a:rPr>
                <a:t>float.h</a:t>
              </a:r>
              <a:endParaRPr lang="en-US" altLang="nl-BE" sz="2400" dirty="0">
                <a:latin typeface="Times New Roman" pitchFamily="18" charset="0"/>
              </a:endParaRPr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507EB124-730A-DEEC-0805-0CAF12C4C2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80" y="1325"/>
              <a:ext cx="1137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8A190918-DF3E-7B8A-EF7B-5FB69C318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69" y="1325"/>
              <a:ext cx="172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1A8FA-87DE-A0A7-0182-F370E488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0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nl-BE" dirty="0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'A'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char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65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12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12L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long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5.0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double</a:t>
            </a:r>
            <a:r>
              <a:rPr lang="en-US" altLang="nl-BE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+ 3.2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12L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5.3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4A333-B11A-59FF-BC89-C3CC17525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Accidental type conversions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CEF5-2BF7-29C2-FEF0-EAA4F4AFE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the wrong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Double promotion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26A61-4AA6-C215-09B3-FBD9B997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BC39F41-C5C8-577E-BD1D-42F12E462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4" y="2178730"/>
            <a:ext cx="208262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math.h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sin(x[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9B685581-0B1A-A4D2-6B7F-66D710BA9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3" y="4543960"/>
            <a:ext cx="2082621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3.0*x[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E91CA-E051-2D63-265B-86301225E6A5}"/>
              </a:ext>
            </a:extLst>
          </p:cNvPr>
          <p:cNvSpPr txBox="1"/>
          <p:nvPr/>
        </p:nvSpPr>
        <p:spPr>
          <a:xfrm>
            <a:off x="4918489" y="3573016"/>
            <a:ext cx="326942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x[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400" dirty="0"/>
              <a:t>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computation in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result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endParaRPr lang="LID4096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type information, e.g., </a:t>
            </a:r>
            <a:r>
              <a:rPr lang="en-US" altLang="nl-BE" dirty="0">
                <a:latin typeface="Times New Roman" pitchFamily="18" charset="0"/>
              </a:rPr>
              <a:t>int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, j;</a:t>
            </a:r>
          </a:p>
          <a:p>
            <a:pPr eaLnBrk="1" hangingPunct="1"/>
            <a:r>
              <a:rPr lang="en-US" altLang="nl-BE" dirty="0"/>
              <a:t>assignment, e.g., </a:t>
            </a:r>
            <a:r>
              <a:rPr lang="en-US" altLang="nl-BE" dirty="0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 dirty="0"/>
              <a:t>can be an expression, e.g.,</a:t>
            </a:r>
            <a:r>
              <a:rPr lang="en-US" altLang="nl-BE" dirty="0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 dirty="0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 dirty="0"/>
              <a:t>constants can't be modified, must be assigned upon declaration:</a:t>
            </a:r>
            <a:br>
              <a:rPr lang="en-US" altLang="nl-BE" dirty="0"/>
            </a:br>
            <a:r>
              <a:rPr lang="en-US" altLang="nl-BE" dirty="0"/>
              <a:t>    </a:t>
            </a:r>
            <a:r>
              <a:rPr lang="en-US" altLang="nl-BE" dirty="0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043236" y="4091357"/>
            <a:ext cx="7057527" cy="1169689"/>
            <a:chOff x="1259632" y="4377102"/>
            <a:chExt cx="7056120" cy="1169747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84697" y="4377102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CEAF0F-19B8-DAB3-6D34-6B2051124991}"/>
              </a:ext>
            </a:extLst>
          </p:cNvPr>
          <p:cNvSpPr txBox="1"/>
          <p:nvPr/>
        </p:nvSpPr>
        <p:spPr>
          <a:xfrm>
            <a:off x="2567237" y="5432006"/>
            <a:ext cx="11817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(x = 5) 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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scanf</a:t>
            </a:r>
            <a:r>
              <a:rPr lang="en-US" altLang="nl-BE" dirty="0">
                <a:latin typeface="Times New Roman" pitchFamily="18" charset="0"/>
              </a:rPr>
              <a:t>("%d %c %d", &amp;x, &amp;op, &amp;y);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printf</a:t>
            </a:r>
            <a:r>
              <a:rPr lang="en-US" altLang="nl-BE" dirty="0">
                <a:latin typeface="Times New Roman" pitchFamily="18" charset="0"/>
              </a:rPr>
              <a:t>("invalid operator: '%c'\n", op);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 xmlns=""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for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= 0;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&lt; 6;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(fac(input[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 == output[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use </a:t>
            </a:r>
            <a:r>
              <a:rPr lang="en-US" altLang="nl-BE" sz="1800" dirty="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assert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(input[i]) == output[i], "factorial");</a:t>
            </a:r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F104-72C9-34EB-2E1E-C8A773E9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6C308-E982-D4AE-58A7-CB3E62EA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declared in </a:t>
            </a:r>
            <a:r>
              <a:rPr lang="en-US" dirty="0" err="1"/>
              <a:t>math.h</a:t>
            </a:r>
            <a:endParaRPr lang="en-US" dirty="0"/>
          </a:p>
          <a:p>
            <a:r>
              <a:rPr lang="en-US" dirty="0"/>
              <a:t>many functions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sqrtf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for </a:t>
            </a:r>
            <a:r>
              <a:rPr lang="en-US" dirty="0" err="1">
                <a:sym typeface="Symbol" panose="05050102010706020507" pitchFamily="18" charset="2"/>
              </a:rPr>
              <a:t>gcc</a:t>
            </a:r>
            <a:r>
              <a:rPr lang="en-US" dirty="0">
                <a:sym typeface="Symbol" panose="05050102010706020507" pitchFamily="18" charset="2"/>
              </a:rPr>
              <a:t>, link with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lm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BBF7A-290E-5303-C372-EE08B8B6B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72452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 xmlns=""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 and C11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https://github.com/gjbex/training-material/tree/master/C/C99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ANSI C standard in 1989: ANSI C or C89</a:t>
            </a:r>
          </a:p>
          <a:p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IEEE 754 floating point support</a:t>
            </a:r>
          </a:p>
          <a:p>
            <a:pPr lvl="1"/>
            <a:r>
              <a:rPr lang="en-US" dirty="0"/>
              <a:t>inline functions</a:t>
            </a:r>
          </a:p>
          <a:p>
            <a:pPr lvl="1"/>
            <a:r>
              <a:rPr lang="en-US" dirty="0"/>
              <a:t>intermingled declarations &amp; code</a:t>
            </a:r>
          </a:p>
          <a:p>
            <a:pPr lvl="1"/>
            <a:r>
              <a:rPr lang="en-US" dirty="0"/>
              <a:t>Boolean &amp; complex type</a:t>
            </a:r>
          </a:p>
          <a:p>
            <a:pPr lvl="1"/>
            <a:r>
              <a:rPr lang="en-US" dirty="0"/>
              <a:t>variable length arrays</a:t>
            </a:r>
          </a:p>
          <a:p>
            <a:pPr lvl="1"/>
            <a:r>
              <a:rPr lang="en-US" dirty="0"/>
              <a:t>flexible arrays members</a:t>
            </a:r>
          </a:p>
          <a:p>
            <a:pPr lvl="1"/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pPr lvl="1"/>
            <a:r>
              <a:rPr lang="en-US" dirty="0"/>
              <a:t>restrict keyword</a:t>
            </a: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variable length arrays are optional feature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6084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1FC0E-2D2F-D1E0-4393-1FDF4828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5C44D-7076-74DD-9BCD-5457F3D90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dirty="0"/>
              <a:t> versus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dirty="0"/>
              <a:t>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sin(double)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(float)</a:t>
            </a:r>
          </a:p>
          <a:p>
            <a:r>
              <a:rPr lang="en-US" dirty="0"/>
              <a:t>Performance pitfall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r>
              <a:rPr lang="en-US" dirty="0"/>
              <a:t>: implementation decided by compiler based on argument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1B22C-C903-2AD5-85AE-97011BA7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83360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n-US" dirty="0"/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One-line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</a:t>
            </a:r>
          </a:p>
          <a:p>
            <a:r>
              <a:rPr lang="en-US" dirty="0"/>
              <a:t>Profiling</a:t>
            </a:r>
          </a:p>
          <a:p>
            <a:r>
              <a:rPr lang="en-US" dirty="0"/>
              <a:t>Performance optimization</a:t>
            </a:r>
          </a:p>
          <a:p>
            <a:r>
              <a:rPr lang="en-US" dirty="0"/>
              <a:t>Reading/writing scientific data: HDF5</a:t>
            </a:r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17068</Words>
  <Application>Microsoft Office PowerPoint</Application>
  <PresentationFormat>On-screen Show (4:3)</PresentationFormat>
  <Paragraphs>3473</Paragraphs>
  <Slides>161</Slides>
  <Notes>115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161</vt:i4>
      </vt:variant>
    </vt:vector>
  </HeadingPairs>
  <TitlesOfParts>
    <vt:vector size="176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Vergelijking</vt:lpstr>
      <vt:lpstr>Equation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</vt:lpstr>
      <vt:lpstr>double</vt:lpstr>
      <vt:lpstr>Representation of double</vt:lpstr>
      <vt:lpstr>enum</vt:lpstr>
      <vt:lpstr>struct</vt:lpstr>
      <vt:lpstr>Type sizes</vt:lpstr>
      <vt:lpstr>Type conversion</vt:lpstr>
      <vt:lpstr>Accidental type conversions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Mathematical functions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 and C11 extensions</vt:lpstr>
      <vt:lpstr>Introduction</vt:lpstr>
      <vt:lpstr>IEEE 754 floating point support</vt:lpstr>
      <vt:lpstr>Inline functions</vt:lpstr>
      <vt:lpstr>Boolean type</vt:lpstr>
      <vt:lpstr>Complex type</vt:lpstr>
      <vt:lpstr>Complex numbers example</vt:lpstr>
      <vt:lpstr>Variable length arrays</vt:lpstr>
      <vt:lpstr>Flexible array members</vt:lpstr>
      <vt:lpstr>Restrict</vt:lpstr>
      <vt:lpstr>tgmath.h</vt:lpstr>
      <vt:lpstr>Miscellaneous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35</cp:revision>
  <dcterms:created xsi:type="dcterms:W3CDTF">2015-12-23T15:15:26Z</dcterms:created>
  <dcterms:modified xsi:type="dcterms:W3CDTF">2025-08-13T08:15:30Z</dcterms:modified>
</cp:coreProperties>
</file>