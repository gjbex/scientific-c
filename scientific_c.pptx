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3"/>
  </p:notesMasterIdLst>
  <p:sldIdLst>
    <p:sldId id="278" r:id="rId2"/>
    <p:sldId id="379" r:id="rId3"/>
    <p:sldId id="381" r:id="rId4"/>
    <p:sldId id="380" r:id="rId5"/>
    <p:sldId id="41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414" r:id="rId35"/>
    <p:sldId id="286" r:id="rId36"/>
    <p:sldId id="287" r:id="rId37"/>
    <p:sldId id="288" r:id="rId38"/>
    <p:sldId id="289" r:id="rId39"/>
    <p:sldId id="290" r:id="rId40"/>
    <p:sldId id="417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415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8" r:id="rId129"/>
    <p:sldId id="377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416" r:id="rId141"/>
    <p:sldId id="395" r:id="rId142"/>
    <p:sldId id="396" r:id="rId143"/>
    <p:sldId id="397" r:id="rId144"/>
    <p:sldId id="398" r:id="rId145"/>
    <p:sldId id="399" r:id="rId146"/>
    <p:sldId id="400" r:id="rId147"/>
    <p:sldId id="401" r:id="rId148"/>
    <p:sldId id="402" r:id="rId149"/>
    <p:sldId id="403" r:id="rId150"/>
    <p:sldId id="404" r:id="rId151"/>
    <p:sldId id="405" r:id="rId152"/>
    <p:sldId id="406" r:id="rId153"/>
    <p:sldId id="407" r:id="rId154"/>
    <p:sldId id="408" r:id="rId155"/>
    <p:sldId id="409" r:id="rId156"/>
    <p:sldId id="410" r:id="rId157"/>
    <p:sldId id="411" r:id="rId158"/>
    <p:sldId id="382" r:id="rId159"/>
    <p:sldId id="383" r:id="rId160"/>
    <p:sldId id="412" r:id="rId161"/>
    <p:sldId id="384" r:id="rId162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2EC13D6-1260-459C-A1E7-DCA73CE453B2}">
          <p14:sldIdLst>
            <p14:sldId id="278"/>
          </p14:sldIdLst>
        </p14:section>
        <p14:section name="Introduction" id="{E87DE356-4864-4C42-ACE3-1CE3D2FA4D7A}">
          <p14:sldIdLst>
            <p14:sldId id="379"/>
            <p14:sldId id="381"/>
            <p14:sldId id="380"/>
            <p14:sldId id="413"/>
          </p14:sldIdLst>
        </p14:section>
        <p14:section name="C overview" id="{B09F0583-DF0F-4CCC-851F-2B06C665CC5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ypes and operators" id="{745FD21F-FA2D-4E8F-9496-C3072561D222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414"/>
            <p14:sldId id="286"/>
            <p14:sldId id="287"/>
            <p14:sldId id="288"/>
            <p14:sldId id="289"/>
            <p14:sldId id="290"/>
            <p14:sldId id="417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ontrol flow" id="{57D32E6C-D880-45CD-B49B-5565DC08AA7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Functions" id="{3A22B674-C70A-4299-B8E1-9BE8ACEF0E5A}">
          <p14:sldIdLst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415"/>
          </p14:sldIdLst>
        </p14:section>
        <p14:section name="Pointers and arrays" id="{FE295AE0-7267-4344-9A0F-75977B647A5D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Pointers, arrays and structures" id="{C70D3028-9689-41FF-93AA-F958E24CA9EF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I/O and command line arguments" id="{842713C9-C39F-4507-A37D-3F124D61194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8"/>
            <p14:sldId id="377"/>
          </p14:sldIdLst>
        </p14:section>
        <p14:section name="C99" id="{3789D1E7-A78A-4166-B0AF-6F8C3134DEB1}">
          <p14:sldIdLst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416"/>
            <p14:sldId id="395"/>
          </p14:sldIdLst>
        </p14:section>
        <p14:section name="GSL" id="{D17F2C87-2D63-476F-8F9A-2991617BB8CA}">
          <p14:sldIdLst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</p14:sldIdLst>
        </p14:section>
        <p14:section name="Conclusions" id="{A84C7A8B-F137-45AD-AA82-94BE5C03CD84}">
          <p14:sldIdLst>
            <p14:sldId id="382"/>
            <p14:sldId id="383"/>
            <p14:sldId id="412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253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62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viewProps" Target="view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91AD7-1707-4095-9ACB-74565FBFF828}" type="datetimeFigureOut">
              <a:rPr lang="nl-BE" smtClean="0"/>
              <a:t>13/08/2025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5CE9F5-1E14-460D-9894-FBE518DC0AA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242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883F0A-0B46-44FB-9260-4D75BC5E7044}" type="slidenum">
              <a:rPr lang="en-US" altLang="nl-BE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8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0CCC91E-A114-4C91-965D-D8CEEB06FB72}" type="slidenum">
              <a:rPr lang="en-US" altLang="nl-BE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609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28C830B-C99D-4881-8C76-4A6310C65F35}" type="slidenum">
              <a:rPr lang="en-US" altLang="nl-BE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8F3A3B6-EA8F-4C23-9347-6DF6BBA9BE72}" type="slidenum">
              <a:rPr lang="en-US" altLang="nl-BE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17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E178FE-C85C-4D92-A2DF-E857FB4D0262}" type="slidenum">
              <a:rPr lang="en-US" altLang="nl-BE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10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BA3FD8-A90A-4D1F-BCDA-F1DD22CFB9D2}" type="slidenum">
              <a:rPr lang="en-US" altLang="nl-BE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664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6CE4C3-F9CA-4EB3-A56F-EC65BB21B34F}" type="slidenum">
              <a:rPr lang="en-US" altLang="nl-BE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78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D0129B-769E-4D96-98A1-CE78CE29841C}" type="slidenum">
              <a:rPr lang="en-US" altLang="nl-BE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36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56972E-8C25-49EE-A33D-651EB0C1E511}" type="slidenum">
              <a:rPr lang="en-US" altLang="nl-BE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0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7DEFCB-ADD2-49FC-870F-E93C88371127}" type="slidenum">
              <a:rPr lang="en-US" altLang="nl-BE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0501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125AC9E-9192-4487-9285-2F6D082B6C31}" type="slidenum">
              <a:rPr lang="en-US" altLang="nl-BE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877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DA56F4-3C58-4614-B132-5D19FACCDDFA}" type="slidenum">
              <a:rPr lang="en-US" altLang="nl-BE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382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E1EA71-D068-4271-B7DA-C5B693D4E269}" type="slidenum">
              <a:rPr lang="en-US" altLang="nl-BE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nl-BE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77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BCC3F37-4290-49C3-9AA7-A1C9105A03A9}" type="slidenum">
              <a:rPr lang="en-US" altLang="nl-BE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nl-B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2C841C-EE33-4A91-ACAF-DED0D0B26C89}" type="slidenum">
              <a:rPr lang="en-US" altLang="nl-BE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nl-BE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0DA2EE-1A9B-444A-B20F-166F46EAA35B}" type="slidenum">
              <a:rPr lang="en-US" altLang="nl-BE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nl-B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10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00C8152-7615-4BB0-BE06-0741483292A9}" type="slidenum">
              <a:rPr lang="en-US" altLang="nl-BE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nl-BE"/>
          </a:p>
        </p:txBody>
      </p:sp>
      <p:sp>
        <p:nvSpPr>
          <p:cNvPr id="54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66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9C18D4-3D76-491F-B9DE-6D18584F406C}" type="slidenum">
              <a:rPr lang="en-US" altLang="nl-BE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nl-BE"/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5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2C70DE-9294-460F-BFD8-2E0ACC4CAE92}" type="slidenum">
              <a:rPr lang="en-US" altLang="nl-BE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nl-BE"/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688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33C5C-F99B-4BE3-86B9-627C66ADA238}" type="slidenum">
              <a:rPr lang="en-US" altLang="nl-BE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nl-BE"/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2547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A71C68-FCB5-4915-9600-75910E26919F}" type="slidenum">
              <a:rPr lang="en-US" smtClean="0">
                <a:latin typeface="Arial" pitchFamily="34" charset="0"/>
              </a:rPr>
              <a:pPr>
                <a:defRPr/>
              </a:pPr>
              <a:t>28</a:t>
            </a:fld>
            <a:endParaRPr lang="en-US">
              <a:latin typeface="Arial" pitchFamily="34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8552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69B88-4644-417E-889D-7891B2A53365}" type="slidenum">
              <a:rPr lang="en-US" smtClean="0">
                <a:latin typeface="Arial" pitchFamily="34" charset="0"/>
              </a:rPr>
              <a:pPr>
                <a:defRPr/>
              </a:pPr>
              <a:t>29</a:t>
            </a:fld>
            <a:endParaRPr lang="en-US">
              <a:latin typeface="Arial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565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6C89390-A632-46CC-BA5F-F98BE67650F9}" type="slidenum">
              <a:rPr lang="en-US" smtClean="0">
                <a:latin typeface="Arial" pitchFamily="34" charset="0"/>
              </a:rPr>
              <a:pPr>
                <a:defRPr/>
              </a:pPr>
              <a:t>30</a:t>
            </a:fld>
            <a:endParaRPr lang="en-US">
              <a:latin typeface="Arial" pitchFamily="34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00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834C01-5FB7-4BE0-A7EB-CCF7B2D2DC1F}" type="slidenum">
              <a:rPr lang="en-US" smtClean="0">
                <a:latin typeface="Arial" pitchFamily="34" charset="0"/>
              </a:rPr>
              <a:pPr>
                <a:defRPr/>
              </a:pPr>
              <a:t>31</a:t>
            </a:fld>
            <a:endParaRPr lang="en-US">
              <a:latin typeface="Arial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8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60F5888-8ED8-453F-9DCB-BEC34CB7AC6B}" type="slidenum">
              <a:rPr lang="en-US" smtClean="0">
                <a:latin typeface="Arial" pitchFamily="34" charset="0"/>
              </a:rPr>
              <a:pPr>
                <a:defRPr/>
              </a:pPr>
              <a:t>32</a:t>
            </a:fld>
            <a:endParaRPr lang="en-US">
              <a:latin typeface="Arial" pitchFamily="34" charset="0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9257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33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943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39331-0941-3DB3-A77D-1122A08F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A6F45E34-A7E8-C2E7-A272-F1FC6697F7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34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F8A0BF4A-132B-7085-2C76-D6A928B878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15C1BB5F-E4C5-01B1-212E-C5481DA75D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3106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46782CB-81CF-43B6-8C15-07A54DAC4CAF}" type="slidenum">
              <a:rPr lang="en-US" smtClean="0">
                <a:latin typeface="Arial" pitchFamily="34" charset="0"/>
              </a:rPr>
              <a:pPr>
                <a:defRPr/>
              </a:pPr>
              <a:t>35</a:t>
            </a:fld>
            <a:endParaRPr lang="en-US">
              <a:latin typeface="Arial" pitchFamily="34" charset="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629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616571-B267-47F2-BA2A-6DFBD4D1ECB2}" type="slidenum">
              <a:rPr lang="en-US" smtClean="0">
                <a:latin typeface="Arial" pitchFamily="34" charset="0"/>
              </a:rPr>
              <a:pPr>
                <a:defRPr/>
              </a:pPr>
              <a:t>36</a:t>
            </a:fld>
            <a:endParaRPr lang="en-US">
              <a:latin typeface="Arial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575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8A5E72C-D25D-4EFB-82F9-C7380BC6069D}" type="slidenum">
              <a:rPr lang="en-US" smtClean="0">
                <a:latin typeface="Arial" pitchFamily="34" charset="0"/>
              </a:rPr>
              <a:pPr>
                <a:defRPr/>
              </a:pPr>
              <a:t>37</a:t>
            </a:fld>
            <a:endParaRPr lang="en-US">
              <a:latin typeface="Arial" pitchFamily="34" charset="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7400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5C5B819-C9A4-4A9B-BA8E-D8FC828A031A}" type="slidenum">
              <a:rPr lang="en-US" smtClean="0">
                <a:latin typeface="Arial" pitchFamily="34" charset="0"/>
              </a:rPr>
              <a:pPr>
                <a:defRPr/>
              </a:pPr>
              <a:t>38</a:t>
            </a:fld>
            <a:endParaRPr lang="en-US">
              <a:latin typeface="Arial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70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553E557-8C53-4D90-BF95-91B286121390}" type="slidenum">
              <a:rPr lang="en-US" smtClean="0">
                <a:latin typeface="Arial" pitchFamily="34" charset="0"/>
              </a:rPr>
              <a:pPr>
                <a:defRPr/>
              </a:pPr>
              <a:t>39</a:t>
            </a:fld>
            <a:endParaRPr lang="en-US">
              <a:latin typeface="Arial" pitchFamily="34" charset="0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25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CF7BFE9-F3F7-4EF4-BDBC-0F218A1011C2}" type="slidenum">
              <a:rPr lang="en-US" smtClean="0">
                <a:latin typeface="Arial" pitchFamily="34" charset="0"/>
              </a:rPr>
              <a:pPr>
                <a:defRPr/>
              </a:pPr>
              <a:t>41</a:t>
            </a:fld>
            <a:endParaRPr lang="en-US">
              <a:latin typeface="Arial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1039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955759D-8843-4945-BB9E-FD39DFF0C2F2}" type="slidenum">
              <a:rPr lang="en-US" smtClean="0">
                <a:latin typeface="Arial" pitchFamily="34" charset="0"/>
              </a:rPr>
              <a:pPr>
                <a:defRPr/>
              </a:pPr>
              <a:t>42</a:t>
            </a:fld>
            <a:endParaRPr lang="en-US">
              <a:latin typeface="Arial" pitchFamily="34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3664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010B41-C0C1-42C8-B48C-535CF1024616}" type="slidenum">
              <a:rPr lang="en-US" smtClean="0">
                <a:latin typeface="Arial" pitchFamily="34" charset="0"/>
              </a:rPr>
              <a:pPr>
                <a:defRPr/>
              </a:pPr>
              <a:t>43</a:t>
            </a:fld>
            <a:endParaRPr lang="en-US">
              <a:latin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253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8C807-9194-4BBA-9944-2B768B670C74}" type="slidenum">
              <a:rPr lang="en-US" smtClean="0">
                <a:latin typeface="Arial" pitchFamily="34" charset="0"/>
              </a:rPr>
              <a:pPr>
                <a:defRPr/>
              </a:pPr>
              <a:t>44</a:t>
            </a:fld>
            <a:endParaRPr lang="en-US">
              <a:latin typeface="Arial" pitchFamily="34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0447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B9FED-F2AC-4863-A38A-4E16E79355A5}" type="slidenum">
              <a:rPr lang="en-US" smtClean="0">
                <a:latin typeface="Arial" pitchFamily="34" charset="0"/>
              </a:rPr>
              <a:pPr>
                <a:defRPr/>
              </a:pPr>
              <a:t>45</a:t>
            </a:fld>
            <a:endParaRPr lang="en-US">
              <a:latin typeface="Arial" pitchFamily="34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4632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ED0579-02AE-40A8-8883-F09B11BD6ECF}" type="slidenum">
              <a:rPr lang="en-US" smtClean="0">
                <a:latin typeface="Arial" pitchFamily="34" charset="0"/>
              </a:rPr>
              <a:pPr>
                <a:defRPr/>
              </a:pPr>
              <a:t>46</a:t>
            </a:fld>
            <a:endParaRPr lang="en-US">
              <a:latin typeface="Arial" pitchFamily="34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9752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A90C6C0-5250-42B7-9CA2-61196C627377}" type="slidenum">
              <a:rPr lang="en-US" smtClean="0">
                <a:latin typeface="Arial" pitchFamily="34" charset="0"/>
              </a:rPr>
              <a:pPr>
                <a:defRPr/>
              </a:pPr>
              <a:t>47</a:t>
            </a:fld>
            <a:endParaRPr lang="en-US">
              <a:latin typeface="Arial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02038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41ECB1B-686C-4629-8903-C1676CBE7202}" type="slidenum">
              <a:rPr lang="en-US" smtClean="0">
                <a:latin typeface="Arial" pitchFamily="34" charset="0"/>
              </a:rPr>
              <a:pPr>
                <a:defRPr/>
              </a:pPr>
              <a:t>48</a:t>
            </a:fld>
            <a:endParaRPr lang="en-US">
              <a:latin typeface="Arial" pitchFamily="34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646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927CC0B-C8BA-446E-B11B-5EACB4BA42F7}" type="slidenum">
              <a:rPr lang="en-US" smtClean="0">
                <a:latin typeface="Arial" pitchFamily="34" charset="0"/>
              </a:rPr>
              <a:pPr>
                <a:defRPr/>
              </a:pPr>
              <a:t>49</a:t>
            </a:fld>
            <a:endParaRPr lang="en-US">
              <a:latin typeface="Arial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5565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9A250CB3-2E9C-423F-8313-82465976BC49}" type="slidenum">
              <a:rPr lang="en-US" altLang="nl-BE"/>
              <a:pPr eaLnBrk="1" hangingPunct="1"/>
              <a:t>51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0377198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6DCF1C8E-1DFF-44C8-9FB2-E183A94A9AAD}" type="slidenum">
              <a:rPr lang="en-US" altLang="nl-BE"/>
              <a:pPr eaLnBrk="1" hangingPunct="1"/>
              <a:t>52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6181755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EC1AD5F0-3619-45D2-AF90-E96F52F0396A}" type="slidenum">
              <a:rPr lang="en-US" altLang="nl-BE"/>
              <a:pPr eaLnBrk="1" hangingPunct="1"/>
              <a:t>53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1937131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74391CB-D75D-4A10-8AE3-29269AC53701}" type="slidenum">
              <a:rPr lang="en-US" altLang="nl-BE"/>
              <a:pPr eaLnBrk="1" hangingPunct="1"/>
              <a:t>54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269185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36AD68FF-43F6-4256-9623-887D108DF53B}" type="slidenum">
              <a:rPr lang="en-US" altLang="nl-BE"/>
              <a:pPr eaLnBrk="1" hangingPunct="1"/>
              <a:t>55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9465795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59B4C97-1FA8-4818-8484-B4EDE707DDF7}" type="slidenum">
              <a:rPr lang="en-US" altLang="nl-BE"/>
              <a:pPr eaLnBrk="1" hangingPunct="1"/>
              <a:t>56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90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433A96F-321F-4019-8B5E-024899B68E0A}" type="slidenum">
              <a:rPr lang="en-US" altLang="nl-BE"/>
              <a:pPr eaLnBrk="1" hangingPunct="1"/>
              <a:t>57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8011852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CD6DA2F-F09E-4699-9CF4-84F42D51C277}" type="slidenum">
              <a:rPr lang="en-US" altLang="nl-BE"/>
              <a:pPr eaLnBrk="1" hangingPunct="1"/>
              <a:t>58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964927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851CA53B-5D9E-4402-8B38-BAF6255EEBA6}" type="slidenum">
              <a:rPr lang="en-US" altLang="nl-BE"/>
              <a:pPr eaLnBrk="1" hangingPunct="1"/>
              <a:t>59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334171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17424BD-DBC4-473C-BA49-ECD384BB2D80}" type="slidenum">
              <a:rPr lang="en-US" altLang="nl-BE"/>
              <a:pPr eaLnBrk="1" hangingPunct="1"/>
              <a:t>60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36046231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5CD950-F401-440F-9B37-482B7859F81F}" type="slidenum">
              <a:rPr lang="en-US" altLang="nl-BE"/>
              <a:pPr eaLnBrk="1" hangingPunct="1">
                <a:spcBef>
                  <a:spcPct val="0"/>
                </a:spcBef>
              </a:pPr>
              <a:t>62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610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5A48CD8-60DE-42E8-A529-D673A8A4A6A3}" type="slidenum">
              <a:rPr lang="en-US" altLang="nl-BE"/>
              <a:pPr eaLnBrk="1" hangingPunct="1">
                <a:spcBef>
                  <a:spcPct val="0"/>
                </a:spcBef>
              </a:pPr>
              <a:t>63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79598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261C181-012A-46FE-BB3C-250C656983DF}" type="slidenum">
              <a:rPr lang="en-US" altLang="nl-BE"/>
              <a:pPr eaLnBrk="1" hangingPunct="1">
                <a:spcBef>
                  <a:spcPct val="0"/>
                </a:spcBef>
              </a:pPr>
              <a:t>64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95805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227C3E3-7D6E-4C1B-8D5F-25639BBC9F88}" type="slidenum">
              <a:rPr lang="en-US" altLang="nl-BE"/>
              <a:pPr eaLnBrk="1" hangingPunct="1">
                <a:spcBef>
                  <a:spcPct val="0"/>
                </a:spcBef>
              </a:pPr>
              <a:t>65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7455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7FCCAB7-9FB8-4869-9570-012846CA2E46}" type="slidenum">
              <a:rPr lang="en-US" altLang="nl-BE"/>
              <a:pPr eaLnBrk="1" hangingPunct="1">
                <a:spcBef>
                  <a:spcPct val="0"/>
                </a:spcBef>
              </a:pPr>
              <a:t>66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846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CF4AB6-096B-4CEB-B82C-23FFF696E212}" type="slidenum">
              <a:rPr lang="en-US" altLang="nl-BE"/>
              <a:pPr eaLnBrk="1" hangingPunct="1">
                <a:spcBef>
                  <a:spcPct val="0"/>
                </a:spcBef>
              </a:pPr>
              <a:t>67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0027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728B19-4FAB-42E8-8C23-FA533C932809}" type="slidenum">
              <a:rPr lang="en-US" altLang="nl-BE"/>
              <a:pPr eaLnBrk="1" hangingPunct="1">
                <a:spcBef>
                  <a:spcPct val="0"/>
                </a:spcBef>
              </a:pPr>
              <a:t>68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3790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B7BBFD-CBE1-4303-8995-CFB588756E02}" type="slidenum">
              <a:rPr lang="en-US" altLang="nl-BE"/>
              <a:pPr eaLnBrk="1" hangingPunct="1">
                <a:spcBef>
                  <a:spcPct val="0"/>
                </a:spcBef>
              </a:pPr>
              <a:t>69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3535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90292F4-C37E-4AA6-9AA3-524FC2AE12D8}" type="slidenum">
              <a:rPr lang="en-US" altLang="nl-BE"/>
              <a:pPr eaLnBrk="1" hangingPunct="1">
                <a:spcBef>
                  <a:spcPct val="0"/>
                </a:spcBef>
              </a:pPr>
              <a:t>70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45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E7E907-015E-4994-AAD5-670A6140CF41}" type="slidenum">
              <a:rPr lang="en-US" altLang="nl-BE"/>
              <a:pPr eaLnBrk="1" hangingPunct="1">
                <a:spcBef>
                  <a:spcPct val="0"/>
                </a:spcBef>
              </a:pPr>
              <a:t>71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2191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FE7D21-2510-4664-8759-EB2D2F38D755}" type="slidenum">
              <a:rPr lang="en-US" altLang="nl-BE"/>
              <a:pPr eaLnBrk="1" hangingPunct="1">
                <a:spcBef>
                  <a:spcPct val="0"/>
                </a:spcBef>
              </a:pPr>
              <a:t>72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5407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F2BCA4-0ECE-492E-BD6B-5F49AF109C83}" type="slidenum">
              <a:rPr lang="en-US" altLang="nl-BE"/>
              <a:pPr eaLnBrk="1" hangingPunct="1">
                <a:spcBef>
                  <a:spcPct val="0"/>
                </a:spcBef>
              </a:pPr>
              <a:t>73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79294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7A35FFF-5598-4BED-86EF-38F3EE5D747A}" type="slidenum">
              <a:rPr lang="en-US" altLang="nl-BE"/>
              <a:pPr eaLnBrk="1" hangingPunct="1">
                <a:spcBef>
                  <a:spcPct val="0"/>
                </a:spcBef>
              </a:pPr>
              <a:t>74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8668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91527D-B062-4CEA-A973-5FA744F2D69E}" type="slidenum">
              <a:rPr lang="en-US" altLang="nl-BE"/>
              <a:pPr eaLnBrk="1" hangingPunct="1">
                <a:spcBef>
                  <a:spcPct val="0"/>
                </a:spcBef>
              </a:pPr>
              <a:t>75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5738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5EF2B8E-DACE-4DA9-B74B-FCBD174F08A0}" type="slidenum">
              <a:rPr lang="en-US" altLang="nl-BE"/>
              <a:pPr eaLnBrk="1" hangingPunct="1">
                <a:spcBef>
                  <a:spcPct val="0"/>
                </a:spcBef>
              </a:pPr>
              <a:t>76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0287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D697E0-5021-44F5-A392-9A9DA727C246}" type="slidenum">
              <a:rPr lang="en-US" altLang="nl-BE"/>
              <a:pPr eaLnBrk="1" hangingPunct="1">
                <a:spcBef>
                  <a:spcPct val="0"/>
                </a:spcBef>
              </a:pPr>
              <a:t>77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0957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7789173-1541-453C-A302-8395DE7B95DB}" type="slidenum">
              <a:rPr lang="en-US" altLang="nl-BE"/>
              <a:pPr eaLnBrk="1" hangingPunct="1">
                <a:spcBef>
                  <a:spcPct val="0"/>
                </a:spcBef>
              </a:pPr>
              <a:t>78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6565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CE4572-4F31-412C-A439-72DA1A0DF08D}" type="slidenum">
              <a:rPr lang="en-US" altLang="nl-BE"/>
              <a:pPr eaLnBrk="1" hangingPunct="1">
                <a:spcBef>
                  <a:spcPct val="0"/>
                </a:spcBef>
              </a:pPr>
              <a:t>79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09927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60A1FE4-5738-43FA-B8BA-DE9F89211F15}" type="slidenum">
              <a:rPr lang="en-US" altLang="nl-BE"/>
              <a:pPr eaLnBrk="1" hangingPunct="1">
                <a:spcBef>
                  <a:spcPct val="0"/>
                </a:spcBef>
              </a:pPr>
              <a:t>80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958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D4B1B-925C-407E-906E-51100DDF7D3F}" type="slidenum">
              <a:rPr lang="en-US" altLang="nl-BE"/>
              <a:pPr eaLnBrk="1" hangingPunct="1">
                <a:spcBef>
                  <a:spcPct val="0"/>
                </a:spcBef>
              </a:pPr>
              <a:t>81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361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E652EB-90ED-4F15-8209-90F9A5885EAA}" type="slidenum">
              <a:rPr lang="en-US" altLang="nl-BE"/>
              <a:pPr eaLnBrk="1" hangingPunct="1">
                <a:spcBef>
                  <a:spcPct val="0"/>
                </a:spcBef>
              </a:pPr>
              <a:t>82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081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534A192-AED0-4BDA-9F69-CB6A0E8AE583}" type="slidenum">
              <a:rPr lang="en-US" altLang="nl-BE"/>
              <a:pPr eaLnBrk="1" hangingPunct="1">
                <a:spcBef>
                  <a:spcPct val="0"/>
                </a:spcBef>
              </a:pPr>
              <a:t>83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195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87F917-FC17-4893-B534-2F08F1B232D2}" type="slidenum">
              <a:rPr lang="en-US" altLang="nl-BE"/>
              <a:pPr eaLnBrk="1" hangingPunct="1">
                <a:spcBef>
                  <a:spcPct val="0"/>
                </a:spcBef>
              </a:pPr>
              <a:t>86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468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B64234E-6D89-4C47-AE09-283CB7B3BC9F}" type="slidenum">
              <a:rPr lang="en-US" altLang="nl-BE"/>
              <a:pPr eaLnBrk="1" hangingPunct="1">
                <a:spcBef>
                  <a:spcPct val="0"/>
                </a:spcBef>
              </a:pPr>
              <a:t>87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08843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898FD3-D798-4E9B-8A69-6C9250105458}" type="slidenum">
              <a:rPr lang="en-US" altLang="nl-BE"/>
              <a:pPr eaLnBrk="1" hangingPunct="1">
                <a:spcBef>
                  <a:spcPct val="0"/>
                </a:spcBef>
              </a:pPr>
              <a:t>88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614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8D2340-6751-44FF-BD20-DFCED8D849CD}" type="slidenum">
              <a:rPr lang="en-US" altLang="nl-BE"/>
              <a:pPr eaLnBrk="1" hangingPunct="1">
                <a:spcBef>
                  <a:spcPct val="0"/>
                </a:spcBef>
              </a:pPr>
              <a:t>89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1754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A65149F-8A23-4BDC-BAA5-B7904AFD0EC7}" type="slidenum">
              <a:rPr lang="en-US" altLang="nl-BE"/>
              <a:pPr eaLnBrk="1" hangingPunct="1">
                <a:spcBef>
                  <a:spcPct val="0"/>
                </a:spcBef>
              </a:pPr>
              <a:t>90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93754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2861A-DB72-49D8-A2C4-F58F83F13172}" type="slidenum">
              <a:rPr lang="en-US" altLang="nl-BE"/>
              <a:pPr eaLnBrk="1" hangingPunct="1">
                <a:spcBef>
                  <a:spcPct val="0"/>
                </a:spcBef>
              </a:pPr>
              <a:t>91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7510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CD8CB7B-4F66-4E97-9B8D-7E7F6ED4DBC6}" type="slidenum">
              <a:rPr lang="en-US" altLang="nl-BE"/>
              <a:pPr eaLnBrk="1" hangingPunct="1">
                <a:spcBef>
                  <a:spcPct val="0"/>
                </a:spcBef>
              </a:pPr>
              <a:t>92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8574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312F9C-C7E5-4F58-99EE-847058950FDD}" type="slidenum">
              <a:rPr lang="en-US" altLang="nl-BE"/>
              <a:pPr eaLnBrk="1" hangingPunct="1">
                <a:spcBef>
                  <a:spcPct val="0"/>
                </a:spcBef>
              </a:pPr>
              <a:t>93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9141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FB4BD90-9967-44AF-BA4C-D5776DBD52AC}" type="slidenum">
              <a:rPr lang="en-US" altLang="nl-BE"/>
              <a:pPr eaLnBrk="1" hangingPunct="1">
                <a:spcBef>
                  <a:spcPct val="0"/>
                </a:spcBef>
              </a:pPr>
              <a:t>94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818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17065B7-F7FE-4C45-8528-7BFB6F9A6C23}" type="slidenum">
              <a:rPr lang="en-US" altLang="nl-BE"/>
              <a:pPr eaLnBrk="1" hangingPunct="1">
                <a:spcBef>
                  <a:spcPct val="0"/>
                </a:spcBef>
              </a:pPr>
              <a:t>95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6603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D6DF68-DBC6-4C33-BDDB-D879A9706C56}" type="slidenum">
              <a:rPr lang="en-US" altLang="nl-BE"/>
              <a:pPr eaLnBrk="1" hangingPunct="1">
                <a:spcBef>
                  <a:spcPct val="0"/>
                </a:spcBef>
              </a:pPr>
              <a:t>96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56689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2F5850-2558-4EE0-8B7E-495547333A74}" type="slidenum">
              <a:rPr lang="en-US" altLang="nl-BE"/>
              <a:pPr eaLnBrk="1" hangingPunct="1">
                <a:spcBef>
                  <a:spcPct val="0"/>
                </a:spcBef>
              </a:pPr>
              <a:t>97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926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F8D564-561B-4A75-B9F4-339BFC6063CB}" type="slidenum">
              <a:rPr lang="en-US" altLang="nl-BE"/>
              <a:pPr eaLnBrk="1" hangingPunct="1">
                <a:spcBef>
                  <a:spcPct val="0"/>
                </a:spcBef>
              </a:pPr>
              <a:t>98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84791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953A774-8FDE-4A1E-978D-E488D8A7FCC6}" type="slidenum">
              <a:rPr lang="en-US" altLang="nl-BE"/>
              <a:pPr eaLnBrk="1" hangingPunct="1">
                <a:spcBef>
                  <a:spcPct val="0"/>
                </a:spcBef>
              </a:pPr>
              <a:t>99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54557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0CD0EF-D054-4E03-B933-124064D82AC6}" type="slidenum">
              <a:rPr lang="en-US" altLang="nl-BE"/>
              <a:pPr eaLnBrk="1" hangingPunct="1">
                <a:spcBef>
                  <a:spcPct val="0"/>
                </a:spcBef>
              </a:pPr>
              <a:t>100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41502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1C3B85-D94B-484E-A289-7C9C10355576}" type="slidenum">
              <a:rPr lang="en-US" altLang="nl-BE"/>
              <a:pPr eaLnBrk="1" hangingPunct="1">
                <a:spcBef>
                  <a:spcPct val="0"/>
                </a:spcBef>
              </a:pPr>
              <a:t>101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23185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358591-7DD5-4C0C-88B2-659FEB13D1E9}" type="slidenum">
              <a:rPr lang="en-US" altLang="nl-BE"/>
              <a:pPr eaLnBrk="1" hangingPunct="1">
                <a:spcBef>
                  <a:spcPct val="0"/>
                </a:spcBef>
              </a:pPr>
              <a:t>102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76017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F44FDB-06F5-4A97-8854-C8B950F4DA4C}" type="slidenum">
              <a:rPr lang="en-US" altLang="nl-BE"/>
              <a:pPr eaLnBrk="1" hangingPunct="1">
                <a:spcBef>
                  <a:spcPct val="0"/>
                </a:spcBef>
              </a:pPr>
              <a:t>103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70974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5CF861-C39B-4E62-939D-76BADA978B7A}" type="slidenum">
              <a:rPr lang="en-US" altLang="nl-BE"/>
              <a:pPr eaLnBrk="1" hangingPunct="1">
                <a:spcBef>
                  <a:spcPct val="0"/>
                </a:spcBef>
              </a:pPr>
              <a:t>104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32736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D4F24B5-56E1-4C85-A9A5-01B0F691EBCA}" type="slidenum">
              <a:rPr lang="en-US" altLang="nl-BE"/>
              <a:pPr eaLnBrk="1" hangingPunct="1"/>
              <a:t>106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0173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DD8F59A-B6A1-462B-9004-185583C325C1}" type="slidenum">
              <a:rPr lang="en-US" altLang="nl-BE"/>
              <a:pPr eaLnBrk="1" hangingPunct="1"/>
              <a:t>107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3697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4A9CFE64-1BC9-4BE5-9499-78377A7B48F2}" type="slidenum">
              <a:rPr lang="en-US" altLang="nl-BE"/>
              <a:pPr eaLnBrk="1" hangingPunct="1"/>
              <a:t>108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748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43F5EED-CD8A-422A-A872-4AB2B23B8E51}" type="slidenum">
              <a:rPr lang="en-US" altLang="nl-BE"/>
              <a:pPr eaLnBrk="1" hangingPunct="1"/>
              <a:t>109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21021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7CEF2B6-0ECD-4425-AEF7-B8D3CA3BAC15}" type="slidenum">
              <a:rPr lang="en-US" altLang="nl-BE"/>
              <a:pPr eaLnBrk="1" hangingPunct="1"/>
              <a:t>110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9680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CF698225-9740-4752-AC59-27D3B12B19D3}" type="slidenum">
              <a:rPr lang="en-US" altLang="nl-BE"/>
              <a:pPr eaLnBrk="1" hangingPunct="1"/>
              <a:t>111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46387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82B8162-0DEE-4603-AD6F-647F4D3E8404}" type="slidenum">
              <a:rPr lang="en-US" altLang="nl-BE"/>
              <a:pPr eaLnBrk="1" hangingPunct="1"/>
              <a:t>112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1710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C717570-090E-4AD1-A727-56A55CBB7F66}" type="slidenum">
              <a:rPr lang="en-US" altLang="nl-BE"/>
              <a:pPr eaLnBrk="1" hangingPunct="1"/>
              <a:t>113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9786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0B6B3FA-2833-40F9-8E0D-34081F7F28CA}" type="slidenum">
              <a:rPr lang="en-US" altLang="nl-BE"/>
              <a:pPr eaLnBrk="1" hangingPunct="1"/>
              <a:t>114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1461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8EE696E-CBCF-41BF-8573-FEAF1CD929E0}" type="slidenum">
              <a:rPr lang="en-US" altLang="nl-BE"/>
              <a:pPr eaLnBrk="1" hangingPunct="1"/>
              <a:t>115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06388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B15BEF4-B00D-4605-9299-EC57833DA246}" type="slidenum">
              <a:rPr lang="en-US" altLang="nl-BE"/>
              <a:pPr eaLnBrk="1" hangingPunct="1"/>
              <a:t>116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95115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751BDE-89A9-43AA-B678-7957DA0AA829}" type="slidenum">
              <a:rPr lang="en-US" altLang="nl-BE"/>
              <a:pPr eaLnBrk="1" hangingPunct="1"/>
              <a:t>117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24267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B3DAF6B-9539-410F-827B-E3562997BCA8}" type="slidenum">
              <a:rPr lang="en-US" altLang="nl-BE"/>
              <a:pPr eaLnBrk="1" hangingPunct="1">
                <a:spcBef>
                  <a:spcPct val="0"/>
                </a:spcBef>
              </a:pPr>
              <a:t>120</a:t>
            </a:fld>
            <a:endParaRPr lang="en-US" altLang="nl-B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51289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AA674F0-615B-4123-B1AB-80C96AB64992}" type="slidenum">
              <a:rPr lang="en-US" altLang="nl-BE"/>
              <a:pPr eaLnBrk="1" hangingPunct="1">
                <a:spcBef>
                  <a:spcPct val="0"/>
                </a:spcBef>
              </a:pPr>
              <a:t>121</a:t>
            </a:fld>
            <a:endParaRPr lang="en-US" altLang="nl-BE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602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F93B30F-4AA2-4333-A3E5-CC00BB77608F}" type="slidenum">
              <a:rPr lang="en-US" altLang="nl-BE"/>
              <a:pPr eaLnBrk="1" hangingPunct="1">
                <a:spcBef>
                  <a:spcPct val="0"/>
                </a:spcBef>
              </a:pPr>
              <a:t>122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763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B9078F8-0ADF-44F6-9E30-4836DA9840E8}" type="slidenum">
              <a:rPr lang="en-US" altLang="nl-BE"/>
              <a:pPr eaLnBrk="1" hangingPunct="1">
                <a:spcBef>
                  <a:spcPct val="0"/>
                </a:spcBef>
              </a:pPr>
              <a:t>123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93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3A12BD-8CDB-45C8-827E-BFD194E20CEC}" type="slidenum">
              <a:rPr lang="en-US" altLang="nl-BE"/>
              <a:pPr eaLnBrk="1" hangingPunct="1">
                <a:spcBef>
                  <a:spcPct val="0"/>
                </a:spcBef>
              </a:pPr>
              <a:t>124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24603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D59C1-B8C0-4338-8FD0-8CF026806634}" type="slidenum">
              <a:rPr lang="en-US" altLang="nl-BE"/>
              <a:pPr eaLnBrk="1" hangingPunct="1">
                <a:spcBef>
                  <a:spcPct val="0"/>
                </a:spcBef>
              </a:pPr>
              <a:t>125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31448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3A9199-DC3C-4CCE-A15A-0B20DABCC8ED}" type="slidenum">
              <a:rPr lang="en-US" altLang="nl-BE"/>
              <a:pPr eaLnBrk="1" hangingPunct="1">
                <a:spcBef>
                  <a:spcPct val="0"/>
                </a:spcBef>
              </a:pPr>
              <a:t>126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5156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5D14A3E-D0AB-4581-B11D-E6D32AA44045}" type="slidenum">
              <a:rPr lang="en-US" altLang="nl-BE"/>
              <a:pPr eaLnBrk="1" hangingPunct="1">
                <a:spcBef>
                  <a:spcPct val="0"/>
                </a:spcBef>
              </a:pPr>
              <a:t>127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9875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7EB4E-E898-42FB-B1E1-206AB53F21FA}" type="slidenum">
              <a:rPr lang="en-US" altLang="nl-BE"/>
              <a:pPr eaLnBrk="1" hangingPunct="1">
                <a:spcBef>
                  <a:spcPct val="0"/>
                </a:spcBef>
              </a:pPr>
              <a:t>128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892346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AA165FF-CF4D-48B8-98CA-B374DD52880B}" type="slidenum">
              <a:rPr lang="en-US" altLang="nl-BE"/>
              <a:pPr eaLnBrk="1" hangingPunct="1">
                <a:spcBef>
                  <a:spcPct val="0"/>
                </a:spcBef>
              </a:pPr>
              <a:t>129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56393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5CE9F5-1E14-460D-9894-FBE518DC0AA1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452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B5C2-D967-4397-BC3D-2AE3F22B617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734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32843-2A0B-4B5E-8771-20A4EE865415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83169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B6854-E98B-4858-9114-9BCFB6DA8970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1821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B37B1-EFD3-4622-A026-6B19F67D373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663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DC15-C465-49B4-8701-9F06639A1F06}" type="datetime1">
              <a:rPr lang="nl-BE" smtClean="0"/>
              <a:t>13/08/2025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6424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9388-ECE1-427D-A9B8-E9B174BEEF40}" type="datetime1">
              <a:rPr lang="nl-BE" smtClean="0"/>
              <a:t>13/08/2025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63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ED8A3-F4D6-45C4-82E9-1C812DB709DF}" type="datetime1">
              <a:rPr lang="nl-BE" smtClean="0"/>
              <a:t>13/08/2025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2962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5F5F-443A-46C2-8107-E0C00F6F0CE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57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23426-EC20-42FD-AF9B-BC4E30914E69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2921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5FD26-72A6-4C9A-887C-D15B1520513B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90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0FF1-A84B-4EFF-994E-2F04F14A0B0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551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81693-341C-4B90-8FF8-C037D14C05FF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66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publicdomain/zero/1.0/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/C99" TargetMode="Externa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Math/GSL" TargetMode="External"/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7.bin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5.wmf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0.wmf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nl-BE" dirty="0"/>
              <a:t>C for scientific programming</a:t>
            </a:r>
            <a:endParaRPr lang="nl-BE" altLang="nl-BE" dirty="0"/>
          </a:p>
        </p:txBody>
      </p:sp>
      <p:sp>
        <p:nvSpPr>
          <p:cNvPr id="2051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nl-BE" dirty="0"/>
              <a:t>Geert Jan Bex</a:t>
            </a:r>
          </a:p>
          <a:p>
            <a:r>
              <a:rPr lang="en-US" altLang="nl-BE" dirty="0">
                <a:hlinkClick r:id="rId2"/>
              </a:rPr>
              <a:t>geertjan.bex@uhasselt.be</a:t>
            </a:r>
            <a:r>
              <a:rPr lang="en-US" altLang="nl-BE" dirty="0"/>
              <a:t> </a:t>
            </a:r>
            <a:endParaRPr lang="nl-BE" alt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08409" y="5130312"/>
            <a:ext cx="6869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Commons, see</a:t>
            </a:r>
            <a:br>
              <a:rPr lang="en-US" dirty="0"/>
            </a:br>
            <a:r>
              <a:rPr lang="nl-BE" dirty="0">
                <a:hlinkClick r:id="rId3"/>
              </a:rPr>
              <a:t>http://creativecommons.org/publicdomain/zero/1.0/</a:t>
            </a:r>
            <a:r>
              <a:rPr lang="nl-BE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81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359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C as programming language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semantics</a:t>
            </a:r>
          </a:p>
          <a:p>
            <a:r>
              <a:rPr lang="en-US" dirty="0"/>
              <a:t>Data structures &amp; algorithms</a:t>
            </a:r>
          </a:p>
          <a:p>
            <a:pPr lvl="1"/>
            <a:r>
              <a:rPr lang="en-US" dirty="0"/>
              <a:t>not extensive</a:t>
            </a:r>
          </a:p>
          <a:p>
            <a:r>
              <a:rPr lang="en-US" dirty="0"/>
              <a:t>C for scientific programming</a:t>
            </a:r>
          </a:p>
          <a:p>
            <a:pPr lvl="1"/>
            <a:r>
              <a:rPr lang="en-US" dirty="0"/>
              <a:t>using GNU Scientific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8700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Training materials</a:t>
            </a:r>
            <a:endParaRPr lang="nl-BE" alt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Slides based on</a:t>
            </a:r>
            <a:br>
              <a:rPr lang="en-US" altLang="nl-BE" dirty="0"/>
            </a:br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1346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297010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Programming in C: overview</a:t>
            </a:r>
            <a:endParaRPr lang="nl-BE" dirty="0"/>
          </a:p>
        </p:txBody>
      </p:sp>
      <p:sp>
        <p:nvSpPr>
          <p:cNvPr id="11267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1, Tutorial overview of C</a:t>
            </a:r>
            <a:endParaRPr lang="nl-BE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701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a tutorial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Real world: </a:t>
            </a:r>
            <a:r>
              <a:rPr lang="en-US" altLang="nl-BE" sz="2800"/>
              <a:t>compute the sum of two numbers</a:t>
            </a:r>
          </a:p>
          <a:p>
            <a:pPr eaLnBrk="1" hangingPunct="1"/>
            <a:r>
              <a:rPr lang="en-US" altLang="nl-BE"/>
              <a:t>Model: 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y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>
                <a:latin typeface="Euclid" pitchFamily="18" charset="0"/>
                <a:sym typeface="Symbol" pitchFamily="18" charset="2"/>
              </a:rPr>
              <a:t>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 b="1">
                <a:latin typeface="Euclid" pitchFamily="18" charset="0"/>
                <a:sym typeface="Euclid Extra" pitchFamily="18" charset="2"/>
              </a:rPr>
              <a:t>R</a:t>
            </a:r>
            <a:r>
              <a:rPr lang="en-US" altLang="nl-BE">
                <a:latin typeface="Euclid" pitchFamily="18" charset="0"/>
              </a:rPr>
              <a:t> :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=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 + </a:t>
            </a:r>
            <a:r>
              <a:rPr lang="en-US" altLang="nl-BE" i="1">
                <a:latin typeface="Euclid" pitchFamily="18" charset="0"/>
              </a:rPr>
              <a:t>y</a:t>
            </a:r>
          </a:p>
          <a:p>
            <a:pPr eaLnBrk="1" hangingPunct="1"/>
            <a:r>
              <a:rPr lang="en-US" altLang="nl-BE"/>
              <a:t>Implementation: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4067175" y="2852738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991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5" grpId="0" build="p"/>
      <p:bldP spid="102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 anatomy</a:t>
            </a:r>
          </a:p>
        </p:txBody>
      </p:sp>
      <p:sp>
        <p:nvSpPr>
          <p:cNvPr id="13315" name="Text Box 5"/>
          <p:cNvSpPr txBox="1">
            <a:spLocks noChangeArrowheads="1"/>
          </p:cNvSpPr>
          <p:nvPr/>
        </p:nvSpPr>
        <p:spPr bwMode="auto">
          <a:xfrm>
            <a:off x="827088" y="1851025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#include &lt;</a:t>
            </a:r>
            <a:r>
              <a:rPr lang="en-US" altLang="nl-BE" sz="2400" dirty="0" err="1">
                <a:latin typeface="Times New Roman" pitchFamily="18" charset="0"/>
              </a:rPr>
              <a:t>stdio.h</a:t>
            </a:r>
            <a:r>
              <a:rPr lang="en-US" altLang="nl-BE" sz="24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double x, y, z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x = 3.2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</a:t>
            </a:r>
            <a:r>
              <a:rPr lang="en-US" altLang="nl-BE" sz="2400" dirty="0" err="1">
                <a:latin typeface="Times New Roman" pitchFamily="18" charset="0"/>
              </a:rPr>
              <a:t>printf</a:t>
            </a:r>
            <a:r>
              <a:rPr lang="en-US" altLang="nl-BE" sz="2400" dirty="0">
                <a:latin typeface="Times New Roman" pitchFamily="18" charset="0"/>
              </a:rPr>
              <a:t>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580063" y="2708275"/>
            <a:ext cx="1279525" cy="2808288"/>
            <a:chOff x="3515" y="1525"/>
            <a:chExt cx="806" cy="1769"/>
          </a:xfrm>
        </p:grpSpPr>
        <p:sp>
          <p:nvSpPr>
            <p:cNvPr id="13329" name="AutoShape 6"/>
            <p:cNvSpPr>
              <a:spLocks/>
            </p:cNvSpPr>
            <p:nvPr/>
          </p:nvSpPr>
          <p:spPr bwMode="auto">
            <a:xfrm>
              <a:off x="3515" y="1525"/>
              <a:ext cx="136" cy="1769"/>
            </a:xfrm>
            <a:prstGeom prst="rightBrace">
              <a:avLst>
                <a:gd name="adj1" fmla="val 10839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30" name="Text Box 7"/>
            <p:cNvSpPr txBox="1">
              <a:spLocks noChangeArrowheads="1"/>
            </p:cNvSpPr>
            <p:nvPr/>
          </p:nvSpPr>
          <p:spPr bwMode="auto">
            <a:xfrm>
              <a:off x="3696" y="2292"/>
              <a:ext cx="62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</a:t>
              </a:r>
            </a:p>
          </p:txBody>
        </p:sp>
      </p:grp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924300" y="1844675"/>
            <a:ext cx="3028950" cy="576263"/>
            <a:chOff x="2472" y="981"/>
            <a:chExt cx="1908" cy="363"/>
          </a:xfrm>
        </p:grpSpPr>
        <p:sp>
          <p:nvSpPr>
            <p:cNvPr id="13327" name="AutoShape 8"/>
            <p:cNvSpPr>
              <a:spLocks/>
            </p:cNvSpPr>
            <p:nvPr/>
          </p:nvSpPr>
          <p:spPr bwMode="auto">
            <a:xfrm>
              <a:off x="2472" y="981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8" name="Text Box 9"/>
            <p:cNvSpPr txBox="1">
              <a:spLocks noChangeArrowheads="1"/>
            </p:cNvSpPr>
            <p:nvPr/>
          </p:nvSpPr>
          <p:spPr bwMode="auto">
            <a:xfrm>
              <a:off x="2608" y="1038"/>
              <a:ext cx="17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(standard library) includes</a:t>
              </a: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6948488" y="1844675"/>
            <a:ext cx="1322387" cy="3743325"/>
            <a:chOff x="4377" y="981"/>
            <a:chExt cx="833" cy="2358"/>
          </a:xfrm>
        </p:grpSpPr>
        <p:sp>
          <p:nvSpPr>
            <p:cNvPr id="13325" name="AutoShape 11"/>
            <p:cNvSpPr>
              <a:spLocks/>
            </p:cNvSpPr>
            <p:nvPr/>
          </p:nvSpPr>
          <p:spPr bwMode="auto">
            <a:xfrm>
              <a:off x="4377" y="981"/>
              <a:ext cx="136" cy="2358"/>
            </a:xfrm>
            <a:prstGeom prst="rightBrace">
              <a:avLst>
                <a:gd name="adj1" fmla="val 1444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6" name="Text Box 12"/>
            <p:cNvSpPr txBox="1">
              <a:spLocks noChangeArrowheads="1"/>
            </p:cNvSpPr>
            <p:nvPr/>
          </p:nvSpPr>
          <p:spPr bwMode="auto">
            <a:xfrm>
              <a:off x="4558" y="2020"/>
              <a:ext cx="6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program</a:t>
              </a: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414713" y="3140075"/>
            <a:ext cx="1589087" cy="1873250"/>
            <a:chOff x="2109" y="1933"/>
            <a:chExt cx="1001" cy="1180"/>
          </a:xfrm>
        </p:grpSpPr>
        <p:sp>
          <p:nvSpPr>
            <p:cNvPr id="13323" name="AutoShape 13"/>
            <p:cNvSpPr>
              <a:spLocks/>
            </p:cNvSpPr>
            <p:nvPr/>
          </p:nvSpPr>
          <p:spPr bwMode="auto">
            <a:xfrm>
              <a:off x="2109" y="1933"/>
              <a:ext cx="136" cy="1180"/>
            </a:xfrm>
            <a:prstGeom prst="rightBrace">
              <a:avLst>
                <a:gd name="adj1" fmla="val 7230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4" name="Text Box 14"/>
            <p:cNvSpPr txBox="1">
              <a:spLocks noChangeArrowheads="1"/>
            </p:cNvSpPr>
            <p:nvPr/>
          </p:nvSpPr>
          <p:spPr bwMode="auto">
            <a:xfrm>
              <a:off x="2290" y="2383"/>
              <a:ext cx="8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statements</a:t>
              </a:r>
            </a:p>
          </p:txBody>
        </p:sp>
      </p:grpSp>
      <p:grpSp>
        <p:nvGrpSpPr>
          <p:cNvPr id="6" name="Group 20"/>
          <p:cNvGrpSpPr>
            <a:grpSpLocks/>
          </p:cNvGrpSpPr>
          <p:nvPr/>
        </p:nvGrpSpPr>
        <p:grpSpPr bwMode="auto">
          <a:xfrm>
            <a:off x="3414713" y="2563813"/>
            <a:ext cx="1974850" cy="576262"/>
            <a:chOff x="2151" y="1434"/>
            <a:chExt cx="1244" cy="363"/>
          </a:xfrm>
        </p:grpSpPr>
        <p:sp>
          <p:nvSpPr>
            <p:cNvPr id="13321" name="AutoShape 15"/>
            <p:cNvSpPr>
              <a:spLocks/>
            </p:cNvSpPr>
            <p:nvPr/>
          </p:nvSpPr>
          <p:spPr bwMode="auto">
            <a:xfrm>
              <a:off x="2151" y="1434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2" name="Text Box 16"/>
            <p:cNvSpPr txBox="1">
              <a:spLocks noChangeArrowheads="1"/>
            </p:cNvSpPr>
            <p:nvPr/>
          </p:nvSpPr>
          <p:spPr bwMode="auto">
            <a:xfrm>
              <a:off x="2287" y="1491"/>
              <a:ext cx="11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 header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171700" y="3356318"/>
            <a:ext cx="4779970" cy="2890841"/>
            <a:chOff x="2171700" y="3356318"/>
            <a:chExt cx="4779970" cy="2890841"/>
          </a:xfrm>
        </p:grpSpPr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2916239" y="3356318"/>
              <a:ext cx="4035431" cy="2890841"/>
              <a:chOff x="2271" y="1121"/>
              <a:chExt cx="2542" cy="1821"/>
            </a:xfrm>
          </p:grpSpPr>
          <p:sp>
            <p:nvSpPr>
              <p:cNvPr id="20" name="Line 4"/>
              <p:cNvSpPr>
                <a:spLocks noChangeShapeType="1"/>
              </p:cNvSpPr>
              <p:nvPr/>
            </p:nvSpPr>
            <p:spPr bwMode="auto">
              <a:xfrm flipH="1" flipV="1">
                <a:off x="2271" y="1121"/>
                <a:ext cx="609" cy="1719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21" name="Text Box 5"/>
              <p:cNvSpPr txBox="1">
                <a:spLocks noChangeArrowheads="1"/>
              </p:cNvSpPr>
              <p:nvPr/>
            </p:nvSpPr>
            <p:spPr bwMode="auto">
              <a:xfrm>
                <a:off x="2913" y="2709"/>
                <a:ext cx="190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olidFill>
                      <a:srgbClr val="FF0000"/>
                    </a:solidFill>
                  </a:rPr>
                  <a:t>each statement ends with ';'</a:t>
                </a:r>
                <a:endParaRPr lang="en-US" altLang="nl-BE" sz="1800" dirty="0">
                  <a:latin typeface="Times New Roman" pitchFamily="18" charset="0"/>
                </a:endParaRPr>
              </a:p>
            </p:txBody>
          </p:sp>
        </p:grpSp>
        <p:sp>
          <p:nvSpPr>
            <p:cNvPr id="22" name="Line 4"/>
            <p:cNvSpPr>
              <a:spLocks noChangeShapeType="1"/>
            </p:cNvSpPr>
            <p:nvPr/>
          </p:nvSpPr>
          <p:spPr bwMode="auto">
            <a:xfrm flipH="1" flipV="1">
              <a:off x="2171700" y="3677443"/>
              <a:ext cx="1711327" cy="24077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337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Variables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2987675" y="1743075"/>
            <a:ext cx="6140453" cy="2862263"/>
            <a:chOff x="1882" y="1007"/>
            <a:chExt cx="3868" cy="1803"/>
          </a:xfrm>
        </p:grpSpPr>
        <p:sp>
          <p:nvSpPr>
            <p:cNvPr id="14346" name="Line 10"/>
            <p:cNvSpPr>
              <a:spLocks noChangeShapeType="1"/>
            </p:cNvSpPr>
            <p:nvPr/>
          </p:nvSpPr>
          <p:spPr bwMode="auto">
            <a:xfrm flipH="1">
              <a:off x="1882" y="1207"/>
              <a:ext cx="998" cy="72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7" name="Text Box 11"/>
            <p:cNvSpPr txBox="1">
              <a:spLocks noChangeArrowheads="1"/>
            </p:cNvSpPr>
            <p:nvPr/>
          </p:nvSpPr>
          <p:spPr bwMode="auto">
            <a:xfrm>
              <a:off x="2913" y="1007"/>
              <a:ext cx="2837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solidFill>
                    <a:srgbClr val="FF0000"/>
                  </a:solidFill>
                </a:rPr>
                <a:t>variable declaration</a:t>
              </a:r>
              <a:r>
                <a:rPr lang="en-US" altLang="nl-BE" sz="1800" dirty="0"/>
                <a:t>:</a:t>
              </a:r>
              <a:br>
                <a:rPr lang="en-US" altLang="nl-BE" sz="1800" dirty="0"/>
              </a:br>
              <a:r>
                <a:rPr lang="en-US" altLang="nl-BE" sz="1800" dirty="0"/>
                <a:t>  three variables named </a:t>
              </a:r>
              <a:r>
                <a:rPr lang="en-US" altLang="nl-BE" sz="1800" dirty="0">
                  <a:latin typeface="Times New Roman" pitchFamily="18" charset="0"/>
                </a:rPr>
                <a:t>x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y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z</a:t>
              </a:r>
              <a:br>
                <a:rPr lang="en-US" altLang="nl-BE" sz="1800" dirty="0"/>
              </a:br>
              <a:r>
                <a:rPr lang="en-US" altLang="nl-BE" sz="1800" dirty="0"/>
                <a:t>  of type </a:t>
              </a:r>
              <a:r>
                <a:rPr lang="en-US" altLang="nl-BE" sz="1800" dirty="0">
                  <a:latin typeface="Times New Roman" pitchFamily="18" charset="0"/>
                </a:rPr>
                <a:t>double </a:t>
              </a:r>
              <a:br>
                <a:rPr lang="en-US" altLang="nl-BE" sz="1800" dirty="0">
                  <a:latin typeface="Times New Roman" pitchFamily="18" charset="0"/>
                </a:rPr>
              </a:br>
              <a:endParaRPr lang="en-US" altLang="nl-BE" sz="1800" dirty="0">
                <a:latin typeface="Times New Roman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are case sensitive,</a:t>
              </a:r>
              <a:br>
                <a:rPr lang="en-US" altLang="nl-BE" sz="1800" dirty="0"/>
              </a:br>
              <a:r>
                <a:rPr lang="en-US" altLang="nl-BE" sz="1800" dirty="0"/>
                <a:t>  i.e., </a:t>
              </a:r>
              <a:r>
                <a:rPr lang="en-US" altLang="nl-BE" sz="1800" dirty="0">
                  <a:latin typeface="Times New Roman" pitchFamily="18" charset="0"/>
                </a:rPr>
                <a:t>x </a:t>
              </a:r>
              <a:r>
                <a:rPr lang="en-US" altLang="nl-BE" sz="1800" dirty="0">
                  <a:latin typeface="Times New Roman" pitchFamily="18" charset="0"/>
                  <a:sym typeface="Symbol" pitchFamily="18" charset="2"/>
                </a:rPr>
                <a:t></a:t>
              </a:r>
              <a:r>
                <a:rPr lang="en-US" altLang="nl-BE" sz="1800" dirty="0">
                  <a:latin typeface="Times New Roman" pitchFamily="18" charset="0"/>
                </a:rPr>
                <a:t> X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start with a letter or '_' and</a:t>
              </a:r>
              <a:br>
                <a:rPr lang="en-US" altLang="nl-BE" sz="1800" dirty="0"/>
              </a:br>
              <a:r>
                <a:rPr lang="en-US" altLang="nl-BE" sz="1800" dirty="0"/>
                <a:t>  can contain letters, digits and '</a:t>
              </a:r>
              <a:r>
                <a:rPr lang="en-US" altLang="nl-BE" sz="1800" dirty="0">
                  <a:latin typeface="Times New Roman" pitchFamily="18" charset="0"/>
                </a:rPr>
                <a:t>_</a:t>
              </a:r>
              <a:r>
                <a:rPr lang="en-US" altLang="nl-BE" sz="1800" dirty="0"/>
                <a:t>'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>
                <a:latin typeface="Times New Roman" pitchFamily="18" charset="0"/>
              </a:endParaRP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3060700" y="3571875"/>
            <a:ext cx="4575175" cy="2292350"/>
            <a:chOff x="1928" y="2250"/>
            <a:chExt cx="2882" cy="1444"/>
          </a:xfrm>
        </p:grpSpPr>
        <p:sp>
          <p:nvSpPr>
            <p:cNvPr id="14343" name="Line 12"/>
            <p:cNvSpPr>
              <a:spLocks noChangeShapeType="1"/>
            </p:cNvSpPr>
            <p:nvPr/>
          </p:nvSpPr>
          <p:spPr bwMode="auto">
            <a:xfrm flipH="1" flipV="1">
              <a:off x="1973" y="2568"/>
              <a:ext cx="907" cy="454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4" name="AutoShape 13"/>
            <p:cNvSpPr>
              <a:spLocks/>
            </p:cNvSpPr>
            <p:nvPr/>
          </p:nvSpPr>
          <p:spPr bwMode="auto">
            <a:xfrm>
              <a:off x="1928" y="2250"/>
              <a:ext cx="45" cy="590"/>
            </a:xfrm>
            <a:prstGeom prst="rightBrace">
              <a:avLst>
                <a:gd name="adj1" fmla="val 109259"/>
                <a:gd name="adj2" fmla="val 50000"/>
              </a:avLst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5" name="Text Box 14"/>
            <p:cNvSpPr txBox="1">
              <a:spLocks noChangeArrowheads="1"/>
            </p:cNvSpPr>
            <p:nvPr/>
          </p:nvSpPr>
          <p:spPr bwMode="auto">
            <a:xfrm>
              <a:off x="2925" y="2944"/>
              <a:ext cx="188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variable assignment:</a:t>
              </a:r>
              <a:br>
                <a:rPr lang="en-US" altLang="nl-BE" sz="1800">
                  <a:solidFill>
                    <a:srgbClr val="00CC00"/>
                  </a:solidFill>
                </a:rPr>
              </a:br>
              <a:r>
                <a:rPr lang="en-US" altLang="nl-BE" sz="1800">
                  <a:solidFill>
                    <a:srgbClr val="00CC00"/>
                  </a:solidFill>
                </a:rPr>
                <a:t>  </a:t>
              </a:r>
              <a:r>
                <a:rPr lang="en-US" altLang="nl-BE" sz="1800"/>
                <a:t>lhs : variable name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=  </a:t>
              </a:r>
              <a:r>
                <a:rPr lang="en-US" altLang="nl-BE" sz="1800"/>
                <a:t>: assignment operator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rhs : value or expression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sp>
        <p:nvSpPr>
          <p:cNvPr id="14342" name="TextBox 3"/>
          <p:cNvSpPr txBox="1">
            <a:spLocks noChangeArrowheads="1"/>
          </p:cNvSpPr>
          <p:nvPr/>
        </p:nvSpPr>
        <p:spPr bwMode="auto">
          <a:xfrm>
            <a:off x="611188" y="6053138"/>
            <a:ext cx="5526087" cy="4000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000"/>
              <a:t>variable: symbolic name for location in memory</a:t>
            </a:r>
            <a:endParaRPr lang="nl-BE" altLang="nl-BE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55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Constants &amp; operators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-2.1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x + y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2484438" y="4332288"/>
            <a:ext cx="4546600" cy="641350"/>
            <a:chOff x="1565" y="2709"/>
            <a:chExt cx="2864" cy="404"/>
          </a:xfrm>
        </p:grpSpPr>
        <p:sp>
          <p:nvSpPr>
            <p:cNvPr id="15368" name="Line 4"/>
            <p:cNvSpPr>
              <a:spLocks noChangeShapeType="1"/>
            </p:cNvSpPr>
            <p:nvPr/>
          </p:nvSpPr>
          <p:spPr bwMode="auto">
            <a:xfrm flipH="1" flipV="1">
              <a:off x="1565" y="2750"/>
              <a:ext cx="1315" cy="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9" name="Text Box 5"/>
            <p:cNvSpPr txBox="1">
              <a:spLocks noChangeArrowheads="1"/>
            </p:cNvSpPr>
            <p:nvPr/>
          </p:nvSpPr>
          <p:spPr bwMode="auto">
            <a:xfrm>
              <a:off x="2913" y="2709"/>
              <a:ext cx="151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arithmetic expression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operators: </a:t>
              </a:r>
              <a:r>
                <a:rPr lang="en-US" altLang="nl-BE" sz="1800">
                  <a:latin typeface="Times New Roman" pitchFamily="18" charset="0"/>
                </a:rPr>
                <a:t>+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*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/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268538" y="2309813"/>
            <a:ext cx="5915025" cy="1584325"/>
            <a:chOff x="1429" y="1389"/>
            <a:chExt cx="3726" cy="998"/>
          </a:xfrm>
        </p:grpSpPr>
        <p:sp>
          <p:nvSpPr>
            <p:cNvPr id="15366" name="Line 9"/>
            <p:cNvSpPr>
              <a:spLocks noChangeShapeType="1"/>
            </p:cNvSpPr>
            <p:nvPr/>
          </p:nvSpPr>
          <p:spPr bwMode="auto">
            <a:xfrm flipH="1">
              <a:off x="1429" y="1570"/>
              <a:ext cx="1406" cy="817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7" name="Text Box 11"/>
            <p:cNvSpPr txBox="1">
              <a:spLocks noChangeArrowheads="1"/>
            </p:cNvSpPr>
            <p:nvPr/>
          </p:nvSpPr>
          <p:spPr bwMode="auto">
            <a:xfrm>
              <a:off x="2903" y="1389"/>
              <a:ext cx="225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solidFill>
                    <a:srgbClr val="00CC00"/>
                  </a:solidFill>
                </a:rPr>
                <a:t> constants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e.g., </a:t>
              </a:r>
              <a:r>
                <a:rPr lang="en-US" altLang="nl-BE" sz="1800">
                  <a:latin typeface="Times New Roman" pitchFamily="18" charset="0"/>
                </a:rPr>
                <a:t>-2.1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12.178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-0.35e-12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1.7e5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28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Output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827088" y="191611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printf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"%lf\n"</a:t>
            </a:r>
            <a:r>
              <a:rPr lang="en-US" altLang="nl-BE" sz="2400">
                <a:latin typeface="Times New Roman" pitchFamily="18" charset="0"/>
              </a:rPr>
              <a:t>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2555875" y="2544763"/>
            <a:ext cx="6324600" cy="2014537"/>
            <a:chOff x="1610" y="1628"/>
            <a:chExt cx="3984" cy="1269"/>
          </a:xfrm>
        </p:grpSpPr>
        <p:sp>
          <p:nvSpPr>
            <p:cNvPr id="16392" name="Line 10"/>
            <p:cNvSpPr>
              <a:spLocks noChangeShapeType="1"/>
            </p:cNvSpPr>
            <p:nvPr/>
          </p:nvSpPr>
          <p:spPr bwMode="auto">
            <a:xfrm flipH="1">
              <a:off x="1610" y="1797"/>
              <a:ext cx="1179" cy="1089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3" name="Text Box 11"/>
            <p:cNvSpPr txBox="1">
              <a:spLocks noChangeArrowheads="1"/>
            </p:cNvSpPr>
            <p:nvPr/>
          </p:nvSpPr>
          <p:spPr bwMode="auto">
            <a:xfrm>
              <a:off x="2822" y="1628"/>
              <a:ext cx="2772" cy="1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to format output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\n   </a:t>
              </a:r>
              <a:r>
                <a:rPr lang="en-US" altLang="nl-BE" sz="1800"/>
                <a:t>: a 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\t</a:t>
              </a:r>
              <a:r>
                <a:rPr lang="en-US" altLang="nl-BE" sz="1800"/>
                <a:t>   : a 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763713" y="4902200"/>
            <a:ext cx="7226300" cy="711200"/>
            <a:chOff x="1111" y="3113"/>
            <a:chExt cx="4552" cy="448"/>
          </a:xfrm>
        </p:grpSpPr>
        <p:sp>
          <p:nvSpPr>
            <p:cNvPr id="16390" name="Line 12"/>
            <p:cNvSpPr>
              <a:spLocks noChangeShapeType="1"/>
            </p:cNvSpPr>
            <p:nvPr/>
          </p:nvSpPr>
          <p:spPr bwMode="auto">
            <a:xfrm flipH="1" flipV="1">
              <a:off x="1111" y="3113"/>
              <a:ext cx="1633" cy="13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1" name="Text Box 13"/>
            <p:cNvSpPr txBox="1">
              <a:spLocks noChangeArrowheads="1"/>
            </p:cNvSpPr>
            <p:nvPr/>
          </p:nvSpPr>
          <p:spPr bwMode="auto">
            <a:xfrm>
              <a:off x="2822" y="3154"/>
              <a:ext cx="2841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printf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write to stdout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9702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827088" y="1957388"/>
            <a:ext cx="3830637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scanf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"%lf,%lf"</a:t>
            </a:r>
            <a:r>
              <a:rPr lang="en-US" altLang="nl-BE" sz="2400">
                <a:latin typeface="Times New Roman" pitchFamily="18" charset="0"/>
              </a:rPr>
              <a:t>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        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&amp;x</a:t>
            </a:r>
            <a:r>
              <a:rPr lang="en-US" altLang="nl-BE" sz="2400">
                <a:latin typeface="Times New Roman" pitchFamily="18" charset="0"/>
              </a:rPr>
              <a:t>,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&amp;y</a:t>
            </a:r>
            <a:r>
              <a:rPr lang="en-US" altLang="nl-BE" sz="2400">
                <a:latin typeface="Times New Roman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</a:t>
            </a:r>
            <a:r>
              <a:rPr lang="en-US" altLang="nl-BE" sz="2400">
                <a:latin typeface="Times New Roman" pitchFamily="18" charset="0"/>
              </a:rPr>
              <a:t>printf("%lf + %lf = %lf\n",</a:t>
            </a:r>
            <a:br>
              <a:rPr lang="en-US" altLang="nl-BE" sz="2400">
                <a:latin typeface="Times New Roman" pitchFamily="18" charset="0"/>
              </a:rPr>
            </a:br>
            <a:r>
              <a:rPr lang="en-US" altLang="nl-BE" sz="2400">
                <a:latin typeface="Times New Roman" pitchFamily="18" charset="0"/>
              </a:rPr>
              <a:t>              x, y, x +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771775" y="1989138"/>
            <a:ext cx="6289675" cy="1739900"/>
            <a:chOff x="1746" y="1253"/>
            <a:chExt cx="3962" cy="1096"/>
          </a:xfrm>
        </p:grpSpPr>
        <p:sp>
          <p:nvSpPr>
            <p:cNvPr id="17419" name="Line 4"/>
            <p:cNvSpPr>
              <a:spLocks noChangeShapeType="1"/>
            </p:cNvSpPr>
            <p:nvPr/>
          </p:nvSpPr>
          <p:spPr bwMode="auto">
            <a:xfrm flipH="1">
              <a:off x="1746" y="1389"/>
              <a:ext cx="1043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20" name="Text Box 5"/>
            <p:cNvSpPr txBox="1">
              <a:spLocks noChangeArrowheads="1"/>
            </p:cNvSpPr>
            <p:nvPr/>
          </p:nvSpPr>
          <p:spPr bwMode="auto">
            <a:xfrm>
              <a:off x="2822" y="1253"/>
              <a:ext cx="288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for format</a:t>
              </a:r>
              <a:br>
                <a:rPr lang="en-US" altLang="nl-BE" sz="1800"/>
              </a:br>
              <a:r>
                <a:rPr lang="en-US" altLang="nl-BE" sz="1800"/>
                <a:t>of input, read two real numbers separated</a:t>
              </a:r>
              <a:br>
                <a:rPr lang="en-US" altLang="nl-BE" sz="1800"/>
              </a:br>
              <a:r>
                <a:rPr lang="en-US" altLang="nl-BE" sz="1800"/>
                <a:t>by '</a:t>
              </a:r>
              <a:r>
                <a:rPr lang="en-US" altLang="nl-BE" sz="1800">
                  <a:latin typeface="Times New Roman" pitchFamily="18" charset="0"/>
                </a:rPr>
                <a:t>,</a:t>
              </a:r>
              <a:r>
                <a:rPr lang="en-US" altLang="nl-BE" sz="1800"/>
                <a:t>', store the values into variables </a:t>
              </a:r>
              <a:r>
                <a:rPr lang="en-US" altLang="nl-BE" sz="1800">
                  <a:latin typeface="Times New Roman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y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1979613" y="3860800"/>
            <a:ext cx="7086600" cy="1792288"/>
            <a:chOff x="1247" y="2432"/>
            <a:chExt cx="4464" cy="1129"/>
          </a:xfrm>
        </p:grpSpPr>
        <p:sp>
          <p:nvSpPr>
            <p:cNvPr id="17417" name="Line 6"/>
            <p:cNvSpPr>
              <a:spLocks noChangeShapeType="1"/>
            </p:cNvSpPr>
            <p:nvPr/>
          </p:nvSpPr>
          <p:spPr bwMode="auto">
            <a:xfrm flipH="1" flipV="1">
              <a:off x="1247" y="2432"/>
              <a:ext cx="1542" cy="86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18" name="Text Box 7"/>
            <p:cNvSpPr txBox="1">
              <a:spLocks noChangeArrowheads="1"/>
            </p:cNvSpPr>
            <p:nvPr/>
          </p:nvSpPr>
          <p:spPr bwMode="auto">
            <a:xfrm>
              <a:off x="2822" y="3154"/>
              <a:ext cx="2889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scanf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read from stdin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2916238" y="3716338"/>
            <a:ext cx="4056062" cy="366712"/>
            <a:chOff x="1837" y="2341"/>
            <a:chExt cx="2555" cy="231"/>
          </a:xfrm>
        </p:grpSpPr>
        <p:sp>
          <p:nvSpPr>
            <p:cNvPr id="17415" name="Text Box 8"/>
            <p:cNvSpPr txBox="1">
              <a:spLocks noChangeArrowheads="1"/>
            </p:cNvSpPr>
            <p:nvPr/>
          </p:nvSpPr>
          <p:spPr bwMode="auto">
            <a:xfrm>
              <a:off x="2836" y="2341"/>
              <a:ext cx="15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magic</a:t>
              </a:r>
              <a:r>
                <a:rPr lang="en-US" altLang="nl-BE" sz="1800"/>
                <a:t>, at least for now</a:t>
              </a:r>
              <a:endParaRPr lang="en-US" altLang="nl-BE" sz="1800">
                <a:latin typeface="Times New Roman" pitchFamily="18" charset="0"/>
              </a:endParaRPr>
            </a:p>
          </p:txBody>
        </p:sp>
        <p:sp>
          <p:nvSpPr>
            <p:cNvPr id="17416" name="Line 9"/>
            <p:cNvSpPr>
              <a:spLocks noChangeShapeType="1"/>
            </p:cNvSpPr>
            <p:nvPr/>
          </p:nvSpPr>
          <p:spPr bwMode="auto">
            <a:xfrm flipH="1">
              <a:off x="1837" y="2477"/>
              <a:ext cx="952" cy="46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18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827088" y="1773238"/>
            <a:ext cx="4330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</a:rPr>
              <a:t>double sum(double x, double y);</a:t>
            </a:r>
            <a:endParaRPr lang="en-US" altLang="nl-BE" sz="2400">
              <a:solidFill>
                <a:srgbClr val="0000FF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sum(x, y)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double sum(double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079750" y="3429000"/>
            <a:ext cx="5270500" cy="1477963"/>
            <a:chOff x="1746" y="2160"/>
            <a:chExt cx="3320" cy="931"/>
          </a:xfrm>
        </p:grpSpPr>
        <p:sp>
          <p:nvSpPr>
            <p:cNvPr id="18443" name="Line 4"/>
            <p:cNvSpPr>
              <a:spLocks noChangeShapeType="1"/>
            </p:cNvSpPr>
            <p:nvPr/>
          </p:nvSpPr>
          <p:spPr bwMode="auto">
            <a:xfrm flipH="1">
              <a:off x="1746" y="2296"/>
              <a:ext cx="1497" cy="2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4" name="Text Box 5"/>
            <p:cNvSpPr txBox="1">
              <a:spLocks noChangeArrowheads="1"/>
            </p:cNvSpPr>
            <p:nvPr/>
          </p:nvSpPr>
          <p:spPr bwMode="auto">
            <a:xfrm>
              <a:off x="3286" y="2160"/>
              <a:ext cx="1780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function call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sum</a:t>
              </a:r>
              <a:r>
                <a:rPr lang="en-US" altLang="nl-BE" sz="1800">
                  <a:solidFill>
                    <a:srgbClr val="FF0000"/>
                  </a:solidFill>
                </a:rPr>
                <a:t>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x, y</a:t>
              </a:r>
              <a:r>
                <a:rPr lang="en-US" altLang="nl-BE" sz="1800">
                  <a:solidFill>
                    <a:srgbClr val="FF0000"/>
                  </a:solidFill>
                </a:rPr>
                <a:t>  </a:t>
              </a:r>
              <a:r>
                <a:rPr lang="en-US" altLang="nl-BE" sz="1800"/>
                <a:t>: parameters</a:t>
              </a:r>
              <a:br>
                <a:rPr lang="en-US" altLang="nl-BE" sz="1800"/>
              </a:br>
              <a:r>
                <a:rPr lang="en-US" altLang="nl-BE" sz="1800"/>
                <a:t>function </a:t>
              </a:r>
              <a:r>
                <a:rPr lang="en-US" altLang="nl-BE" sz="1800" i="1"/>
                <a:t>must</a:t>
              </a:r>
              <a:r>
                <a:rPr lang="en-US" altLang="nl-BE" sz="1800"/>
                <a:t> be declared</a:t>
              </a:r>
              <a:br>
                <a:rPr lang="en-US" altLang="nl-BE" sz="1800"/>
              </a:br>
              <a:r>
                <a:rPr lang="en-US" altLang="nl-BE" sz="1800"/>
                <a:t>before call!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075238" y="5006975"/>
            <a:ext cx="3922712" cy="915988"/>
            <a:chOff x="3003" y="3154"/>
            <a:chExt cx="2471" cy="577"/>
          </a:xfrm>
        </p:grpSpPr>
        <p:sp>
          <p:nvSpPr>
            <p:cNvPr id="18441" name="Line 6"/>
            <p:cNvSpPr>
              <a:spLocks noChangeShapeType="1"/>
            </p:cNvSpPr>
            <p:nvPr/>
          </p:nvSpPr>
          <p:spPr bwMode="auto">
            <a:xfrm flipH="1">
              <a:off x="3003" y="3294"/>
              <a:ext cx="240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286" y="3154"/>
              <a:ext cx="218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function definition: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header</a:t>
              </a:r>
              <a:br>
                <a:rPr lang="en-US" altLang="nl-BE" sz="1800"/>
              </a:br>
              <a:r>
                <a:rPr lang="en-US" altLang="nl-BE" sz="1800"/>
                <a:t>    body: one or more statements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4427538" y="1628775"/>
            <a:ext cx="4364037" cy="1465263"/>
            <a:chOff x="2595" y="1026"/>
            <a:chExt cx="2749" cy="923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3288" y="1026"/>
              <a:ext cx="2056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function declaration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   : return 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sum</a:t>
              </a:r>
              <a:r>
                <a:rPr lang="en-US" altLang="nl-BE" sz="1800">
                  <a:solidFill>
                    <a:srgbClr val="FF0000"/>
                  </a:solidFill>
                </a:rPr>
                <a:t>       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x</a:t>
              </a:r>
              <a:r>
                <a:rPr lang="en-US" altLang="nl-BE" sz="1800"/>
                <a:t> : first parameter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y</a:t>
              </a:r>
              <a:r>
                <a:rPr lang="en-US" altLang="nl-BE" sz="1800"/>
                <a:t> : second parameter</a:t>
              </a:r>
            </a:p>
          </p:txBody>
        </p:sp>
        <p:sp>
          <p:nvSpPr>
            <p:cNvPr id="18440" name="Line 9"/>
            <p:cNvSpPr>
              <a:spLocks noChangeShapeType="1"/>
            </p:cNvSpPr>
            <p:nvPr/>
          </p:nvSpPr>
          <p:spPr bwMode="auto">
            <a:xfrm flipH="1">
              <a:off x="2595" y="1162"/>
              <a:ext cx="648" cy="325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7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Basic data 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706" name="Rectangle 10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Natural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b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</a:br>
                <a: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  <a:t>   </a:t>
                </a:r>
                <a:r>
                  <a:rPr lang="en-US" altLang="nl-BE" sz="2400" dirty="0">
                    <a:latin typeface="Times New Roman" pitchFamily="18" charset="0"/>
                  </a:rPr>
                  <a:t>unsigned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0,…,2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32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  <a:endParaRPr lang="en-US" altLang="nl-BE" sz="24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Integer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Real numbers: 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Math Two" pitchFamily="18" charset="2"/>
                      </a:rPr>
                      <m:t>ℝ</m:t>
                    </m:r>
                  </m:oMath>
                </a14:m>
                <a:endParaRPr lang="en-US" altLang="nl-BE" sz="2400" b="1" dirty="0">
                  <a:sym typeface="Euclid Math Two" pitchFamily="18" charset="2"/>
                </a:endParaRPr>
              </a:p>
              <a:p>
                <a:pPr eaLnBrk="1" hangingPunct="1">
                  <a:lnSpc>
                    <a:spcPct val="90000"/>
                  </a:lnSpc>
                  <a:buFontTx/>
                  <a:buNone/>
                </a:pPr>
                <a:r>
                  <a:rPr lang="en-US" altLang="nl-BE" sz="2400" dirty="0"/>
                  <a:t>        </a:t>
                </a:r>
                <a:r>
                  <a:rPr lang="en-US" altLang="nl-BE" sz="2400" dirty="0">
                    <a:latin typeface="Times New Roman" pitchFamily="18" charset="0"/>
                  </a:rPr>
                  <a:t>double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,…-2.2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0.0,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            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 (15 digits prec.)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Characters ('a',…,'z','0',...'9','&amp;','+','{',...):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char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Boolean:  </a:t>
                </a:r>
                <a:r>
                  <a:rPr lang="en-US" altLang="nl-BE" sz="2400" dirty="0">
                    <a:latin typeface="Euclid" pitchFamily="18" charset="0"/>
                  </a:rPr>
                  <a:t>{true, false}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:    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false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 </a:t>
                </a:r>
                <a:r>
                  <a:rPr lang="en-US" altLang="nl-BE" sz="2400" dirty="0">
                    <a:latin typeface="Times New Roman" pitchFamily="18" charset="0"/>
                  </a:rPr>
                  <a:t>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true</a:t>
                </a:r>
              </a:p>
            </p:txBody>
          </p:sp>
        </mc:Choice>
        <mc:Fallback xmlns="">
          <p:sp>
            <p:nvSpPr>
              <p:cNvPr id="29706" name="Rectangle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963" t="-1887" b="-4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583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Structures and arrays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structure: compound type</a:t>
            </a:r>
          </a:p>
          <a:p>
            <a:pPr eaLnBrk="1" hangingPunct="1">
              <a:buFontTx/>
              <a:buNone/>
            </a:pPr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arrays: fixed-length sequences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076825" y="2538413"/>
            <a:ext cx="3211513" cy="366712"/>
            <a:chOff x="3198" y="1599"/>
            <a:chExt cx="2023" cy="231"/>
          </a:xfrm>
        </p:grpSpPr>
        <p:sp>
          <p:nvSpPr>
            <p:cNvPr id="20516" name="Text Box 7"/>
            <p:cNvSpPr txBox="1">
              <a:spLocks noChangeArrowheads="1"/>
            </p:cNvSpPr>
            <p:nvPr/>
          </p:nvSpPr>
          <p:spPr bwMode="auto">
            <a:xfrm>
              <a:off x="4105" y="1599"/>
              <a:ext cx="11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member names</a:t>
              </a:r>
            </a:p>
          </p:txBody>
        </p:sp>
        <p:sp>
          <p:nvSpPr>
            <p:cNvPr id="20517" name="Line 8"/>
            <p:cNvSpPr>
              <a:spLocks noChangeShapeType="1"/>
            </p:cNvSpPr>
            <p:nvPr/>
          </p:nvSpPr>
          <p:spPr bwMode="auto">
            <a:xfrm flipH="1">
              <a:off x="3198" y="1752"/>
              <a:ext cx="907" cy="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067176" y="1673225"/>
            <a:ext cx="4652963" cy="466725"/>
            <a:chOff x="2562" y="1054"/>
            <a:chExt cx="2931" cy="294"/>
          </a:xfrm>
        </p:grpSpPr>
        <p:sp>
          <p:nvSpPr>
            <p:cNvPr id="20514" name="Text Box 5"/>
            <p:cNvSpPr txBox="1">
              <a:spLocks noChangeArrowheads="1"/>
            </p:cNvSpPr>
            <p:nvPr/>
          </p:nvSpPr>
          <p:spPr bwMode="auto">
            <a:xfrm>
              <a:off x="4105" y="1054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structure type name</a:t>
              </a:r>
            </a:p>
          </p:txBody>
        </p:sp>
        <p:sp>
          <p:nvSpPr>
            <p:cNvPr id="20515" name="Line 10"/>
            <p:cNvSpPr>
              <a:spLocks noChangeShapeType="1"/>
            </p:cNvSpPr>
            <p:nvPr/>
          </p:nvSpPr>
          <p:spPr bwMode="auto">
            <a:xfrm flipH="1">
              <a:off x="2562" y="1207"/>
              <a:ext cx="1497" cy="14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0486" name="Text Box 12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4" name="Group 28"/>
          <p:cNvGrpSpPr>
            <a:grpSpLocks/>
          </p:cNvGrpSpPr>
          <p:nvPr/>
        </p:nvGrpSpPr>
        <p:grpSpPr bwMode="auto">
          <a:xfrm>
            <a:off x="3851275" y="2112963"/>
            <a:ext cx="4191000" cy="379412"/>
            <a:chOff x="2426" y="1331"/>
            <a:chExt cx="2640" cy="239"/>
          </a:xfrm>
        </p:grpSpPr>
        <p:sp>
          <p:nvSpPr>
            <p:cNvPr id="20512" name="Line 9"/>
            <p:cNvSpPr>
              <a:spLocks noChangeShapeType="1"/>
            </p:cNvSpPr>
            <p:nvPr/>
          </p:nvSpPr>
          <p:spPr bwMode="auto">
            <a:xfrm flipH="1">
              <a:off x="2426" y="1480"/>
              <a:ext cx="1633" cy="9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0513" name="Text Box 6"/>
            <p:cNvSpPr txBox="1">
              <a:spLocks noChangeArrowheads="1"/>
            </p:cNvSpPr>
            <p:nvPr/>
          </p:nvSpPr>
          <p:spPr bwMode="auto">
            <a:xfrm>
              <a:off x="4101" y="1331"/>
              <a:ext cx="96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member type</a:t>
              </a:r>
            </a:p>
          </p:txBody>
        </p:sp>
      </p:grpSp>
      <p:grpSp>
        <p:nvGrpSpPr>
          <p:cNvPr id="5" name="Group 27"/>
          <p:cNvGrpSpPr>
            <a:grpSpLocks/>
          </p:cNvGrpSpPr>
          <p:nvPr/>
        </p:nvGrpSpPr>
        <p:grpSpPr bwMode="auto">
          <a:xfrm>
            <a:off x="539750" y="2081213"/>
            <a:ext cx="6186488" cy="2225675"/>
            <a:chOff x="375" y="1311"/>
            <a:chExt cx="3897" cy="1402"/>
          </a:xfrm>
        </p:grpSpPr>
        <p:sp>
          <p:nvSpPr>
            <p:cNvPr id="20510" name="Text Box 4"/>
            <p:cNvSpPr txBox="1">
              <a:spLocks noChangeArrowheads="1"/>
            </p:cNvSpPr>
            <p:nvPr/>
          </p:nvSpPr>
          <p:spPr bwMode="auto">
            <a:xfrm>
              <a:off x="1787" y="1311"/>
              <a:ext cx="2485" cy="1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solidFill>
                    <a:srgbClr val="FF0000"/>
                  </a:solidFill>
                  <a:latin typeface="Times New Roman" pitchFamily="18" charset="0"/>
                </a:rPr>
                <a:t>struct stats</a:t>
              </a:r>
              <a:r>
                <a:rPr lang="en-US" altLang="nl-BE" sz="2000">
                  <a:latin typeface="Times New Roman" pitchFamily="18" charset="0"/>
                </a:rPr>
                <a:t>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2000">
                  <a:latin typeface="Times New Roman" pitchFamily="18" charset="0"/>
                </a:rPr>
                <a:t>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mean, stddev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unsigned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count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} myStats;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myStats.mean = 3.2;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myStats.count = 9;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sum = myStats.mean*myStats.count;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11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dirty="0">
                      <a:latin typeface="Euclid" pitchFamily="18" charset="0"/>
                    </a:rPr>
                    <a:t>(</a:t>
                  </a:r>
                  <a:r>
                    <a:rPr lang="en-US" altLang="nl-BE" sz="1800" i="1" dirty="0">
                      <a:sym typeface="Symbol"/>
                    </a:rPr>
                    <a:t></a:t>
                  </a:r>
                  <a:r>
                    <a:rPr lang="en-US" altLang="nl-BE" sz="1800" dirty="0">
                      <a:latin typeface="Euclid" pitchFamily="18" charset="0"/>
                      <a:sym typeface="Euclid Symbol"/>
                    </a:rPr>
                    <a:t>, </a:t>
                  </a:r>
                  <a:r>
                    <a:rPr lang="en-US" altLang="nl-BE" sz="1800" i="1" dirty="0">
                      <a:sym typeface="Symbol"/>
                    </a:rPr>
                    <a:t></a:t>
                  </a:r>
                  <a:r>
                    <a:rPr lang="en-US" altLang="nl-BE" sz="1800" dirty="0">
                      <a:latin typeface="Euclid" pitchFamily="18" charset="0"/>
                    </a:rPr>
                    <a:t>, </a:t>
                  </a:r>
                  <a:r>
                    <a:rPr lang="en-US" altLang="nl-BE" sz="1800" i="1" dirty="0">
                      <a:latin typeface="Euclid" pitchFamily="18" charset="0"/>
                    </a:rPr>
                    <a:t>n</a:t>
                  </a:r>
                  <a:r>
                    <a:rPr lang="en-US" altLang="nl-BE" sz="1800" dirty="0">
                      <a:latin typeface="Euclid" pitchFamily="18" charset="0"/>
                    </a:rPr>
                    <a:t>)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ℕℕ</m:t>
                      </m:r>
                    </m:oMath>
                  </a14:m>
                  <a:endParaRPr lang="en-US" altLang="nl-BE" sz="1800" b="1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11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blipFill>
                  <a:blip r:embed="rId3"/>
                  <a:stretch>
                    <a:fillRect l="-2500" t="-1311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31"/>
          <p:cNvGrpSpPr>
            <a:grpSpLocks/>
          </p:cNvGrpSpPr>
          <p:nvPr/>
        </p:nvGrpSpPr>
        <p:grpSpPr bwMode="auto">
          <a:xfrm>
            <a:off x="646113" y="5321300"/>
            <a:ext cx="5942012" cy="915988"/>
            <a:chOff x="346" y="3352"/>
            <a:chExt cx="3743" cy="5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b="1" i="1" dirty="0">
                      <a:latin typeface="Euclid" pitchFamily="18" charset="0"/>
                    </a:rPr>
                    <a:t>v</a:t>
                  </a:r>
                  <a:r>
                    <a:rPr lang="en-US" altLang="nl-BE" sz="1800" dirty="0">
                      <a:latin typeface="Euclid" pitchFamily="18" charset="0"/>
                    </a:rPr>
                    <a:t>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baseline="40000" dirty="0">
                      <a:latin typeface="Euclid" pitchFamily="18" charset="0"/>
                      <a:sym typeface="Euclid Extra" pitchFamily="18" charset="2"/>
                    </a:rPr>
                    <a:t>3</a:t>
                  </a:r>
                  <a:endParaRPr lang="en-US" altLang="nl-BE" sz="1800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0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blipFill>
                  <a:blip r:embed="rId4"/>
                  <a:stretch>
                    <a:fillRect l="-6716" t="-1147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Text Box 15"/>
            <p:cNvSpPr txBox="1">
              <a:spLocks noChangeArrowheads="1"/>
            </p:cNvSpPr>
            <p:nvPr/>
          </p:nvSpPr>
          <p:spPr bwMode="auto">
            <a:xfrm>
              <a:off x="1202" y="3352"/>
              <a:ext cx="2887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latin typeface="Times New Roman" pitchFamily="18" charset="0"/>
                </a:rPr>
                <a:t> </a:t>
              </a: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v</a:t>
              </a:r>
              <a:r>
                <a:rPr lang="en-US" altLang="nl-BE" sz="1800">
                  <a:latin typeface="Times New Roman" pitchFamily="18" charset="0"/>
                </a:rPr>
                <a:t>[</a:t>
              </a:r>
              <a:r>
                <a:rPr lang="en-US" altLang="nl-BE" sz="180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nl-BE" sz="1800">
                  <a:latin typeface="Times New Roman" pitchFamily="18" charset="0"/>
                </a:rPr>
                <a:t>], norm;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v[0] = 0.3; v[1] = 2.1; v[2] = -1.7;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norm = sqrt(v[0]*v[0] + v[1]*v[1] + v[2]*v[2]);</a:t>
              </a:r>
            </a:p>
          </p:txBody>
        </p: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3132138" y="5589588"/>
            <a:ext cx="4559300" cy="503237"/>
            <a:chOff x="1973" y="3521"/>
            <a:chExt cx="2872" cy="317"/>
          </a:xfrm>
        </p:grpSpPr>
        <p:sp>
          <p:nvSpPr>
            <p:cNvPr id="20506" name="Text Box 18"/>
            <p:cNvSpPr txBox="1">
              <a:spLocks noChangeArrowheads="1"/>
            </p:cNvSpPr>
            <p:nvPr/>
          </p:nvSpPr>
          <p:spPr bwMode="auto">
            <a:xfrm>
              <a:off x="4105" y="3607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array size</a:t>
              </a:r>
            </a:p>
          </p:txBody>
        </p:sp>
        <p:sp>
          <p:nvSpPr>
            <p:cNvPr id="20507" name="Line 19"/>
            <p:cNvSpPr>
              <a:spLocks noChangeShapeType="1"/>
            </p:cNvSpPr>
            <p:nvPr/>
          </p:nvSpPr>
          <p:spPr bwMode="auto">
            <a:xfrm flipH="1" flipV="1">
              <a:off x="1973" y="3521"/>
              <a:ext cx="2086" cy="181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3419475" y="5294313"/>
            <a:ext cx="5300663" cy="366712"/>
            <a:chOff x="2154" y="3335"/>
            <a:chExt cx="3339" cy="231"/>
          </a:xfrm>
        </p:grpSpPr>
        <p:sp>
          <p:nvSpPr>
            <p:cNvPr id="20504" name="Text Box 17"/>
            <p:cNvSpPr txBox="1">
              <a:spLocks noChangeArrowheads="1"/>
            </p:cNvSpPr>
            <p:nvPr/>
          </p:nvSpPr>
          <p:spPr bwMode="auto">
            <a:xfrm>
              <a:off x="4105" y="3335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array variable name</a:t>
              </a:r>
            </a:p>
          </p:txBody>
        </p:sp>
        <p:sp>
          <p:nvSpPr>
            <p:cNvPr id="20505" name="Line 20"/>
            <p:cNvSpPr>
              <a:spLocks noChangeShapeType="1"/>
            </p:cNvSpPr>
            <p:nvPr/>
          </p:nvSpPr>
          <p:spPr bwMode="auto">
            <a:xfrm flipH="1" flipV="1">
              <a:off x="2154" y="3430"/>
              <a:ext cx="1932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9" name="Group 32"/>
          <p:cNvGrpSpPr>
            <a:grpSpLocks/>
          </p:cNvGrpSpPr>
          <p:nvPr/>
        </p:nvGrpSpPr>
        <p:grpSpPr bwMode="auto">
          <a:xfrm>
            <a:off x="2627313" y="4862513"/>
            <a:ext cx="5965825" cy="511175"/>
            <a:chOff x="1655" y="3063"/>
            <a:chExt cx="3758" cy="322"/>
          </a:xfrm>
        </p:grpSpPr>
        <p:sp>
          <p:nvSpPr>
            <p:cNvPr id="20502" name="Text Box 16"/>
            <p:cNvSpPr txBox="1">
              <a:spLocks noChangeArrowheads="1"/>
            </p:cNvSpPr>
            <p:nvPr/>
          </p:nvSpPr>
          <p:spPr bwMode="auto">
            <a:xfrm>
              <a:off x="4105" y="3063"/>
              <a:ext cx="13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array element type</a:t>
              </a:r>
            </a:p>
          </p:txBody>
        </p:sp>
        <p:sp>
          <p:nvSpPr>
            <p:cNvPr id="20503" name="Line 21"/>
            <p:cNvSpPr>
              <a:spLocks noChangeShapeType="1"/>
            </p:cNvSpPr>
            <p:nvPr/>
          </p:nvSpPr>
          <p:spPr bwMode="auto">
            <a:xfrm flipH="1">
              <a:off x="1655" y="3203"/>
              <a:ext cx="2423" cy="18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4067175" y="2917825"/>
            <a:ext cx="5021263" cy="366713"/>
            <a:chOff x="2562" y="1838"/>
            <a:chExt cx="3163" cy="231"/>
          </a:xfrm>
        </p:grpSpPr>
        <p:sp>
          <p:nvSpPr>
            <p:cNvPr id="20500" name="Text Box 22"/>
            <p:cNvSpPr txBox="1">
              <a:spLocks noChangeArrowheads="1"/>
            </p:cNvSpPr>
            <p:nvPr/>
          </p:nvSpPr>
          <p:spPr bwMode="auto">
            <a:xfrm>
              <a:off x="4105" y="1838"/>
              <a:ext cx="16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structure variable name</a:t>
              </a:r>
            </a:p>
          </p:txBody>
        </p:sp>
        <p:sp>
          <p:nvSpPr>
            <p:cNvPr id="20501" name="Line 23"/>
            <p:cNvSpPr>
              <a:spLocks noChangeShapeType="1"/>
            </p:cNvSpPr>
            <p:nvPr/>
          </p:nvSpPr>
          <p:spPr bwMode="auto">
            <a:xfrm flipH="1">
              <a:off x="2562" y="1979"/>
              <a:ext cx="1543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1" name="Group 37"/>
          <p:cNvGrpSpPr>
            <a:grpSpLocks/>
          </p:cNvGrpSpPr>
          <p:nvPr/>
        </p:nvGrpSpPr>
        <p:grpSpPr bwMode="auto">
          <a:xfrm>
            <a:off x="468313" y="2559050"/>
            <a:ext cx="2232025" cy="798513"/>
            <a:chOff x="340" y="1570"/>
            <a:chExt cx="1406" cy="503"/>
          </a:xfrm>
        </p:grpSpPr>
        <p:sp>
          <p:nvSpPr>
            <p:cNvPr id="20498" name="Oval 35"/>
            <p:cNvSpPr>
              <a:spLocks noChangeArrowheads="1"/>
            </p:cNvSpPr>
            <p:nvPr/>
          </p:nvSpPr>
          <p:spPr bwMode="auto">
            <a:xfrm>
              <a:off x="340" y="1570"/>
              <a:ext cx="1406" cy="27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9" name="Text Box 36"/>
            <p:cNvSpPr txBox="1">
              <a:spLocks noChangeArrowheads="1"/>
            </p:cNvSpPr>
            <p:nvPr/>
          </p:nvSpPr>
          <p:spPr bwMode="auto">
            <a:xfrm>
              <a:off x="385" y="1842"/>
              <a:ext cx="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relation</a:t>
              </a:r>
            </a:p>
          </p:txBody>
        </p:sp>
      </p:grpSp>
      <p:grpSp>
        <p:nvGrpSpPr>
          <p:cNvPr id="12" name="Group 40"/>
          <p:cNvGrpSpPr>
            <a:grpSpLocks/>
          </p:cNvGrpSpPr>
          <p:nvPr/>
        </p:nvGrpSpPr>
        <p:grpSpPr bwMode="auto">
          <a:xfrm>
            <a:off x="395288" y="5360988"/>
            <a:ext cx="1092200" cy="731837"/>
            <a:chOff x="282" y="3349"/>
            <a:chExt cx="688" cy="461"/>
          </a:xfrm>
        </p:grpSpPr>
        <p:sp>
          <p:nvSpPr>
            <p:cNvPr id="20496" name="Oval 38"/>
            <p:cNvSpPr>
              <a:spLocks noChangeArrowheads="1"/>
            </p:cNvSpPr>
            <p:nvPr/>
          </p:nvSpPr>
          <p:spPr bwMode="auto">
            <a:xfrm>
              <a:off x="426" y="3349"/>
              <a:ext cx="544" cy="22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7" name="Text Box 39"/>
            <p:cNvSpPr txBox="1">
              <a:spLocks noChangeArrowheads="1"/>
            </p:cNvSpPr>
            <p:nvPr/>
          </p:nvSpPr>
          <p:spPr bwMode="auto">
            <a:xfrm>
              <a:off x="282" y="3579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vector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53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Strings as arrays of char</a:t>
            </a:r>
          </a:p>
        </p:txBody>
      </p:sp>
      <p:sp>
        <p:nvSpPr>
          <p:cNvPr id="21507" name="Text Box 10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0431" name="Text Box 15"/>
          <p:cNvSpPr txBox="1">
            <a:spLocks noChangeArrowheads="1"/>
          </p:cNvSpPr>
          <p:nvPr/>
        </p:nvSpPr>
        <p:spPr bwMode="auto">
          <a:xfrm>
            <a:off x="900113" y="2708275"/>
            <a:ext cx="4314825" cy="374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</a:t>
            </a:r>
            <a:r>
              <a:rPr lang="en-US" altLang="nl-BE" sz="2000">
                <a:solidFill>
                  <a:srgbClr val="0070C0"/>
                </a:solidFill>
                <a:latin typeface="Times New Roman" pitchFamily="18" charset="0"/>
              </a:rPr>
              <a:t>string.h</a:t>
            </a:r>
            <a:r>
              <a:rPr lang="en-US" altLang="nl-BE" sz="20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char name[80];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</a:t>
            </a:r>
            <a:r>
              <a:rPr lang="en-US" altLang="nl-BE" sz="2000">
                <a:solidFill>
                  <a:srgbClr val="FF0000"/>
                </a:solidFill>
                <a:latin typeface="Times New Roman" pitchFamily="18" charset="0"/>
              </a:rPr>
              <a:t>"name: "</a:t>
            </a:r>
            <a:r>
              <a:rPr lang="en-US" altLang="nl-BE" sz="2000">
                <a:latin typeface="Times New Roman" pitchFamily="18" charset="0"/>
              </a:rPr>
              <a:t>); scanf("</a:t>
            </a:r>
            <a:r>
              <a:rPr lang="en-US" altLang="nl-BE" sz="2000">
                <a:solidFill>
                  <a:srgbClr val="00CC00"/>
                </a:solidFill>
                <a:latin typeface="Times New Roman" pitchFamily="18" charset="0"/>
              </a:rPr>
              <a:t>%s</a:t>
            </a:r>
            <a:r>
              <a:rPr lang="en-US" altLang="nl-BE" sz="2000">
                <a:latin typeface="Times New Roman" pitchFamily="18" charset="0"/>
              </a:rPr>
              <a:t>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sayHello(name);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printf("length is %d\n", </a:t>
            </a:r>
            <a:r>
              <a:rPr lang="en-US" altLang="nl-BE" sz="2000">
                <a:solidFill>
                  <a:srgbClr val="0000FF"/>
                </a:solidFill>
                <a:latin typeface="Times New Roman" pitchFamily="18" charset="0"/>
              </a:rPr>
              <a:t>strlen</a:t>
            </a:r>
            <a:r>
              <a:rPr lang="en-US" altLang="nl-BE" sz="2000">
                <a:latin typeface="Times New Roman" pitchFamily="18" charset="0"/>
              </a:rPr>
              <a:t>(name));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printf("Hello %s!\n",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</p:txBody>
      </p:sp>
      <p:sp>
        <p:nvSpPr>
          <p:cNvPr id="21509" name="Text Box 39"/>
          <p:cNvSpPr txBox="1">
            <a:spLocks noChangeArrowheads="1"/>
          </p:cNvSpPr>
          <p:nvPr/>
        </p:nvSpPr>
        <p:spPr bwMode="auto">
          <a:xfrm>
            <a:off x="1692275" y="1557338"/>
            <a:ext cx="159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hello world!»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1331913" y="2133600"/>
            <a:ext cx="2520950" cy="417513"/>
            <a:chOff x="1053" y="1344"/>
            <a:chExt cx="1588" cy="263"/>
          </a:xfrm>
        </p:grpSpPr>
        <p:sp>
          <p:nvSpPr>
            <p:cNvPr id="21526" name="Text Box 40"/>
            <p:cNvSpPr txBox="1">
              <a:spLocks noChangeArrowheads="1"/>
            </p:cNvSpPr>
            <p:nvPr/>
          </p:nvSpPr>
          <p:spPr bwMode="auto">
            <a:xfrm>
              <a:off x="1053" y="1376"/>
              <a:ext cx="1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h  e  l  l o 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Euclid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 w o r  l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4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d  ! \0</a:t>
              </a:r>
            </a:p>
          </p:txBody>
        </p:sp>
        <p:sp>
          <p:nvSpPr>
            <p:cNvPr id="21527" name="Rectangle 41"/>
            <p:cNvSpPr>
              <a:spLocks noChangeArrowheads="1"/>
            </p:cNvSpPr>
            <p:nvPr/>
          </p:nvSpPr>
          <p:spPr bwMode="auto">
            <a:xfrm>
              <a:off x="1071" y="1354"/>
              <a:ext cx="1537" cy="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28" name="Line 42"/>
            <p:cNvSpPr>
              <a:spLocks noChangeShapeType="1"/>
            </p:cNvSpPr>
            <p:nvPr/>
          </p:nvSpPr>
          <p:spPr bwMode="auto">
            <a:xfrm>
              <a:off x="122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9" name="Line 43"/>
            <p:cNvSpPr>
              <a:spLocks noChangeShapeType="1"/>
            </p:cNvSpPr>
            <p:nvPr/>
          </p:nvSpPr>
          <p:spPr bwMode="auto">
            <a:xfrm>
              <a:off x="133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0" name="Line 44"/>
            <p:cNvSpPr>
              <a:spLocks noChangeShapeType="1"/>
            </p:cNvSpPr>
            <p:nvPr/>
          </p:nvSpPr>
          <p:spPr bwMode="auto">
            <a:xfrm>
              <a:off x="1449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1" name="Line 45"/>
            <p:cNvSpPr>
              <a:spLocks noChangeShapeType="1"/>
            </p:cNvSpPr>
            <p:nvPr/>
          </p:nvSpPr>
          <p:spPr bwMode="auto">
            <a:xfrm>
              <a:off x="1565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2" name="Line 46"/>
            <p:cNvSpPr>
              <a:spLocks noChangeShapeType="1"/>
            </p:cNvSpPr>
            <p:nvPr/>
          </p:nvSpPr>
          <p:spPr bwMode="auto">
            <a:xfrm>
              <a:off x="1675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3" name="Line 47"/>
            <p:cNvSpPr>
              <a:spLocks noChangeShapeType="1"/>
            </p:cNvSpPr>
            <p:nvPr/>
          </p:nvSpPr>
          <p:spPr bwMode="auto">
            <a:xfrm>
              <a:off x="1791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4" name="Line 48"/>
            <p:cNvSpPr>
              <a:spLocks noChangeShapeType="1"/>
            </p:cNvSpPr>
            <p:nvPr/>
          </p:nvSpPr>
          <p:spPr bwMode="auto">
            <a:xfrm>
              <a:off x="190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5" name="Line 49"/>
            <p:cNvSpPr>
              <a:spLocks noChangeShapeType="1"/>
            </p:cNvSpPr>
            <p:nvPr/>
          </p:nvSpPr>
          <p:spPr bwMode="auto">
            <a:xfrm>
              <a:off x="201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6" name="Line 50"/>
            <p:cNvSpPr>
              <a:spLocks noChangeShapeType="1"/>
            </p:cNvSpPr>
            <p:nvPr/>
          </p:nvSpPr>
          <p:spPr bwMode="auto">
            <a:xfrm>
              <a:off x="2129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7" name="Line 51"/>
            <p:cNvSpPr>
              <a:spLocks noChangeShapeType="1"/>
            </p:cNvSpPr>
            <p:nvPr/>
          </p:nvSpPr>
          <p:spPr bwMode="auto">
            <a:xfrm>
              <a:off x="2239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8" name="Line 52"/>
            <p:cNvSpPr>
              <a:spLocks noChangeShapeType="1"/>
            </p:cNvSpPr>
            <p:nvPr/>
          </p:nvSpPr>
          <p:spPr bwMode="auto">
            <a:xfrm>
              <a:off x="2355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9" name="Line 53"/>
            <p:cNvSpPr>
              <a:spLocks noChangeShapeType="1"/>
            </p:cNvSpPr>
            <p:nvPr/>
          </p:nvSpPr>
          <p:spPr bwMode="auto">
            <a:xfrm>
              <a:off x="2466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84663" y="1916113"/>
            <a:ext cx="2641600" cy="725487"/>
            <a:chOff x="2699" y="1207"/>
            <a:chExt cx="1664" cy="457"/>
          </a:xfrm>
        </p:grpSpPr>
        <p:sp>
          <p:nvSpPr>
            <p:cNvPr id="21524" name="Text Box 56"/>
            <p:cNvSpPr txBox="1">
              <a:spLocks noChangeArrowheads="1"/>
            </p:cNvSpPr>
            <p:nvPr/>
          </p:nvSpPr>
          <p:spPr bwMode="auto">
            <a:xfrm>
              <a:off x="2699" y="1207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of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endParaRPr lang="en-US" altLang="nl-BE" sz="1800"/>
            </a:p>
          </p:txBody>
        </p:sp>
        <p:sp>
          <p:nvSpPr>
            <p:cNvPr id="21525" name="Text Box 57"/>
            <p:cNvSpPr txBox="1">
              <a:spLocks noChangeArrowheads="1"/>
            </p:cNvSpPr>
            <p:nvPr/>
          </p:nvSpPr>
          <p:spPr bwMode="auto">
            <a:xfrm>
              <a:off x="2699" y="1433"/>
              <a:ext cx="16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'\0'</a:t>
              </a:r>
              <a:r>
                <a:rPr lang="en-US" altLang="nl-BE" sz="1800"/>
                <a:t> denotes end of string</a:t>
              </a: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4211638" y="5229225"/>
            <a:ext cx="3840162" cy="1008063"/>
            <a:chOff x="2653" y="3294"/>
            <a:chExt cx="2419" cy="635"/>
          </a:xfrm>
        </p:grpSpPr>
        <p:sp>
          <p:nvSpPr>
            <p:cNvPr id="21522" name="Line 60"/>
            <p:cNvSpPr>
              <a:spLocks noChangeShapeType="1"/>
            </p:cNvSpPr>
            <p:nvPr/>
          </p:nvSpPr>
          <p:spPr bwMode="auto">
            <a:xfrm flipH="1" flipV="1">
              <a:off x="2653" y="3294"/>
              <a:ext cx="907" cy="31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3" name="Text Box 61"/>
            <p:cNvSpPr txBox="1">
              <a:spLocks noChangeArrowheads="1"/>
            </p:cNvSpPr>
            <p:nvPr/>
          </p:nvSpPr>
          <p:spPr bwMode="auto">
            <a:xfrm>
              <a:off x="3548" y="3525"/>
              <a:ext cx="152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one of the functions in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string.h</a:t>
              </a:r>
            </a:p>
          </p:txBody>
        </p:sp>
      </p:grpSp>
      <p:grpSp>
        <p:nvGrpSpPr>
          <p:cNvPr id="5" name="Group 68"/>
          <p:cNvGrpSpPr>
            <a:grpSpLocks/>
          </p:cNvGrpSpPr>
          <p:nvPr/>
        </p:nvGrpSpPr>
        <p:grpSpPr bwMode="auto">
          <a:xfrm>
            <a:off x="4140200" y="4652963"/>
            <a:ext cx="4775200" cy="503237"/>
            <a:chOff x="2608" y="2931"/>
            <a:chExt cx="3008" cy="317"/>
          </a:xfrm>
        </p:grpSpPr>
        <p:sp>
          <p:nvSpPr>
            <p:cNvPr id="21520" name="Line 59"/>
            <p:cNvSpPr>
              <a:spLocks noChangeShapeType="1"/>
            </p:cNvSpPr>
            <p:nvPr/>
          </p:nvSpPr>
          <p:spPr bwMode="auto">
            <a:xfrm flipH="1" flipV="1">
              <a:off x="2608" y="2931"/>
              <a:ext cx="862" cy="22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1" name="Text Box 62"/>
            <p:cNvSpPr txBox="1">
              <a:spLocks noChangeArrowheads="1"/>
            </p:cNvSpPr>
            <p:nvPr/>
          </p:nvSpPr>
          <p:spPr bwMode="auto">
            <a:xfrm>
              <a:off x="3548" y="3017"/>
              <a:ext cx="20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format code for </a:t>
              </a:r>
              <a:r>
                <a:rPr lang="en-US" altLang="nl-BE" sz="1800">
                  <a:latin typeface="Times New Roman" pitchFamily="18" charset="0"/>
                </a:rPr>
                <a:t>printf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scanf</a:t>
              </a:r>
            </a:p>
          </p:txBody>
        </p:sp>
      </p:grp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2916238" y="3952875"/>
            <a:ext cx="4386262" cy="412750"/>
            <a:chOff x="1837" y="2490"/>
            <a:chExt cx="2763" cy="260"/>
          </a:xfrm>
        </p:grpSpPr>
        <p:sp>
          <p:nvSpPr>
            <p:cNvPr id="21518" name="Line 58"/>
            <p:cNvSpPr>
              <a:spLocks noChangeShapeType="1"/>
            </p:cNvSpPr>
            <p:nvPr/>
          </p:nvSpPr>
          <p:spPr bwMode="auto">
            <a:xfrm flipH="1">
              <a:off x="1837" y="2614"/>
              <a:ext cx="1633" cy="13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19" name="Text Box 63"/>
            <p:cNvSpPr txBox="1">
              <a:spLocks noChangeArrowheads="1"/>
            </p:cNvSpPr>
            <p:nvPr/>
          </p:nvSpPr>
          <p:spPr bwMode="auto">
            <a:xfrm>
              <a:off x="3548" y="2490"/>
              <a:ext cx="10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string constant</a:t>
              </a:r>
            </a:p>
          </p:txBody>
        </p:sp>
      </p:grpSp>
      <p:grpSp>
        <p:nvGrpSpPr>
          <p:cNvPr id="7" name="Group 72"/>
          <p:cNvGrpSpPr>
            <a:grpSpLocks/>
          </p:cNvGrpSpPr>
          <p:nvPr/>
        </p:nvGrpSpPr>
        <p:grpSpPr bwMode="auto">
          <a:xfrm>
            <a:off x="2771775" y="3016250"/>
            <a:ext cx="5757863" cy="1060450"/>
            <a:chOff x="1746" y="1900"/>
            <a:chExt cx="3627" cy="668"/>
          </a:xfrm>
        </p:grpSpPr>
        <p:sp>
          <p:nvSpPr>
            <p:cNvPr id="21516" name="Text Box 70"/>
            <p:cNvSpPr txBox="1">
              <a:spLocks noChangeArrowheads="1"/>
            </p:cNvSpPr>
            <p:nvPr/>
          </p:nvSpPr>
          <p:spPr bwMode="auto">
            <a:xfrm>
              <a:off x="3593" y="1900"/>
              <a:ext cx="178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assumption: no more than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79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r>
                <a:rPr lang="en-US" altLang="nl-BE" sz="1800"/>
                <a:t> in input!</a:t>
              </a:r>
            </a:p>
          </p:txBody>
        </p:sp>
        <p:sp>
          <p:nvSpPr>
            <p:cNvPr id="21517" name="Line 71"/>
            <p:cNvSpPr>
              <a:spLocks noChangeShapeType="1"/>
            </p:cNvSpPr>
            <p:nvPr/>
          </p:nvSpPr>
          <p:spPr bwMode="auto">
            <a:xfrm flipH="1">
              <a:off x="1746" y="2160"/>
              <a:ext cx="1724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763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Conditional statement</a:t>
            </a:r>
          </a:p>
        </p:txBody>
      </p:sp>
      <p:sp>
        <p:nvSpPr>
          <p:cNvPr id="35863" name="Text Box 23"/>
          <p:cNvSpPr txBox="1">
            <a:spLocks noChangeArrowheads="1"/>
          </p:cNvSpPr>
          <p:nvPr/>
        </p:nvSpPr>
        <p:spPr bwMode="auto">
          <a:xfrm>
            <a:off x="1873250" y="1558925"/>
            <a:ext cx="2840038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heaviside(double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x &lt;= 0.0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2532" name="Group 33"/>
          <p:cNvGrpSpPr>
            <a:grpSpLocks/>
          </p:cNvGrpSpPr>
          <p:nvPr/>
        </p:nvGrpSpPr>
        <p:grpSpPr bwMode="auto">
          <a:xfrm>
            <a:off x="107950" y="1844675"/>
            <a:ext cx="1728788" cy="1100138"/>
            <a:chOff x="204" y="2568"/>
            <a:chExt cx="1406" cy="895"/>
          </a:xfrm>
        </p:grpSpPr>
        <p:sp>
          <p:nvSpPr>
            <p:cNvPr id="22558" name="Line 25"/>
            <p:cNvSpPr>
              <a:spLocks noChangeShapeType="1"/>
            </p:cNvSpPr>
            <p:nvPr/>
          </p:nvSpPr>
          <p:spPr bwMode="auto">
            <a:xfrm>
              <a:off x="204" y="3203"/>
              <a:ext cx="14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9" name="Line 26"/>
            <p:cNvSpPr>
              <a:spLocks noChangeShapeType="1"/>
            </p:cNvSpPr>
            <p:nvPr/>
          </p:nvSpPr>
          <p:spPr bwMode="auto">
            <a:xfrm flipV="1">
              <a:off x="748" y="2568"/>
              <a:ext cx="0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0" name="Line 27"/>
            <p:cNvSpPr>
              <a:spLocks noChangeShapeType="1"/>
            </p:cNvSpPr>
            <p:nvPr/>
          </p:nvSpPr>
          <p:spPr bwMode="auto">
            <a:xfrm>
              <a:off x="748" y="2840"/>
              <a:ext cx="771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1" name="Line 28"/>
            <p:cNvSpPr>
              <a:spLocks noChangeShapeType="1"/>
            </p:cNvSpPr>
            <p:nvPr/>
          </p:nvSpPr>
          <p:spPr bwMode="auto">
            <a:xfrm flipH="1">
              <a:off x="204" y="3203"/>
              <a:ext cx="54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2" name="Oval 29"/>
            <p:cNvSpPr>
              <a:spLocks noChangeArrowheads="1"/>
            </p:cNvSpPr>
            <p:nvPr/>
          </p:nvSpPr>
          <p:spPr bwMode="auto">
            <a:xfrm>
              <a:off x="727" y="2814"/>
              <a:ext cx="46" cy="4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3" name="Oval 30"/>
            <p:cNvSpPr>
              <a:spLocks noChangeArrowheads="1"/>
            </p:cNvSpPr>
            <p:nvPr/>
          </p:nvSpPr>
          <p:spPr bwMode="auto">
            <a:xfrm>
              <a:off x="722" y="3177"/>
              <a:ext cx="46" cy="46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4" name="Text Box 31"/>
            <p:cNvSpPr txBox="1">
              <a:spLocks noChangeArrowheads="1"/>
            </p:cNvSpPr>
            <p:nvPr/>
          </p:nvSpPr>
          <p:spPr bwMode="auto">
            <a:xfrm>
              <a:off x="562" y="2741"/>
              <a:ext cx="229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65" name="Text Box 32"/>
            <p:cNvSpPr txBox="1">
              <a:spLocks noChangeArrowheads="1"/>
            </p:cNvSpPr>
            <p:nvPr/>
          </p:nvSpPr>
          <p:spPr bwMode="auto">
            <a:xfrm>
              <a:off x="652" y="3215"/>
              <a:ext cx="230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3457575" y="1341438"/>
            <a:ext cx="5651500" cy="1739900"/>
            <a:chOff x="2132" y="935"/>
            <a:chExt cx="3560" cy="1096"/>
          </a:xfrm>
        </p:grpSpPr>
        <p:sp>
          <p:nvSpPr>
            <p:cNvPr id="22556" name="Line 34"/>
            <p:cNvSpPr>
              <a:spLocks noChangeShapeType="1"/>
            </p:cNvSpPr>
            <p:nvPr/>
          </p:nvSpPr>
          <p:spPr bwMode="auto">
            <a:xfrm flipH="1">
              <a:off x="2132" y="1071"/>
              <a:ext cx="1202" cy="318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7" name="Text Box 35"/>
            <p:cNvSpPr txBox="1">
              <a:spLocks noChangeArrowheads="1"/>
            </p:cNvSpPr>
            <p:nvPr/>
          </p:nvSpPr>
          <p:spPr bwMode="auto">
            <a:xfrm>
              <a:off x="3344" y="935"/>
              <a:ext cx="234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r>
                <a:rPr lang="en-US" altLang="nl-BE" sz="1800"/>
                <a:t>: evaluates to true or false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relational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==, !=, &lt;, &lt;=, &gt;, &gt;=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logical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&amp;&amp;, ||, !</a:t>
              </a: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2824163" y="2708275"/>
            <a:ext cx="4843462" cy="1081088"/>
            <a:chOff x="1769" y="1706"/>
            <a:chExt cx="3051" cy="681"/>
          </a:xfrm>
        </p:grpSpPr>
        <p:sp>
          <p:nvSpPr>
            <p:cNvPr id="22554" name="Text Box 36"/>
            <p:cNvSpPr txBox="1">
              <a:spLocks noChangeArrowheads="1"/>
            </p:cNvSpPr>
            <p:nvPr/>
          </p:nvSpPr>
          <p:spPr bwMode="auto">
            <a:xfrm>
              <a:off x="3344" y="2156"/>
              <a:ext cx="14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(optional) </a:t>
              </a:r>
              <a:r>
                <a:rPr lang="en-US" altLang="nl-BE" sz="1800">
                  <a:solidFill>
                    <a:srgbClr val="FF0000"/>
                  </a:solidFill>
                </a:rPr>
                <a:t>else</a:t>
              </a:r>
              <a:r>
                <a:rPr lang="en-US" altLang="nl-BE" sz="1800"/>
                <a:t> clause</a:t>
              </a:r>
            </a:p>
          </p:txBody>
        </p:sp>
        <p:sp>
          <p:nvSpPr>
            <p:cNvPr id="22555" name="Line 37"/>
            <p:cNvSpPr>
              <a:spLocks noChangeShapeType="1"/>
            </p:cNvSpPr>
            <p:nvPr/>
          </p:nvSpPr>
          <p:spPr bwMode="auto">
            <a:xfrm flipH="1" flipV="1">
              <a:off x="1769" y="1706"/>
              <a:ext cx="1519" cy="545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35878" name="Text Box 38"/>
          <p:cNvSpPr txBox="1">
            <a:spLocks noChangeArrowheads="1"/>
          </p:cNvSpPr>
          <p:nvPr/>
        </p:nvSpPr>
        <p:spPr bwMode="auto">
          <a:xfrm>
            <a:off x="1873250" y="4005263"/>
            <a:ext cx="248443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block(double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-1.0)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5" name="Group 58"/>
          <p:cNvGrpSpPr>
            <a:grpSpLocks/>
          </p:cNvGrpSpPr>
          <p:nvPr/>
        </p:nvGrpSpPr>
        <p:grpSpPr bwMode="auto">
          <a:xfrm>
            <a:off x="107950" y="4705350"/>
            <a:ext cx="1728788" cy="1100138"/>
            <a:chOff x="68" y="2964"/>
            <a:chExt cx="1089" cy="693"/>
          </a:xfrm>
        </p:grpSpPr>
        <p:sp>
          <p:nvSpPr>
            <p:cNvPr id="22539" name="Line 54"/>
            <p:cNvSpPr>
              <a:spLocks noChangeShapeType="1"/>
            </p:cNvSpPr>
            <p:nvPr/>
          </p:nvSpPr>
          <p:spPr bwMode="auto">
            <a:xfrm flipV="1">
              <a:off x="703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0" name="Line 53"/>
            <p:cNvSpPr>
              <a:spLocks noChangeShapeType="1"/>
            </p:cNvSpPr>
            <p:nvPr/>
          </p:nvSpPr>
          <p:spPr bwMode="auto">
            <a:xfrm flipV="1">
              <a:off x="275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1" name="Line 40"/>
            <p:cNvSpPr>
              <a:spLocks noChangeShapeType="1"/>
            </p:cNvSpPr>
            <p:nvPr/>
          </p:nvSpPr>
          <p:spPr bwMode="auto">
            <a:xfrm>
              <a:off x="68" y="3456"/>
              <a:ext cx="10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2" name="Line 41"/>
            <p:cNvSpPr>
              <a:spLocks noChangeShapeType="1"/>
            </p:cNvSpPr>
            <p:nvPr/>
          </p:nvSpPr>
          <p:spPr bwMode="auto">
            <a:xfrm flipV="1">
              <a:off x="489" y="29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3" name="Line 42"/>
            <p:cNvSpPr>
              <a:spLocks noChangeShapeType="1"/>
            </p:cNvSpPr>
            <p:nvPr/>
          </p:nvSpPr>
          <p:spPr bwMode="auto">
            <a:xfrm>
              <a:off x="249" y="3175"/>
              <a:ext cx="45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4" name="Line 43"/>
            <p:cNvSpPr>
              <a:spLocks noChangeShapeType="1"/>
            </p:cNvSpPr>
            <p:nvPr/>
          </p:nvSpPr>
          <p:spPr bwMode="auto">
            <a:xfrm flipH="1">
              <a:off x="68" y="3456"/>
              <a:ext cx="227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5" name="Oval 45"/>
            <p:cNvSpPr>
              <a:spLocks noChangeArrowheads="1"/>
            </p:cNvSpPr>
            <p:nvPr/>
          </p:nvSpPr>
          <p:spPr bwMode="auto">
            <a:xfrm>
              <a:off x="259" y="3441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6" name="Text Box 46"/>
            <p:cNvSpPr txBox="1">
              <a:spLocks noChangeArrowheads="1"/>
            </p:cNvSpPr>
            <p:nvPr/>
          </p:nvSpPr>
          <p:spPr bwMode="auto">
            <a:xfrm>
              <a:off x="345" y="3098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47" name="Text Box 47"/>
            <p:cNvSpPr txBox="1">
              <a:spLocks noChangeArrowheads="1"/>
            </p:cNvSpPr>
            <p:nvPr/>
          </p:nvSpPr>
          <p:spPr bwMode="auto">
            <a:xfrm>
              <a:off x="4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  <p:sp>
          <p:nvSpPr>
            <p:cNvPr id="22548" name="Line 48"/>
            <p:cNvSpPr>
              <a:spLocks noChangeShapeType="1"/>
            </p:cNvSpPr>
            <p:nvPr/>
          </p:nvSpPr>
          <p:spPr bwMode="auto">
            <a:xfrm flipH="1">
              <a:off x="703" y="3460"/>
              <a:ext cx="363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9" name="Oval 49"/>
            <p:cNvSpPr>
              <a:spLocks noChangeArrowheads="1"/>
            </p:cNvSpPr>
            <p:nvPr/>
          </p:nvSpPr>
          <p:spPr bwMode="auto">
            <a:xfrm>
              <a:off x="682" y="3439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0" name="Oval 50"/>
            <p:cNvSpPr>
              <a:spLocks noChangeArrowheads="1"/>
            </p:cNvSpPr>
            <p:nvPr/>
          </p:nvSpPr>
          <p:spPr bwMode="auto">
            <a:xfrm>
              <a:off x="254" y="3158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1" name="Oval 51"/>
            <p:cNvSpPr>
              <a:spLocks noChangeArrowheads="1"/>
            </p:cNvSpPr>
            <p:nvPr/>
          </p:nvSpPr>
          <p:spPr bwMode="auto">
            <a:xfrm>
              <a:off x="687" y="3158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2" name="Text Box 56"/>
            <p:cNvSpPr txBox="1">
              <a:spLocks noChangeArrowheads="1"/>
            </p:cNvSpPr>
            <p:nvPr/>
          </p:nvSpPr>
          <p:spPr bwMode="auto">
            <a:xfrm>
              <a:off x="6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53" name="Text Box 57"/>
            <p:cNvSpPr txBox="1">
              <a:spLocks noChangeArrowheads="1"/>
            </p:cNvSpPr>
            <p:nvPr/>
          </p:nvSpPr>
          <p:spPr bwMode="auto">
            <a:xfrm>
              <a:off x="158" y="3465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-1</a:t>
              </a:r>
            </a:p>
          </p:txBody>
        </p:sp>
      </p:grpSp>
      <p:sp>
        <p:nvSpPr>
          <p:cNvPr id="35899" name="Text Box 59"/>
          <p:cNvSpPr txBox="1">
            <a:spLocks noChangeArrowheads="1"/>
          </p:cNvSpPr>
          <p:nvPr/>
        </p:nvSpPr>
        <p:spPr bwMode="auto">
          <a:xfrm>
            <a:off x="5416550" y="4384675"/>
            <a:ext cx="2089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else-if construction</a:t>
            </a:r>
          </a:p>
        </p:txBody>
      </p:sp>
      <p:sp>
        <p:nvSpPr>
          <p:cNvPr id="35900" name="Text Box 60"/>
          <p:cNvSpPr txBox="1">
            <a:spLocks noChangeArrowheads="1"/>
          </p:cNvSpPr>
          <p:nvPr/>
        </p:nvSpPr>
        <p:spPr bwMode="auto">
          <a:xfrm>
            <a:off x="5724525" y="5157788"/>
            <a:ext cx="27844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if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do somehing if condition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holds, (optionally) do</a:t>
            </a:r>
            <a:br>
              <a:rPr lang="en-US" altLang="nl-BE" sz="1800"/>
            </a:br>
            <a:r>
              <a:rPr lang="en-US" altLang="nl-BE" sz="1800"/>
              <a:t>  something else if not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365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" grpId="0"/>
      <p:bldP spid="35878" grpId="0"/>
      <p:bldP spid="35899" grpId="0"/>
      <p:bldP spid="359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Iteration statement</a:t>
            </a:r>
          </a:p>
        </p:txBody>
      </p:sp>
      <p:sp>
        <p:nvSpPr>
          <p:cNvPr id="39939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27717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isPrime(unsigned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const int True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prime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while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p &lt; n &amp;&amp; prime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prime = (n % p !=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 = p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prime;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5148263" y="2060575"/>
            <a:ext cx="1871662" cy="647700"/>
            <a:chOff x="3243" y="1117"/>
            <a:chExt cx="1179" cy="408"/>
          </a:xfrm>
        </p:grpSpPr>
        <p:sp>
          <p:nvSpPr>
            <p:cNvPr id="23562" name="Line 13"/>
            <p:cNvSpPr>
              <a:spLocks noChangeShapeType="1"/>
            </p:cNvSpPr>
            <p:nvPr/>
          </p:nvSpPr>
          <p:spPr bwMode="auto">
            <a:xfrm flipH="1">
              <a:off x="3243" y="1253"/>
              <a:ext cx="454" cy="27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3563" name="Text Box 14"/>
            <p:cNvSpPr txBox="1">
              <a:spLocks noChangeArrowheads="1"/>
            </p:cNvSpPr>
            <p:nvPr/>
          </p:nvSpPr>
          <p:spPr bwMode="auto">
            <a:xfrm>
              <a:off x="3730" y="1117"/>
              <a:ext cx="6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Text Box 35"/>
              <p:cNvSpPr txBox="1">
                <a:spLocks noChangeArrowheads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n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is prime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      </a:t>
                </a:r>
                <a:r>
                  <a:rPr lang="en-US" altLang="nl-BE" sz="1800" dirty="0">
                    <a:sym typeface="Symbol"/>
                  </a:rPr>
                  <a:t>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!</a:t>
                </a:r>
                <a:r>
                  <a:rPr lang="en-US" altLang="nl-BE" sz="1800" dirty="0">
                    <a:sym typeface="Symbol"/>
                  </a:rPr>
                  <a:t>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p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: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1 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Symbol"/>
                  </a:rPr>
                  <a:t></a:t>
                </a:r>
                <a:endParaRPr lang="en-US" altLang="nl-BE" sz="18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   mod(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= 0</a:t>
                </a:r>
              </a:p>
            </p:txBody>
          </p:sp>
        </mc:Choice>
        <mc:Fallback xmlns="">
          <p:sp>
            <p:nvSpPr>
              <p:cNvPr id="23557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blipFill>
                <a:blip r:embed="rId3"/>
                <a:stretch>
                  <a:fillRect l="-2222" t="-3553" r="-1944" b="-710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972" name="Text Box 36"/>
          <p:cNvSpPr txBox="1">
            <a:spLocks noChangeArrowheads="1"/>
          </p:cNvSpPr>
          <p:nvPr/>
        </p:nvSpPr>
        <p:spPr bwMode="auto">
          <a:xfrm>
            <a:off x="6156325" y="2719388"/>
            <a:ext cx="2644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while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long as condition holds</a:t>
            </a:r>
          </a:p>
        </p:txBody>
      </p:sp>
      <p:sp>
        <p:nvSpPr>
          <p:cNvPr id="39973" name="Text Box 37"/>
          <p:cNvSpPr txBox="1">
            <a:spLocks noChangeArrowheads="1"/>
          </p:cNvSpPr>
          <p:nvPr/>
        </p:nvSpPr>
        <p:spPr bwMode="auto">
          <a:xfrm>
            <a:off x="2917825" y="4510088"/>
            <a:ext cx="31448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unsigned factorial(unsigned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i, fac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for</a:t>
            </a:r>
            <a:r>
              <a:rPr lang="en-US" altLang="nl-BE" sz="1800">
                <a:latin typeface="Times New Roman" pitchFamily="18" charset="0"/>
              </a:rPr>
              <a:t> (i = 1;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fac = fac*i;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fac;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sp>
        <p:nvSpPr>
          <p:cNvPr id="39974" name="Text Box 38"/>
          <p:cNvSpPr txBox="1">
            <a:spLocks noChangeArrowheads="1"/>
          </p:cNvSpPr>
          <p:nvPr/>
        </p:nvSpPr>
        <p:spPr bwMode="auto">
          <a:xfrm>
            <a:off x="6156325" y="5229225"/>
            <a:ext cx="2568575" cy="9255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for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given number of times</a:t>
            </a:r>
          </a:p>
        </p:txBody>
      </p:sp>
      <p:sp>
        <p:nvSpPr>
          <p:cNvPr id="39975" name="Text Box 39"/>
          <p:cNvSpPr txBox="1">
            <a:spLocks noChangeArrowheads="1"/>
          </p:cNvSpPr>
          <p:nvPr/>
        </p:nvSpPr>
        <p:spPr bwMode="auto">
          <a:xfrm>
            <a:off x="458788" y="4935538"/>
            <a:ext cx="146226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! </a:t>
            </a:r>
            <a:r>
              <a:rPr lang="en-US" altLang="nl-BE" sz="1800" dirty="0">
                <a:latin typeface="Euclid" pitchFamily="18" charset="0"/>
                <a:sym typeface="Euclid Math Two" pitchFamily="18" charset="2"/>
              </a:rPr>
              <a:t>=  </a:t>
            </a:r>
            <a:r>
              <a:rPr lang="en-US" altLang="nl-BE" sz="2000" dirty="0">
                <a:latin typeface="Euclid" pitchFamily="18" charset="0"/>
                <a:sym typeface="Symbol"/>
              </a:rPr>
              <a:t></a:t>
            </a:r>
            <a:r>
              <a:rPr lang="en-US" altLang="nl-BE" sz="1800" i="1" baseline="-25000" dirty="0" err="1">
                <a:latin typeface="Euclid" pitchFamily="18" charset="0"/>
                <a:sym typeface="Euclid Symbol"/>
              </a:rPr>
              <a:t>i</a:t>
            </a:r>
            <a:r>
              <a:rPr lang="en-US" altLang="nl-BE" sz="1800" baseline="-25000" dirty="0">
                <a:latin typeface="Euclid" pitchFamily="18" charset="0"/>
                <a:sym typeface="Euclid Symbol"/>
              </a:rPr>
              <a:t>=1...</a:t>
            </a:r>
            <a:r>
              <a:rPr lang="en-US" altLang="nl-BE" sz="1800" i="1" baseline="-25000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 </a:t>
            </a:r>
            <a:r>
              <a:rPr lang="en-US" altLang="nl-BE" sz="1800" i="1" dirty="0" err="1">
                <a:latin typeface="Euclid" pitchFamily="18" charset="0"/>
                <a:sym typeface="Euclid Symbol"/>
              </a:rPr>
              <a:t>i</a:t>
            </a:r>
            <a:endParaRPr lang="en-US" altLang="nl-BE" sz="1800" i="1" dirty="0">
              <a:latin typeface="Euclid" pitchFamily="18" charset="0"/>
              <a:sym typeface="Euclid Symbol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003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/>
      <p:bldP spid="39972" grpId="0" animBg="1"/>
      <p:bldP spid="39973" grpId="0"/>
      <p:bldP spid="39974" grpId="0" animBg="1"/>
      <p:bldP spid="3997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1</a:t>
            </a:r>
          </a:p>
        </p:txBody>
      </p:sp>
      <p:sp>
        <p:nvSpPr>
          <p:cNvPr id="48131" name="Text Box 3"/>
          <p:cNvSpPr txBox="1">
            <a:spLocks noChangeArrowheads="1"/>
          </p:cNvSpPr>
          <p:nvPr/>
        </p:nvSpPr>
        <p:spPr bwMode="auto">
          <a:xfrm>
            <a:off x="250825" y="2205038"/>
            <a:ext cx="3668713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unsigned power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for (j = 1; j &lt;= i; j = j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power = power*2;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printf("2^%u = %u\n", i, power);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80" name="Text Box 7"/>
              <p:cNvSpPr txBox="1">
                <a:spLocks noChangeArrowheads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for some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 n</a:t>
                </a:r>
                <a:r>
                  <a:rPr lang="en-US" altLang="nl-BE" sz="1800" dirty="0">
                    <a:latin typeface="EucrosiaUPC" pitchFamily="18" charset="-34"/>
                    <a:cs typeface="EucrosiaUPC" pitchFamily="18" charset="-34"/>
                    <a:sym typeface="Euclid Math Two" pitchFamily="18" charset="2"/>
                  </a:rPr>
                  <a:t> </a:t>
                </a:r>
                <a:r>
                  <a:rPr lang="en-US" altLang="nl-BE" sz="1800" dirty="0">
                    <a:latin typeface="Edwardian Script ITC" pitchFamily="66" charset="0"/>
                    <a:cs typeface="EucrosiaUPC" pitchFamily="18" charset="-34"/>
                    <a:sym typeface="Symbol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list</a:t>
                </a:r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0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1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,…,2</a:t>
                </a:r>
                <a:r>
                  <a:rPr lang="en-US" altLang="nl-BE" sz="1800" i="1" baseline="30000" dirty="0">
                    <a:latin typeface="Euclid" pitchFamily="18" charset="0"/>
                    <a:sym typeface="Euclid Extra" pitchFamily="18" charset="2"/>
                  </a:rPr>
                  <a:t>n</a:t>
                </a:r>
              </a:p>
            </p:txBody>
          </p:sp>
        </mc:Choice>
        <mc:Fallback xmlns="">
          <p:sp>
            <p:nvSpPr>
              <p:cNvPr id="24580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blipFill>
                <a:blip r:embed="rId3"/>
                <a:stretch>
                  <a:fillRect l="-2985" t="-9434" r="-2239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141" name="Text Box 13"/>
          <p:cNvSpPr txBox="1">
            <a:spLocks noChangeArrowheads="1"/>
          </p:cNvSpPr>
          <p:nvPr/>
        </p:nvSpPr>
        <p:spPr bwMode="auto">
          <a:xfrm>
            <a:off x="755650" y="5445125"/>
            <a:ext cx="34925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calculation &amp; presentation mixed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4140200" y="2205038"/>
            <a:ext cx="4895850" cy="4486275"/>
            <a:chOff x="2608" y="1389"/>
            <a:chExt cx="3084" cy="2826"/>
          </a:xfrm>
        </p:grpSpPr>
        <p:sp>
          <p:nvSpPr>
            <p:cNvPr id="24585" name="Text Box 14"/>
            <p:cNvSpPr txBox="1">
              <a:spLocks noChangeArrowheads="1"/>
            </p:cNvSpPr>
            <p:nvPr/>
          </p:nvSpPr>
          <p:spPr bwMode="auto">
            <a:xfrm>
              <a:off x="3245" y="1389"/>
              <a:ext cx="2447" cy="2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 = i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printf("2^%u = %u\n", i,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power(i)</a:t>
              </a:r>
              <a:r>
                <a:rPr lang="en-US" altLang="nl-BE" sz="1800">
                  <a:latin typeface="Times New Roman" pitchFamily="18" charset="0"/>
                </a:rPr>
                <a:t>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for (j = 1; j &lt;= exponent; j = j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    prod = prod*2;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24586" name="Line 1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48144" name="Text Box 16"/>
          <p:cNvSpPr txBox="1">
            <a:spLocks noChangeArrowheads="1"/>
          </p:cNvSpPr>
          <p:nvPr/>
        </p:nvSpPr>
        <p:spPr bwMode="auto">
          <a:xfrm>
            <a:off x="6443663" y="1412875"/>
            <a:ext cx="24955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 encapsulate,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"hide" implementation</a:t>
            </a:r>
          </a:p>
        </p:txBody>
      </p:sp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142875" y="6135688"/>
            <a:ext cx="4429125" cy="4619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/>
              <a:t>Functions facilitate code reuse!</a:t>
            </a:r>
            <a:endParaRPr lang="nl-BE" altLang="nl-BE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0053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/>
      <p:bldP spid="48141" grpId="0" animBg="1"/>
      <p:bldP spid="48144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2</a:t>
            </a:r>
          </a:p>
        </p:txBody>
      </p:sp>
      <p:sp>
        <p:nvSpPr>
          <p:cNvPr id="50181" name="Text Box 5"/>
          <p:cNvSpPr txBox="1">
            <a:spLocks noChangeArrowheads="1"/>
          </p:cNvSpPr>
          <p:nvPr/>
        </p:nvSpPr>
        <p:spPr bwMode="auto">
          <a:xfrm>
            <a:off x="1331913" y="5876925"/>
            <a:ext cx="14859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specific for 2</a:t>
            </a: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07950" y="1268413"/>
            <a:ext cx="3884613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stdio.h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n,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("n: "); </a:t>
            </a:r>
            <a:r>
              <a:rPr lang="en-US" altLang="nl-BE" sz="1800" dirty="0" err="1">
                <a:latin typeface="Times New Roman" pitchFamily="18" charset="0"/>
              </a:rPr>
              <a:t>scanf</a:t>
            </a:r>
            <a:r>
              <a:rPr lang="en-US" altLang="nl-BE" sz="1800" dirty="0">
                <a:latin typeface="Times New Roman" pitchFamily="18" charset="0"/>
              </a:rPr>
              <a:t>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&lt;=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("2^%u = %u\n",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, power(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(j = 1; j &lt;= exponent; </a:t>
            </a:r>
            <a:r>
              <a:rPr lang="en-US" altLang="nl-BE" sz="1800" dirty="0" err="1">
                <a:latin typeface="Times New Roman" pitchFamily="18" charset="0"/>
              </a:rPr>
              <a:t>j++</a:t>
            </a:r>
            <a:r>
              <a:rPr lang="en-US" altLang="nl-BE" sz="1800" dirty="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prod = prod*2;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140200" y="1268413"/>
            <a:ext cx="4179888" cy="5035550"/>
            <a:chOff x="2608" y="799"/>
            <a:chExt cx="2633" cy="3172"/>
          </a:xfrm>
        </p:grpSpPr>
        <p:sp>
          <p:nvSpPr>
            <p:cNvPr id="25606" name="Line 7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5607" name="Text Box 8"/>
            <p:cNvSpPr txBox="1">
              <a:spLocks noChangeArrowheads="1"/>
            </p:cNvSpPr>
            <p:nvPr/>
          </p:nvSpPr>
          <p:spPr bwMode="auto">
            <a:xfrm>
              <a:off x="3155" y="799"/>
              <a:ext cx="2086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const int Ground = 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, i, power(i));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exponent;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097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3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2051050" y="6165850"/>
            <a:ext cx="2762295" cy="36933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power</a:t>
            </a:r>
            <a:r>
              <a:rPr lang="en-US" altLang="nl-BE" sz="1800" dirty="0"/>
              <a:t> specific for Ground</a:t>
            </a:r>
          </a:p>
        </p:txBody>
      </p:sp>
      <p:sp>
        <p:nvSpPr>
          <p:cNvPr id="26628" name="Text Box 6"/>
          <p:cNvSpPr txBox="1">
            <a:spLocks noChangeArrowheads="1"/>
          </p:cNvSpPr>
          <p:nvPr/>
        </p:nvSpPr>
        <p:spPr bwMode="auto">
          <a:xfrm>
            <a:off x="250825" y="1268413"/>
            <a:ext cx="3311525" cy="503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const int Ground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Ground, i, power(i));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(j = 1; j &lt;= exponent; j++)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prod = prod*Ground;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4140200" y="1273175"/>
            <a:ext cx="4221163" cy="5310188"/>
            <a:chOff x="2608" y="802"/>
            <a:chExt cx="2659" cy="3345"/>
          </a:xfrm>
        </p:grpSpPr>
        <p:sp>
          <p:nvSpPr>
            <p:cNvPr id="26630" name="Line 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6631" name="Text Box 7"/>
            <p:cNvSpPr txBox="1">
              <a:spLocks noChangeArrowheads="1"/>
            </p:cNvSpPr>
            <p:nvPr/>
          </p:nvSpPr>
          <p:spPr bwMode="auto">
            <a:xfrm>
              <a:off x="3243" y="802"/>
              <a:ext cx="2024" cy="3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printf("p: "); scanf("%d", &amp;p);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n;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2291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4</a:t>
            </a:r>
          </a:p>
        </p:txBody>
      </p:sp>
      <p:sp>
        <p:nvSpPr>
          <p:cNvPr id="58371" name="Text Box 3"/>
          <p:cNvSpPr txBox="1">
            <a:spLocks noChangeArrowheads="1"/>
          </p:cNvSpPr>
          <p:nvPr/>
        </p:nvSpPr>
        <p:spPr bwMode="auto">
          <a:xfrm>
            <a:off x="2051050" y="5589588"/>
            <a:ext cx="1466850" cy="3857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repeated code</a:t>
            </a:r>
            <a:endParaRPr lang="en-US" altLang="nl-BE" sz="1800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140200" y="1268413"/>
            <a:ext cx="4560888" cy="5035550"/>
            <a:chOff x="2608" y="799"/>
            <a:chExt cx="2873" cy="3172"/>
          </a:xfrm>
        </p:grpSpPr>
        <p:sp>
          <p:nvSpPr>
            <p:cNvPr id="27656" name="Line 4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7657" name="Text Box 7"/>
            <p:cNvSpPr txBox="1">
              <a:spLocks noChangeArrowheads="1"/>
            </p:cNvSpPr>
            <p:nvPr/>
          </p:nvSpPr>
          <p:spPr bwMode="auto">
            <a:xfrm>
              <a:off x="3169" y="799"/>
              <a:ext cx="2312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 = readInt("ground");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n = readInt("exponent");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power(p,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 {…}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printf("%s: ", str); scanf("%d", &amp;i);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27653" name="Text Box 8"/>
          <p:cNvSpPr txBox="1">
            <a:spLocks noChangeArrowheads="1"/>
          </p:cNvSpPr>
          <p:nvPr/>
        </p:nvSpPr>
        <p:spPr bwMode="auto">
          <a:xfrm>
            <a:off x="323850" y="1268413"/>
            <a:ext cx="3235325" cy="366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printf("p: "); scanf("%d", &amp;p);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p, i, power(p, 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 {…}</a:t>
            </a:r>
          </a:p>
        </p:txBody>
      </p:sp>
      <p:sp>
        <p:nvSpPr>
          <p:cNvPr id="58377" name="Text Box 9"/>
          <p:cNvSpPr txBox="1">
            <a:spLocks noChangeArrowheads="1"/>
          </p:cNvSpPr>
          <p:nvPr/>
        </p:nvSpPr>
        <p:spPr bwMode="auto">
          <a:xfrm>
            <a:off x="4078288" y="3206750"/>
            <a:ext cx="56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867400" y="6237288"/>
            <a:ext cx="29019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sacrificed fidelity to model!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755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7" grpId="0"/>
      <p:bldP spid="5837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1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3441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printf("x: "); scanf("%lf", &amp;p.x);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printf("y: "); scanf("%lf", &amp;p.y);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printf("r = %lf\n",  radial(p));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sqrt(p.x*p.x + p.y*p.y);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8676" name="Group 23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8677" name="Line 11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8" name="Line 12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9" name="Line 13"/>
            <p:cNvSpPr>
              <a:spLocks noChangeShapeType="1"/>
            </p:cNvSpPr>
            <p:nvPr/>
          </p:nvSpPr>
          <p:spPr bwMode="auto">
            <a:xfrm>
              <a:off x="476" y="1434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0" name="Line 15"/>
            <p:cNvSpPr>
              <a:spLocks noChangeShapeType="1"/>
            </p:cNvSpPr>
            <p:nvPr/>
          </p:nvSpPr>
          <p:spPr bwMode="auto">
            <a:xfrm>
              <a:off x="1091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1" name="Oval 14"/>
            <p:cNvSpPr>
              <a:spLocks noChangeArrowheads="1"/>
            </p:cNvSpPr>
            <p:nvPr/>
          </p:nvSpPr>
          <p:spPr bwMode="auto">
            <a:xfrm>
              <a:off x="1071" y="1409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8682" name="Line 17"/>
            <p:cNvSpPr>
              <a:spLocks noChangeShapeType="1"/>
            </p:cNvSpPr>
            <p:nvPr/>
          </p:nvSpPr>
          <p:spPr bwMode="auto">
            <a:xfrm flipV="1">
              <a:off x="476" y="1434"/>
              <a:ext cx="59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3" name="Text Box 19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8684" name="Text Box 20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8685" name="Text Box 21"/>
            <p:cNvSpPr txBox="1">
              <a:spLocks noChangeArrowheads="1"/>
            </p:cNvSpPr>
            <p:nvPr/>
          </p:nvSpPr>
          <p:spPr bwMode="auto">
            <a:xfrm>
              <a:off x="1089" y="1294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p</a:t>
              </a:r>
            </a:p>
          </p:txBody>
        </p:sp>
        <p:sp>
          <p:nvSpPr>
            <p:cNvPr id="28686" name="Text Box 22"/>
            <p:cNvSpPr txBox="1">
              <a:spLocks noChangeArrowheads="1"/>
            </p:cNvSpPr>
            <p:nvPr/>
          </p:nvSpPr>
          <p:spPr bwMode="auto">
            <a:xfrm>
              <a:off x="567" y="14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90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2</a:t>
            </a:r>
          </a:p>
        </p:txBody>
      </p:sp>
      <p:sp>
        <p:nvSpPr>
          <p:cNvPr id="44035" name="Text Box 3"/>
          <p:cNvSpPr txBox="1">
            <a:spLocks noChangeArrowheads="1"/>
          </p:cNvSpPr>
          <p:nvPr/>
        </p:nvSpPr>
        <p:spPr bwMode="auto">
          <a:xfrm>
            <a:off x="2917825" y="1268413"/>
            <a:ext cx="5172075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rectangle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upperleft, lowerright;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rectangle 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&amp;r.upperleft.x, &amp;r.upperleft.y);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&amp;r.lowerright.x, &amp;r.lowerright.y);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printf("area = %lf\n",  area(r));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(rect.lowerright.x - rect.upperleft.x)*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               (rect.upperleft.y - rect.lowerright.y);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9700" name="Group 20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9701" name="Line 18"/>
            <p:cNvSpPr>
              <a:spLocks noChangeShapeType="1"/>
            </p:cNvSpPr>
            <p:nvPr/>
          </p:nvSpPr>
          <p:spPr bwMode="auto">
            <a:xfrm>
              <a:off x="1247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2" name="Line 16"/>
            <p:cNvSpPr>
              <a:spLocks noChangeShapeType="1"/>
            </p:cNvSpPr>
            <p:nvPr/>
          </p:nvSpPr>
          <p:spPr bwMode="auto">
            <a:xfrm flipH="1">
              <a:off x="476" y="1344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3" name="Line 4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4" name="Line 5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5" name="Text Box 10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9706" name="Text Box 11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9707" name="Rectangle 14"/>
            <p:cNvSpPr>
              <a:spLocks noChangeArrowheads="1"/>
            </p:cNvSpPr>
            <p:nvPr/>
          </p:nvSpPr>
          <p:spPr bwMode="auto">
            <a:xfrm>
              <a:off x="748" y="1344"/>
              <a:ext cx="499" cy="227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8" name="Oval 8"/>
            <p:cNvSpPr>
              <a:spLocks noChangeArrowheads="1"/>
            </p:cNvSpPr>
            <p:nvPr/>
          </p:nvSpPr>
          <p:spPr bwMode="auto">
            <a:xfrm>
              <a:off x="723" y="1318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9" name="Oval 15"/>
            <p:cNvSpPr>
              <a:spLocks noChangeArrowheads="1"/>
            </p:cNvSpPr>
            <p:nvPr/>
          </p:nvSpPr>
          <p:spPr bwMode="auto">
            <a:xfrm>
              <a:off x="1217" y="1545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10" name="Line 17"/>
            <p:cNvSpPr>
              <a:spLocks noChangeShapeType="1"/>
            </p:cNvSpPr>
            <p:nvPr/>
          </p:nvSpPr>
          <p:spPr bwMode="auto">
            <a:xfrm>
              <a:off x="748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11" name="Line 19"/>
            <p:cNvSpPr>
              <a:spLocks noChangeShapeType="1"/>
            </p:cNvSpPr>
            <p:nvPr/>
          </p:nvSpPr>
          <p:spPr bwMode="auto">
            <a:xfrm flipH="1">
              <a:off x="476" y="1570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45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3</a:t>
            </a:r>
          </a:p>
        </p:txBody>
      </p:sp>
      <p:sp>
        <p:nvSpPr>
          <p:cNvPr id="30723" name="AutoShape 15"/>
          <p:cNvSpPr>
            <a:spLocks noChangeArrowheads="1"/>
          </p:cNvSpPr>
          <p:nvPr/>
        </p:nvSpPr>
        <p:spPr bwMode="auto">
          <a:xfrm>
            <a:off x="107950" y="1628775"/>
            <a:ext cx="2447925" cy="431800"/>
          </a:xfrm>
          <a:prstGeom prst="horizontalScroll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fri thu tue fri fri mon…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611188" y="2205038"/>
            <a:ext cx="1727200" cy="1508125"/>
            <a:chOff x="385" y="1389"/>
            <a:chExt cx="1088" cy="950"/>
          </a:xfrm>
        </p:grpSpPr>
        <p:sp>
          <p:nvSpPr>
            <p:cNvPr id="30732" name="Line 17"/>
            <p:cNvSpPr>
              <a:spLocks noChangeShapeType="1"/>
            </p:cNvSpPr>
            <p:nvPr/>
          </p:nvSpPr>
          <p:spPr bwMode="auto">
            <a:xfrm>
              <a:off x="385" y="2024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3" name="Line 18"/>
            <p:cNvSpPr>
              <a:spLocks noChangeShapeType="1"/>
            </p:cNvSpPr>
            <p:nvPr/>
          </p:nvSpPr>
          <p:spPr bwMode="auto">
            <a:xfrm flipV="1">
              <a:off x="385" y="1389"/>
              <a:ext cx="0" cy="6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4" name="Text Box 20"/>
            <p:cNvSpPr txBox="1">
              <a:spLocks noChangeArrowheads="1"/>
            </p:cNvSpPr>
            <p:nvPr/>
          </p:nvSpPr>
          <p:spPr bwMode="auto">
            <a:xfrm rot="-5400000">
              <a:off x="414" y="2086"/>
              <a:ext cx="3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mon</a:t>
              </a:r>
            </a:p>
          </p:txBody>
        </p:sp>
        <p:sp>
          <p:nvSpPr>
            <p:cNvPr id="30735" name="Text Box 21"/>
            <p:cNvSpPr txBox="1">
              <a:spLocks noChangeArrowheads="1"/>
            </p:cNvSpPr>
            <p:nvPr/>
          </p:nvSpPr>
          <p:spPr bwMode="auto">
            <a:xfrm rot="-5400000">
              <a:off x="600" y="2055"/>
              <a:ext cx="2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tue</a:t>
              </a:r>
            </a:p>
          </p:txBody>
        </p:sp>
        <p:sp>
          <p:nvSpPr>
            <p:cNvPr id="30736" name="Text Box 22"/>
            <p:cNvSpPr txBox="1">
              <a:spLocks noChangeArrowheads="1"/>
            </p:cNvSpPr>
            <p:nvPr/>
          </p:nvSpPr>
          <p:spPr bwMode="auto">
            <a:xfrm rot="-5400000">
              <a:off x="729" y="2080"/>
              <a:ext cx="30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wed</a:t>
              </a:r>
            </a:p>
          </p:txBody>
        </p:sp>
        <p:sp>
          <p:nvSpPr>
            <p:cNvPr id="30737" name="Text Box 23"/>
            <p:cNvSpPr txBox="1">
              <a:spLocks noChangeArrowheads="1"/>
            </p:cNvSpPr>
            <p:nvPr/>
          </p:nvSpPr>
          <p:spPr bwMode="auto">
            <a:xfrm rot="-5400000">
              <a:off x="905" y="205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thu</a:t>
              </a:r>
            </a:p>
          </p:txBody>
        </p:sp>
        <p:sp>
          <p:nvSpPr>
            <p:cNvPr id="30738" name="Text Box 24"/>
            <p:cNvSpPr txBox="1">
              <a:spLocks noChangeArrowheads="1"/>
            </p:cNvSpPr>
            <p:nvPr/>
          </p:nvSpPr>
          <p:spPr bwMode="auto">
            <a:xfrm rot="-5400000">
              <a:off x="1078" y="2039"/>
              <a:ext cx="22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fri</a:t>
              </a:r>
            </a:p>
          </p:txBody>
        </p:sp>
        <p:sp>
          <p:nvSpPr>
            <p:cNvPr id="30739" name="Rectangle 25"/>
            <p:cNvSpPr>
              <a:spLocks noChangeArrowheads="1"/>
            </p:cNvSpPr>
            <p:nvPr/>
          </p:nvSpPr>
          <p:spPr bwMode="auto">
            <a:xfrm>
              <a:off x="551" y="1707"/>
              <a:ext cx="113" cy="31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0" name="Rectangle 26"/>
            <p:cNvSpPr>
              <a:spLocks noChangeArrowheads="1"/>
            </p:cNvSpPr>
            <p:nvPr/>
          </p:nvSpPr>
          <p:spPr bwMode="auto">
            <a:xfrm>
              <a:off x="697" y="1797"/>
              <a:ext cx="113" cy="22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1" name="Rectangle 27"/>
            <p:cNvSpPr>
              <a:spLocks noChangeArrowheads="1"/>
            </p:cNvSpPr>
            <p:nvPr/>
          </p:nvSpPr>
          <p:spPr bwMode="auto">
            <a:xfrm>
              <a:off x="843" y="1571"/>
              <a:ext cx="113" cy="45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2" name="Rectangle 28"/>
            <p:cNvSpPr>
              <a:spLocks noChangeArrowheads="1"/>
            </p:cNvSpPr>
            <p:nvPr/>
          </p:nvSpPr>
          <p:spPr bwMode="auto">
            <a:xfrm>
              <a:off x="985" y="1616"/>
              <a:ext cx="113" cy="40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3" name="Rectangle 29"/>
            <p:cNvSpPr>
              <a:spLocks noChangeArrowheads="1"/>
            </p:cNvSpPr>
            <p:nvPr/>
          </p:nvSpPr>
          <p:spPr bwMode="auto">
            <a:xfrm>
              <a:off x="1131" y="1933"/>
              <a:ext cx="11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6110" name="Oval 30"/>
          <p:cNvSpPr>
            <a:spLocks noChangeArrowheads="1"/>
          </p:cNvSpPr>
          <p:nvPr/>
        </p:nvSpPr>
        <p:spPr bwMode="auto">
          <a:xfrm>
            <a:off x="1308100" y="3268663"/>
            <a:ext cx="215900" cy="35877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28600" y="3854450"/>
            <a:ext cx="1652588" cy="1841500"/>
            <a:chOff x="144" y="2428"/>
            <a:chExt cx="1041" cy="1160"/>
          </a:xfrm>
        </p:grpSpPr>
        <p:sp>
          <p:nvSpPr>
            <p:cNvPr id="30730" name="Text Box 31"/>
            <p:cNvSpPr txBox="1">
              <a:spLocks noChangeArrowheads="1"/>
            </p:cNvSpPr>
            <p:nvPr/>
          </p:nvSpPr>
          <p:spPr bwMode="auto">
            <a:xfrm>
              <a:off x="521" y="2659"/>
              <a:ext cx="664" cy="9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mon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tue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wed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thu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3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fri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4</a:t>
              </a:r>
            </a:p>
          </p:txBody>
        </p:sp>
        <p:sp>
          <p:nvSpPr>
            <p:cNvPr id="30731" name="Text Box 32"/>
            <p:cNvSpPr txBox="1">
              <a:spLocks noChangeArrowheads="1"/>
            </p:cNvSpPr>
            <p:nvPr/>
          </p:nvSpPr>
          <p:spPr bwMode="auto">
            <a:xfrm>
              <a:off x="144" y="2428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encoding: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2771775" y="1268413"/>
            <a:ext cx="6335713" cy="5418137"/>
            <a:chOff x="1746" y="799"/>
            <a:chExt cx="3991" cy="3413"/>
          </a:xfrm>
        </p:grpSpPr>
        <p:sp>
          <p:nvSpPr>
            <p:cNvPr id="30728" name="Text Box 5"/>
            <p:cNvSpPr txBox="1">
              <a:spLocks noChangeArrowheads="1"/>
            </p:cNvSpPr>
            <p:nvPr/>
          </p:nvSpPr>
          <p:spPr bwMode="auto">
            <a:xfrm>
              <a:off x="1746" y="799"/>
              <a:ext cx="2679" cy="2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solidFill>
                    <a:srgbClr val="FF0000"/>
                  </a:solidFill>
                  <a:latin typeface="Times New Roman" pitchFamily="18" charset="0"/>
                </a:rPr>
                <a:t>const unsigned NrDays = 5;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measurements[]);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unsigned i, nrMeas, day, meas[NrDays];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printf("nr. of meas.: "); scanf("</a:t>
              </a:r>
              <a:r>
                <a:rPr lang="en-US" altLang="nl-BE" sz="1600">
                  <a:solidFill>
                    <a:srgbClr val="00CC00"/>
                  </a:solidFill>
                  <a:latin typeface="Times New Roman" pitchFamily="18" charset="0"/>
                </a:rPr>
                <a:t>%u</a:t>
              </a:r>
              <a:r>
                <a:rPr lang="en-US" altLang="nl-BE" sz="1600">
                  <a:latin typeface="Times New Roman" pitchFamily="18" charset="0"/>
                </a:rPr>
                <a:t>", &amp;nrMeas);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printf("measurements: 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(i = 0; i &lt; nrMeas;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scanf("%u", &amp;day);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meas[day]++;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printf("busiest day: %u",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      busiest(meas));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30729" name="Text Box 33"/>
            <p:cNvSpPr txBox="1">
              <a:spLocks noChangeArrowheads="1"/>
            </p:cNvSpPr>
            <p:nvPr/>
          </p:nvSpPr>
          <p:spPr bwMode="auto">
            <a:xfrm>
              <a:off x="3515" y="2614"/>
              <a:ext cx="2222" cy="15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 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unsigned day, busiestDay = 0, max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if (meas [day] &gt; max)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busiestDay = 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max = meas [day];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return busiestDay;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64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4</a:t>
            </a:r>
          </a:p>
        </p:txBody>
      </p:sp>
      <p:sp>
        <p:nvSpPr>
          <p:cNvPr id="62486" name="Text Box 22"/>
          <p:cNvSpPr txBox="1">
            <a:spLocks noChangeArrowheads="1"/>
          </p:cNvSpPr>
          <p:nvPr/>
        </p:nvSpPr>
        <p:spPr bwMode="auto">
          <a:xfrm>
            <a:off x="4891088" y="1268413"/>
            <a:ext cx="4073525" cy="547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stdio.h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CC00"/>
                </a:solidFill>
                <a:latin typeface="Times New Roman" pitchFamily="18" charset="0"/>
              </a:rPr>
              <a:t>string.h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ctype.h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str[]);</a:t>
            </a:r>
            <a:endParaRPr lang="en-US" altLang="nl-BE" sz="140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char s[80];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gets</a:t>
            </a:r>
            <a:r>
              <a:rPr lang="en-US" altLang="nl-BE" sz="1400">
                <a:latin typeface="Times New Roman" pitchFamily="18" charset="0"/>
              </a:rPr>
              <a:t>(s);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printf("'%s' has %u words\n", s, countWords(s));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NotInWord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InWord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unsigned state = NotInWord, nrWords = 0,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for (i = 0; i &lt;= </a:t>
            </a:r>
            <a:r>
              <a:rPr lang="en-US" altLang="nl-BE" sz="1400">
                <a:solidFill>
                  <a:srgbClr val="92D050"/>
                </a:solidFill>
                <a:latin typeface="Times New Roman" pitchFamily="18" charset="0"/>
              </a:rPr>
              <a:t>strlen</a:t>
            </a:r>
            <a:r>
              <a:rPr lang="en-US" altLang="nl-BE" sz="1400">
                <a:latin typeface="Times New Roman" pitchFamily="18" charset="0"/>
              </a:rPr>
              <a:t>(str);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if (state == NotInWord)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nrWords = nrWords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 else {  /* state == InWord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(!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NotInWord;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return nrWords;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</p:txBody>
      </p:sp>
      <p:sp>
        <p:nvSpPr>
          <p:cNvPr id="31748" name="Text Box 24"/>
          <p:cNvSpPr txBox="1">
            <a:spLocks noChangeArrowheads="1"/>
          </p:cNvSpPr>
          <p:nvPr/>
        </p:nvSpPr>
        <p:spPr bwMode="auto">
          <a:xfrm>
            <a:off x="519113" y="1504950"/>
            <a:ext cx="4278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To be or not to be, that's the question.»</a:t>
            </a:r>
          </a:p>
        </p:txBody>
      </p:sp>
      <p:sp>
        <p:nvSpPr>
          <p:cNvPr id="31749" name="Text Box 25"/>
          <p:cNvSpPr txBox="1">
            <a:spLocks noChangeArrowheads="1"/>
          </p:cNvSpPr>
          <p:nvPr/>
        </p:nvSpPr>
        <p:spPr bwMode="auto">
          <a:xfrm>
            <a:off x="755650" y="198913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many words?</a:t>
            </a:r>
          </a:p>
        </p:txBody>
      </p:sp>
      <p:sp>
        <p:nvSpPr>
          <p:cNvPr id="62490" name="Text Box 26"/>
          <p:cNvSpPr txBox="1">
            <a:spLocks noChangeArrowheads="1"/>
          </p:cNvSpPr>
          <p:nvPr/>
        </p:nvSpPr>
        <p:spPr bwMode="auto">
          <a:xfrm>
            <a:off x="755650" y="2492375"/>
            <a:ext cx="2209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definition of</a:t>
            </a:r>
            <a:r>
              <a:rPr lang="en-US" altLang="nl-BE" sz="1800" i="1">
                <a:latin typeface="Euclid" pitchFamily="18" charset="0"/>
              </a:rPr>
              <a:t> word</a:t>
            </a:r>
            <a:r>
              <a:rPr lang="en-US" altLang="nl-BE" sz="1800">
                <a:latin typeface="Euclid" pitchFamily="18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sequence of one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more characters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  <a:sym typeface="Euclid Symbol"/>
              </a:rPr>
              <a:t> = </a:t>
            </a:r>
            <a:r>
              <a:rPr lang="en-US" altLang="nl-BE" sz="1800">
                <a:latin typeface="Euclid" pitchFamily="18" charset="0"/>
              </a:rPr>
              <a:t>{A,…,Z,a,…,z}</a:t>
            </a:r>
          </a:p>
        </p:txBody>
      </p:sp>
      <p:grpSp>
        <p:nvGrpSpPr>
          <p:cNvPr id="2" name="Group 48"/>
          <p:cNvGrpSpPr>
            <a:grpSpLocks/>
          </p:cNvGrpSpPr>
          <p:nvPr/>
        </p:nvGrpSpPr>
        <p:grpSpPr bwMode="auto">
          <a:xfrm>
            <a:off x="468313" y="3900488"/>
            <a:ext cx="2544762" cy="2697162"/>
            <a:chOff x="295" y="2457"/>
            <a:chExt cx="1603" cy="1699"/>
          </a:xfrm>
        </p:grpSpPr>
        <p:grpSp>
          <p:nvGrpSpPr>
            <p:cNvPr id="31755" name="Group 29"/>
            <p:cNvGrpSpPr>
              <a:grpSpLocks/>
            </p:cNvGrpSpPr>
            <p:nvPr/>
          </p:nvGrpSpPr>
          <p:grpSpPr bwMode="auto">
            <a:xfrm>
              <a:off x="670" y="2778"/>
              <a:ext cx="874" cy="231"/>
              <a:chOff x="645" y="2601"/>
              <a:chExt cx="874" cy="231"/>
            </a:xfrm>
          </p:grpSpPr>
          <p:sp>
            <p:nvSpPr>
              <p:cNvPr id="31768" name="Text Box 27"/>
              <p:cNvSpPr txBox="1">
                <a:spLocks noChangeArrowheads="1"/>
              </p:cNvSpPr>
              <p:nvPr/>
            </p:nvSpPr>
            <p:spPr bwMode="auto">
              <a:xfrm>
                <a:off x="645" y="2601"/>
                <a:ext cx="85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not in word</a:t>
                </a:r>
              </a:p>
            </p:txBody>
          </p:sp>
          <p:sp>
            <p:nvSpPr>
              <p:cNvPr id="31769" name="Oval 28"/>
              <p:cNvSpPr>
                <a:spLocks noChangeArrowheads="1"/>
              </p:cNvSpPr>
              <p:nvPr/>
            </p:nvSpPr>
            <p:spPr bwMode="auto">
              <a:xfrm>
                <a:off x="657" y="2604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grpSp>
          <p:nvGrpSpPr>
            <p:cNvPr id="31756" name="Group 33"/>
            <p:cNvGrpSpPr>
              <a:grpSpLocks/>
            </p:cNvGrpSpPr>
            <p:nvPr/>
          </p:nvGrpSpPr>
          <p:grpSpPr bwMode="auto">
            <a:xfrm>
              <a:off x="682" y="3516"/>
              <a:ext cx="862" cy="231"/>
              <a:chOff x="651" y="3108"/>
              <a:chExt cx="862" cy="231"/>
            </a:xfrm>
          </p:grpSpPr>
          <p:sp>
            <p:nvSpPr>
              <p:cNvPr id="31766" name="Text Box 31"/>
              <p:cNvSpPr txBox="1">
                <a:spLocks noChangeArrowheads="1"/>
              </p:cNvSpPr>
              <p:nvPr/>
            </p:nvSpPr>
            <p:spPr bwMode="auto">
              <a:xfrm>
                <a:off x="784" y="3108"/>
                <a:ext cx="5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in word</a:t>
                </a:r>
              </a:p>
            </p:txBody>
          </p:sp>
          <p:sp>
            <p:nvSpPr>
              <p:cNvPr id="31767" name="Oval 32"/>
              <p:cNvSpPr>
                <a:spLocks noChangeArrowheads="1"/>
              </p:cNvSpPr>
              <p:nvPr/>
            </p:nvSpPr>
            <p:spPr bwMode="auto">
              <a:xfrm>
                <a:off x="651" y="3111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cxnSp>
          <p:nvCxnSpPr>
            <p:cNvPr id="31757" name="AutoShape 35"/>
            <p:cNvCxnSpPr>
              <a:cxnSpLocks noChangeShapeType="1"/>
              <a:stCxn id="31769" idx="5"/>
              <a:endCxn id="31767" idx="7"/>
            </p:cNvCxnSpPr>
            <p:nvPr/>
          </p:nvCxnSpPr>
          <p:spPr bwMode="auto">
            <a:xfrm>
              <a:off x="141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8" name="AutoShape 36"/>
            <p:cNvCxnSpPr>
              <a:cxnSpLocks noChangeShapeType="1"/>
              <a:stCxn id="31767" idx="1"/>
              <a:endCxn id="31769" idx="3"/>
            </p:cNvCxnSpPr>
            <p:nvPr/>
          </p:nvCxnSpPr>
          <p:spPr bwMode="auto">
            <a:xfrm flipV="1">
              <a:off x="80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9" name="AutoShape 38"/>
            <p:cNvCxnSpPr>
              <a:cxnSpLocks noChangeShapeType="1"/>
              <a:stCxn id="31769" idx="7"/>
              <a:endCxn id="31769" idx="6"/>
            </p:cNvCxnSpPr>
            <p:nvPr/>
          </p:nvCxnSpPr>
          <p:spPr bwMode="auto">
            <a:xfrm rot="5400000" flipV="1">
              <a:off x="1441" y="2791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60" name="AutoShape 39"/>
            <p:cNvCxnSpPr>
              <a:cxnSpLocks noChangeShapeType="1"/>
              <a:stCxn id="31767" idx="3"/>
              <a:endCxn id="31767" idx="2"/>
            </p:cNvCxnSpPr>
            <p:nvPr/>
          </p:nvCxnSpPr>
          <p:spPr bwMode="auto">
            <a:xfrm rot="16200000" flipV="1">
              <a:off x="705" y="3609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761" name="Text Box 41"/>
            <p:cNvSpPr txBox="1">
              <a:spLocks noChangeArrowheads="1"/>
            </p:cNvSpPr>
            <p:nvPr/>
          </p:nvSpPr>
          <p:spPr bwMode="auto">
            <a:xfrm>
              <a:off x="1420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2" name="Text Box 42"/>
            <p:cNvSpPr txBox="1">
              <a:spLocks noChangeArrowheads="1"/>
            </p:cNvSpPr>
            <p:nvPr/>
          </p:nvSpPr>
          <p:spPr bwMode="auto">
            <a:xfrm>
              <a:off x="365" y="3925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3" name="Text Box 43"/>
            <p:cNvSpPr txBox="1">
              <a:spLocks noChangeArrowheads="1"/>
            </p:cNvSpPr>
            <p:nvPr/>
          </p:nvSpPr>
          <p:spPr bwMode="auto">
            <a:xfrm>
              <a:off x="1057" y="245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4" name="Text Box 44"/>
            <p:cNvSpPr txBox="1">
              <a:spLocks noChangeArrowheads="1"/>
            </p:cNvSpPr>
            <p:nvPr/>
          </p:nvSpPr>
          <p:spPr bwMode="auto">
            <a:xfrm>
              <a:off x="295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5" name="Line 46"/>
            <p:cNvSpPr>
              <a:spLocks noChangeShapeType="1"/>
            </p:cNvSpPr>
            <p:nvPr/>
          </p:nvSpPr>
          <p:spPr bwMode="auto">
            <a:xfrm>
              <a:off x="657" y="2523"/>
              <a:ext cx="91" cy="31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68263" y="4149725"/>
            <a:ext cx="4095750" cy="1366838"/>
            <a:chOff x="43" y="2614"/>
            <a:chExt cx="2580" cy="861"/>
          </a:xfrm>
        </p:grpSpPr>
        <p:sp>
          <p:nvSpPr>
            <p:cNvPr id="31753" name="Text Box 45"/>
            <p:cNvSpPr txBox="1">
              <a:spLocks noChangeArrowheads="1"/>
            </p:cNvSpPr>
            <p:nvPr/>
          </p:nvSpPr>
          <p:spPr bwMode="auto">
            <a:xfrm>
              <a:off x="1429" y="3283"/>
              <a:ext cx="119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nrWords + 1</a:t>
              </a:r>
            </a:p>
          </p:txBody>
        </p:sp>
        <p:sp>
          <p:nvSpPr>
            <p:cNvPr id="31754" name="Text Box 47"/>
            <p:cNvSpPr txBox="1">
              <a:spLocks noChangeArrowheads="1"/>
            </p:cNvSpPr>
            <p:nvPr/>
          </p:nvSpPr>
          <p:spPr bwMode="auto">
            <a:xfrm>
              <a:off x="43" y="2614"/>
              <a:ext cx="7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0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909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86" grpId="0"/>
      <p:bldP spid="6249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data types &amp; operators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2, Types, operators and expressions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6917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Names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/>
              <a:t>case sensitive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consist of {A,…,Z,a,…,z,_,0,…,9}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starts with {A,…,Z,a,…,z,_}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any length, but at most: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variables: 31 </a:t>
            </a:r>
            <a:r>
              <a:rPr lang="en-US" altLang="nl-BE" sz="2000" i="1"/>
              <a:t>significant</a:t>
            </a:r>
            <a:endParaRPr lang="en-US" altLang="nl-BE" sz="2000"/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functions: 6 </a:t>
            </a:r>
            <a:r>
              <a:rPr lang="en-US" altLang="nl-BE" sz="2000" i="1"/>
              <a:t>significant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no reserved words allowed: </a:t>
            </a:r>
            <a:r>
              <a:rPr lang="en-US" altLang="nl-BE" sz="2400">
                <a:latin typeface="Times New Roman" pitchFamily="18" charset="0"/>
              </a:rPr>
              <a:t>if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while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char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int</a:t>
            </a:r>
            <a:r>
              <a:rPr lang="en-US" altLang="nl-BE" sz="2400"/>
              <a:t>,…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convention: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variables, functions: start with lowercase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constants, type names: start with uppercase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names reflect semantics of entity!!!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camelCase (e.g., </a:t>
            </a:r>
            <a:r>
              <a:rPr lang="en-US" altLang="nl-BE" sz="2000">
                <a:latin typeface="Times New Roman" pitchFamily="18" charset="0"/>
              </a:rPr>
              <a:t>nrOfRuns</a:t>
            </a:r>
            <a:r>
              <a:rPr lang="en-US" altLang="nl-BE" sz="2000"/>
              <a:t>) or </a:t>
            </a:r>
            <a:r>
              <a:rPr lang="en-US" altLang="nl-BE" sz="2000">
                <a:latin typeface="Times New Roman" pitchFamily="18" charset="0"/>
              </a:rPr>
              <a:t>'_'</a:t>
            </a:r>
            <a:r>
              <a:rPr lang="en-US" altLang="nl-BE" sz="2000"/>
              <a:t> (e.g., </a:t>
            </a:r>
            <a:r>
              <a:rPr lang="en-US" altLang="nl-BE" sz="2000">
                <a:latin typeface="Times New Roman" pitchFamily="18" charset="0"/>
              </a:rPr>
              <a:t>nr_of_runs</a:t>
            </a:r>
            <a:r>
              <a:rPr lang="en-US" altLang="nl-BE" sz="2000"/>
              <a:t>)</a:t>
            </a:r>
          </a:p>
          <a:p>
            <a:pPr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37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Types: overview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char</a:t>
            </a:r>
          </a:p>
          <a:p>
            <a:pPr eaLnBrk="1" hangingPunct="1"/>
            <a:r>
              <a:rPr lang="en-US" altLang="nl-BE"/>
              <a:t>int</a:t>
            </a:r>
          </a:p>
          <a:p>
            <a:pPr eaLnBrk="1" hangingPunct="1"/>
            <a:r>
              <a:rPr lang="en-US" altLang="nl-BE"/>
              <a:t>float</a:t>
            </a:r>
          </a:p>
          <a:p>
            <a:pPr eaLnBrk="1" hangingPunct="1"/>
            <a:r>
              <a:rPr lang="en-US" altLang="nl-BE"/>
              <a:t>double</a:t>
            </a:r>
          </a:p>
          <a:p>
            <a:pPr eaLnBrk="1" hangingPunct="1"/>
            <a:r>
              <a:rPr lang="en-US" altLang="nl-BE"/>
              <a:t>enum</a:t>
            </a:r>
          </a:p>
          <a:p>
            <a:pPr eaLnBrk="1" hangingPunct="1"/>
            <a:r>
              <a:rPr lang="en-US" altLang="nl-BE"/>
              <a:t>struct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8519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char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1 byte</a:t>
            </a:r>
            <a:br>
              <a:rPr lang="en-US" altLang="nl-BE"/>
            </a:b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CHAR_MAX</a:t>
            </a:r>
            <a:endParaRPr lang="en-US" altLang="nl-BE"/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SCHAR_MAX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UCHAR_MAX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 can be </a:t>
            </a: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unsigned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almost always irrelevant, just use </a:t>
            </a:r>
            <a:r>
              <a:rPr lang="en-US" altLang="nl-BE">
                <a:latin typeface="Times New Roman" pitchFamily="18" charset="0"/>
              </a:rPr>
              <a:t>char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'0'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'$'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'/'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','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'.'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note:</a:t>
            </a:r>
            <a:r>
              <a:rPr lang="en-US" altLang="nl-BE">
                <a:latin typeface="Times New Roman" pitchFamily="18" charset="0"/>
              </a:rPr>
              <a:t>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"x"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  <a:sym typeface="Euclid Symbol"/>
              </a:rPr>
              <a:t>≠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 'x'</a:t>
            </a:r>
            <a:r>
              <a:rPr lang="en-US" altLang="nl-BE"/>
              <a:t> !!!</a:t>
            </a:r>
          </a:p>
        </p:txBody>
      </p:sp>
      <p:grpSp>
        <p:nvGrpSpPr>
          <p:cNvPr id="6148" name="Group 12"/>
          <p:cNvGrpSpPr>
            <a:grpSpLocks/>
          </p:cNvGrpSpPr>
          <p:nvPr/>
        </p:nvGrpSpPr>
        <p:grpSpPr bwMode="auto">
          <a:xfrm>
            <a:off x="6084888" y="1341438"/>
            <a:ext cx="2916237" cy="1728787"/>
            <a:chOff x="3833" y="935"/>
            <a:chExt cx="1837" cy="1089"/>
          </a:xfrm>
        </p:grpSpPr>
        <p:sp>
          <p:nvSpPr>
            <p:cNvPr id="6149" name="Text Box 9"/>
            <p:cNvSpPr txBox="1">
              <a:spLocks noChangeArrowheads="1"/>
            </p:cNvSpPr>
            <p:nvPr/>
          </p:nvSpPr>
          <p:spPr bwMode="auto">
            <a:xfrm>
              <a:off x="4087" y="935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6150" name="Line 10"/>
            <p:cNvSpPr>
              <a:spLocks noChangeShapeType="1"/>
            </p:cNvSpPr>
            <p:nvPr/>
          </p:nvSpPr>
          <p:spPr bwMode="auto">
            <a:xfrm flipH="1">
              <a:off x="3833" y="1162"/>
              <a:ext cx="272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6151" name="Line 11"/>
            <p:cNvSpPr>
              <a:spLocks noChangeShapeType="1"/>
            </p:cNvSpPr>
            <p:nvPr/>
          </p:nvSpPr>
          <p:spPr bwMode="auto">
            <a:xfrm flipH="1">
              <a:off x="4105" y="1253"/>
              <a:ext cx="90" cy="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3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Special characters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'\a'</a:t>
            </a:r>
            <a:r>
              <a:rPr lang="en-US" altLang="nl-BE"/>
              <a:t>: bell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'\n'</a:t>
            </a:r>
            <a:r>
              <a:rPr lang="en-US" altLang="nl-BE"/>
              <a:t>: new line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'\r'</a:t>
            </a:r>
            <a:r>
              <a:rPr lang="en-US" altLang="nl-BE"/>
              <a:t>: carriage return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'\t'</a:t>
            </a:r>
            <a:r>
              <a:rPr lang="en-US" altLang="nl-BE"/>
              <a:t>: horizontal tab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'\\'</a:t>
            </a:r>
            <a:r>
              <a:rPr lang="en-US" altLang="nl-BE"/>
              <a:t>: backslash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'\''</a:t>
            </a:r>
            <a:r>
              <a:rPr lang="en-US" altLang="nl-BE"/>
              <a:t>: single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'\"'</a:t>
            </a:r>
            <a:r>
              <a:rPr lang="en-US" altLang="nl-BE"/>
              <a:t>: double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'\0'</a:t>
            </a:r>
            <a:r>
              <a:rPr lang="en-US" altLang="nl-BE"/>
              <a:t>: null character (terminates strings)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6340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int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4 bytes,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nl-BE">
                <a:latin typeface="Times New Roman" pitchFamily="18" charset="0"/>
              </a:rPr>
              <a:t>        INT_MIN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INT_MAX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int</a:t>
            </a:r>
            <a:r>
              <a:rPr lang="en-US" altLang="nl-BE">
                <a:latin typeface="Euclid"/>
              </a:rPr>
              <a:t>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UINT_MAX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short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short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SHRT_MIN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SHRT_MAX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short: 0,…,USHRT_MAX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long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long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LONG_MIN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LONG_MAX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long: 0,…,ULONG_MAX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-2434, 12, 17U, -19344L, 1235UL</a:t>
            </a:r>
          </a:p>
        </p:txBody>
      </p:sp>
      <p:grpSp>
        <p:nvGrpSpPr>
          <p:cNvPr id="8196" name="Group 22"/>
          <p:cNvGrpSpPr>
            <a:grpSpLocks/>
          </p:cNvGrpSpPr>
          <p:nvPr/>
        </p:nvGrpSpPr>
        <p:grpSpPr bwMode="auto">
          <a:xfrm>
            <a:off x="5651500" y="1819275"/>
            <a:ext cx="3492500" cy="1249363"/>
            <a:chOff x="3560" y="1146"/>
            <a:chExt cx="2200" cy="787"/>
          </a:xfrm>
        </p:grpSpPr>
        <p:sp>
          <p:nvSpPr>
            <p:cNvPr id="8210" name="Text Box 6"/>
            <p:cNvSpPr txBox="1">
              <a:spLocks noChangeArrowheads="1"/>
            </p:cNvSpPr>
            <p:nvPr/>
          </p:nvSpPr>
          <p:spPr bwMode="auto">
            <a:xfrm>
              <a:off x="4177" y="1146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8211" name="Line 7"/>
            <p:cNvSpPr>
              <a:spLocks noChangeShapeType="1"/>
            </p:cNvSpPr>
            <p:nvPr/>
          </p:nvSpPr>
          <p:spPr bwMode="auto">
            <a:xfrm flipH="1">
              <a:off x="3560" y="1344"/>
              <a:ext cx="59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 flipH="1">
              <a:off x="3923" y="1389"/>
              <a:ext cx="272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7" name="Group 18"/>
          <p:cNvGrpSpPr>
            <a:grpSpLocks/>
          </p:cNvGrpSpPr>
          <p:nvPr/>
        </p:nvGrpSpPr>
        <p:grpSpPr bwMode="auto">
          <a:xfrm>
            <a:off x="3492500" y="5924550"/>
            <a:ext cx="719138" cy="673100"/>
            <a:chOff x="2200" y="3612"/>
            <a:chExt cx="453" cy="424"/>
          </a:xfrm>
        </p:grpSpPr>
        <p:sp>
          <p:nvSpPr>
            <p:cNvPr id="8207" name="Text Box 9"/>
            <p:cNvSpPr txBox="1">
              <a:spLocks noChangeArrowheads="1"/>
            </p:cNvSpPr>
            <p:nvPr/>
          </p:nvSpPr>
          <p:spPr bwMode="auto">
            <a:xfrm>
              <a:off x="2294" y="3805"/>
              <a:ext cx="2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</a:t>
              </a:r>
            </a:p>
          </p:txBody>
        </p:sp>
        <p:sp>
          <p:nvSpPr>
            <p:cNvPr id="8208" name="Line 13"/>
            <p:cNvSpPr>
              <a:spLocks noChangeShapeType="1"/>
            </p:cNvSpPr>
            <p:nvPr/>
          </p:nvSpPr>
          <p:spPr bwMode="auto">
            <a:xfrm flipH="1" flipV="1">
              <a:off x="2200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09" name="Line 14"/>
            <p:cNvSpPr>
              <a:spLocks noChangeShapeType="1"/>
            </p:cNvSpPr>
            <p:nvPr/>
          </p:nvSpPr>
          <p:spPr bwMode="auto">
            <a:xfrm flipV="1">
              <a:off x="2517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8" name="Group 19"/>
          <p:cNvGrpSpPr>
            <a:grpSpLocks/>
          </p:cNvGrpSpPr>
          <p:nvPr/>
        </p:nvGrpSpPr>
        <p:grpSpPr bwMode="auto">
          <a:xfrm>
            <a:off x="4427538" y="5924550"/>
            <a:ext cx="1111250" cy="673100"/>
            <a:chOff x="2789" y="3612"/>
            <a:chExt cx="700" cy="424"/>
          </a:xfrm>
        </p:grpSpPr>
        <p:sp>
          <p:nvSpPr>
            <p:cNvPr id="8205" name="Text Box 10"/>
            <p:cNvSpPr txBox="1">
              <a:spLocks noChangeArrowheads="1"/>
            </p:cNvSpPr>
            <p:nvPr/>
          </p:nvSpPr>
          <p:spPr bwMode="auto">
            <a:xfrm>
              <a:off x="2789" y="3805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</a:t>
              </a:r>
            </a:p>
          </p:txBody>
        </p:sp>
        <p:sp>
          <p:nvSpPr>
            <p:cNvPr id="8206" name="Line 15"/>
            <p:cNvSpPr>
              <a:spLocks noChangeShapeType="1"/>
            </p:cNvSpPr>
            <p:nvPr/>
          </p:nvSpPr>
          <p:spPr bwMode="auto">
            <a:xfrm flipV="1">
              <a:off x="3152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9" name="Group 20"/>
          <p:cNvGrpSpPr>
            <a:grpSpLocks/>
          </p:cNvGrpSpPr>
          <p:nvPr/>
        </p:nvGrpSpPr>
        <p:grpSpPr bwMode="auto">
          <a:xfrm>
            <a:off x="6011863" y="5924550"/>
            <a:ext cx="615950" cy="673100"/>
            <a:chOff x="3787" y="3612"/>
            <a:chExt cx="388" cy="424"/>
          </a:xfrm>
        </p:grpSpPr>
        <p:sp>
          <p:nvSpPr>
            <p:cNvPr id="8203" name="Text Box 11"/>
            <p:cNvSpPr txBox="1">
              <a:spLocks noChangeArrowheads="1"/>
            </p:cNvSpPr>
            <p:nvPr/>
          </p:nvSpPr>
          <p:spPr bwMode="auto">
            <a:xfrm>
              <a:off x="3787" y="3805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long</a:t>
              </a:r>
            </a:p>
          </p:txBody>
        </p:sp>
        <p:sp>
          <p:nvSpPr>
            <p:cNvPr id="8204" name="Line 16"/>
            <p:cNvSpPr>
              <a:spLocks noChangeShapeType="1"/>
            </p:cNvSpPr>
            <p:nvPr/>
          </p:nvSpPr>
          <p:spPr bwMode="auto">
            <a:xfrm flipV="1">
              <a:off x="3969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200" name="Group 21"/>
          <p:cNvGrpSpPr>
            <a:grpSpLocks/>
          </p:cNvGrpSpPr>
          <p:nvPr/>
        </p:nvGrpSpPr>
        <p:grpSpPr bwMode="auto">
          <a:xfrm>
            <a:off x="7019925" y="5924550"/>
            <a:ext cx="1606550" cy="673100"/>
            <a:chOff x="4422" y="3612"/>
            <a:chExt cx="1012" cy="424"/>
          </a:xfrm>
        </p:grpSpPr>
        <p:sp>
          <p:nvSpPr>
            <p:cNvPr id="8201" name="Text Box 12"/>
            <p:cNvSpPr txBox="1">
              <a:spLocks noChangeArrowheads="1"/>
            </p:cNvSpPr>
            <p:nvPr/>
          </p:nvSpPr>
          <p:spPr bwMode="auto">
            <a:xfrm>
              <a:off x="4422" y="3805"/>
              <a:ext cx="10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 long</a:t>
              </a:r>
            </a:p>
          </p:txBody>
        </p:sp>
        <p:sp>
          <p:nvSpPr>
            <p:cNvPr id="8202" name="Line 17"/>
            <p:cNvSpPr>
              <a:spLocks noChangeShapeType="1"/>
            </p:cNvSpPr>
            <p:nvPr/>
          </p:nvSpPr>
          <p:spPr bwMode="auto">
            <a:xfrm flipV="1">
              <a:off x="4967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3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float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4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-FLT_MAX,…,-FLT_MIN, 0.0, FLT_MIN,…,FLT_MAX</a:t>
            </a:r>
          </a:p>
          <a:p>
            <a:pPr eaLnBrk="1" hangingPunct="1"/>
            <a:r>
              <a:rPr lang="en-US" altLang="nl-BE" dirty="0"/>
              <a:t>precision: FLT</a:t>
            </a:r>
            <a:r>
              <a:rPr lang="en-US" altLang="nl-BE" dirty="0">
                <a:latin typeface="Times New Roman" pitchFamily="18" charset="0"/>
              </a:rPr>
              <a:t>_EPSILON</a:t>
            </a:r>
            <a:r>
              <a:rPr lang="en-US" altLang="nl-BE" dirty="0"/>
              <a:t>, FLT</a:t>
            </a:r>
            <a:r>
              <a:rPr lang="en-US" altLang="nl-BE" dirty="0">
                <a:latin typeface="Times New Roman" pitchFamily="18" charset="0"/>
              </a:rPr>
              <a:t>_DIG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-34.0f, .5f, -0.3f, 1.3e12f, -1.1e-3f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855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49BE-98E0-694A-7F05-23545B26D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E9CBCF2E-B124-AE87-CBA7-A9228B717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double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20E2A885-F6A9-176D-EFC5-1DD997C9A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8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-DBL_MAX,…,-DBL_MIN, 0.0, DBL_MIN,…,DBL_MAX</a:t>
            </a:r>
          </a:p>
          <a:p>
            <a:pPr eaLnBrk="1" hangingPunct="1"/>
            <a:r>
              <a:rPr lang="en-US" altLang="nl-BE" dirty="0"/>
              <a:t>precision: </a:t>
            </a:r>
            <a:r>
              <a:rPr lang="en-US" altLang="nl-BE" dirty="0">
                <a:latin typeface="Times New Roman" pitchFamily="18" charset="0"/>
              </a:rPr>
              <a:t>DBL_EPSILON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DBL_DIG</a:t>
            </a:r>
          </a:p>
          <a:p>
            <a:pPr eaLnBrk="1" hangingPunct="1"/>
            <a:r>
              <a:rPr lang="en-US" altLang="nl-BE" dirty="0"/>
              <a:t>modifiers:</a:t>
            </a:r>
          </a:p>
          <a:p>
            <a:pPr lvl="1" eaLnBrk="1" hangingPunct="1"/>
            <a:r>
              <a:rPr lang="en-US" altLang="nl-BE" dirty="0">
                <a:latin typeface="Times New Roman" pitchFamily="18" charset="0"/>
              </a:rPr>
              <a:t>long double</a:t>
            </a:r>
            <a:r>
              <a:rPr lang="en-US" altLang="nl-BE" dirty="0"/>
              <a:t>: rarely used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-34.0, .5, -0.3, 1.3e12, -1.1e-3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grpSp>
        <p:nvGrpSpPr>
          <p:cNvPr id="9220" name="Group 4">
            <a:extLst>
              <a:ext uri="{FF2B5EF4-FFF2-40B4-BE49-F238E27FC236}">
                <a16:creationId xmlns:a16="http://schemas.microsoft.com/office/drawing/2014/main" id="{2CDC382B-2767-D42C-A45C-1EA166D0BB2F}"/>
              </a:ext>
            </a:extLst>
          </p:cNvPr>
          <p:cNvGrpSpPr>
            <a:grpSpLocks/>
          </p:cNvGrpSpPr>
          <p:nvPr/>
        </p:nvGrpSpPr>
        <p:grpSpPr bwMode="auto">
          <a:xfrm>
            <a:off x="4442618" y="1159670"/>
            <a:ext cx="4221163" cy="900113"/>
            <a:chOff x="2880" y="1139"/>
            <a:chExt cx="2659" cy="567"/>
          </a:xfrm>
        </p:grpSpPr>
        <p:sp>
          <p:nvSpPr>
            <p:cNvPr id="9221" name="Text Box 5">
              <a:extLst>
                <a:ext uri="{FF2B5EF4-FFF2-40B4-BE49-F238E27FC236}">
                  <a16:creationId xmlns:a16="http://schemas.microsoft.com/office/drawing/2014/main" id="{CB15796C-C4D7-196B-EBF6-CC7A9563FD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1" y="1139"/>
              <a:ext cx="149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 dirty="0"/>
                <a:t>defined in </a:t>
              </a:r>
              <a:r>
                <a:rPr lang="en-US" altLang="nl-BE" sz="2400" dirty="0" err="1">
                  <a:latin typeface="Times New Roman" pitchFamily="18" charset="0"/>
                </a:rPr>
                <a:t>float.h</a:t>
              </a:r>
              <a:endParaRPr lang="en-US" altLang="nl-BE" sz="2400" dirty="0">
                <a:latin typeface="Times New Roman" pitchFamily="18" charset="0"/>
              </a:endParaRPr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507EB124-730A-DEEC-0805-0CAF12C4C2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80" y="1325"/>
              <a:ext cx="1137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8A190918-DF3E-7B8A-EF7B-5FB69C318F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69" y="1325"/>
              <a:ext cx="172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31A8FA-87DE-A0A7-0182-F370E4882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065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Representation of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10243" name="Line 3"/>
          <p:cNvSpPr>
            <a:spLocks noChangeShapeType="1"/>
          </p:cNvSpPr>
          <p:nvPr/>
        </p:nvSpPr>
        <p:spPr bwMode="auto">
          <a:xfrm flipV="1">
            <a:off x="1116013" y="1412875"/>
            <a:ext cx="0" cy="50403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684213" y="1198563"/>
            <a:ext cx="4079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+mn-lt"/>
                <a:cs typeface="+mn-cs"/>
                <a:sym typeface="Euclid Extra" pitchFamily="18" charset="2"/>
              </a:rPr>
              <a:t>R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01613" y="2259013"/>
            <a:ext cx="9444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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9388" y="5300663"/>
            <a:ext cx="96372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592138" y="4316413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0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179388" y="407035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9388" y="4591050"/>
            <a:ext cx="10150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4" name="Line 10"/>
          <p:cNvSpPr>
            <a:spLocks noChangeShapeType="1"/>
          </p:cNvSpPr>
          <p:nvPr/>
        </p:nvSpPr>
        <p:spPr bwMode="auto">
          <a:xfrm>
            <a:off x="998538" y="249237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5" name="Line 11"/>
          <p:cNvSpPr>
            <a:spLocks noChangeShapeType="1"/>
          </p:cNvSpPr>
          <p:nvPr/>
        </p:nvSpPr>
        <p:spPr bwMode="auto">
          <a:xfrm>
            <a:off x="998538" y="43656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6" name="Line 12"/>
          <p:cNvSpPr>
            <a:spLocks noChangeShapeType="1"/>
          </p:cNvSpPr>
          <p:nvPr/>
        </p:nvSpPr>
        <p:spPr bwMode="auto">
          <a:xfrm>
            <a:off x="1009650" y="45815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>
            <a:off x="1016000" y="447516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8" name="Line 14"/>
          <p:cNvSpPr>
            <a:spLocks noChangeShapeType="1"/>
          </p:cNvSpPr>
          <p:nvPr/>
        </p:nvSpPr>
        <p:spPr bwMode="auto">
          <a:xfrm>
            <a:off x="1004888" y="55229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9" name="Text Box 15"/>
          <p:cNvSpPr txBox="1">
            <a:spLocks noChangeArrowheads="1"/>
          </p:cNvSpPr>
          <p:nvPr/>
        </p:nvSpPr>
        <p:spPr bwMode="auto">
          <a:xfrm>
            <a:off x="1627188" y="2225675"/>
            <a:ext cx="1346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DBL_MAX</a:t>
            </a:r>
          </a:p>
        </p:txBody>
      </p:sp>
      <p:sp>
        <p:nvSpPr>
          <p:cNvPr id="52240" name="Text Box 16"/>
          <p:cNvSpPr txBox="1">
            <a:spLocks noChangeArrowheads="1"/>
          </p:cNvSpPr>
          <p:nvPr/>
        </p:nvSpPr>
        <p:spPr bwMode="auto">
          <a:xfrm>
            <a:off x="1571625" y="3789363"/>
            <a:ext cx="1257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DBL_MIN</a:t>
            </a:r>
          </a:p>
        </p:txBody>
      </p:sp>
      <p:sp>
        <p:nvSpPr>
          <p:cNvPr id="52241" name="Text Box 17"/>
          <p:cNvSpPr txBox="1">
            <a:spLocks noChangeArrowheads="1"/>
          </p:cNvSpPr>
          <p:nvPr/>
        </p:nvSpPr>
        <p:spPr bwMode="auto">
          <a:xfrm>
            <a:off x="1547813" y="4718050"/>
            <a:ext cx="127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-DBL_MIN</a:t>
            </a:r>
          </a:p>
        </p:txBody>
      </p:sp>
      <p:sp>
        <p:nvSpPr>
          <p:cNvPr id="52242" name="Text Box 18"/>
          <p:cNvSpPr txBox="1">
            <a:spLocks noChangeArrowheads="1"/>
          </p:cNvSpPr>
          <p:nvPr/>
        </p:nvSpPr>
        <p:spPr bwMode="auto">
          <a:xfrm>
            <a:off x="1671638" y="1531938"/>
            <a:ext cx="536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+</a:t>
            </a:r>
            <a:r>
              <a:rPr lang="en-US" altLang="nl-BE" sz="1800">
                <a:latin typeface="Euclid"/>
                <a:sym typeface="Symbol" pitchFamily="18" charset="2"/>
              </a:rPr>
              <a:t>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43" name="AutoShape 19"/>
          <p:cNvSpPr>
            <a:spLocks/>
          </p:cNvSpPr>
          <p:nvPr/>
        </p:nvSpPr>
        <p:spPr bwMode="auto">
          <a:xfrm>
            <a:off x="1214438" y="42433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4" name="AutoShape 20"/>
          <p:cNvSpPr>
            <a:spLocks/>
          </p:cNvSpPr>
          <p:nvPr/>
        </p:nvSpPr>
        <p:spPr bwMode="auto">
          <a:xfrm>
            <a:off x="1225550" y="44815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5" name="Text Box 21"/>
          <p:cNvSpPr txBox="1">
            <a:spLocks noChangeArrowheads="1"/>
          </p:cNvSpPr>
          <p:nvPr/>
        </p:nvSpPr>
        <p:spPr bwMode="auto">
          <a:xfrm>
            <a:off x="1692275" y="4286250"/>
            <a:ext cx="469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0.0</a:t>
            </a:r>
          </a:p>
        </p:txBody>
      </p:sp>
      <p:sp>
        <p:nvSpPr>
          <p:cNvPr id="52246" name="Line 22"/>
          <p:cNvSpPr>
            <a:spLocks noChangeShapeType="1"/>
          </p:cNvSpPr>
          <p:nvPr/>
        </p:nvSpPr>
        <p:spPr bwMode="auto">
          <a:xfrm flipV="1">
            <a:off x="1331913" y="4076700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7" name="Line 23"/>
          <p:cNvSpPr>
            <a:spLocks noChangeShapeType="1"/>
          </p:cNvSpPr>
          <p:nvPr/>
        </p:nvSpPr>
        <p:spPr bwMode="auto">
          <a:xfrm>
            <a:off x="1187450" y="4475163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8" name="AutoShape 24"/>
          <p:cNvSpPr>
            <a:spLocks/>
          </p:cNvSpPr>
          <p:nvPr/>
        </p:nvSpPr>
        <p:spPr bwMode="auto">
          <a:xfrm>
            <a:off x="1235075" y="23733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9" name="AutoShape 25"/>
          <p:cNvSpPr>
            <a:spLocks/>
          </p:cNvSpPr>
          <p:nvPr/>
        </p:nvSpPr>
        <p:spPr bwMode="auto">
          <a:xfrm>
            <a:off x="1250950" y="13414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0266" name="Rectangle 26"/>
          <p:cNvSpPr>
            <a:spLocks noChangeArrowheads="1"/>
          </p:cNvSpPr>
          <p:nvPr/>
        </p:nvSpPr>
        <p:spPr bwMode="auto">
          <a:xfrm>
            <a:off x="1187450" y="1125538"/>
            <a:ext cx="288925" cy="35877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1" name="Line 27"/>
          <p:cNvSpPr>
            <a:spLocks noChangeShapeType="1"/>
          </p:cNvSpPr>
          <p:nvPr/>
        </p:nvSpPr>
        <p:spPr bwMode="auto">
          <a:xfrm flipV="1">
            <a:off x="1387475" y="2405063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2" name="Line 28"/>
          <p:cNvSpPr>
            <a:spLocks noChangeShapeType="1"/>
          </p:cNvSpPr>
          <p:nvPr/>
        </p:nvSpPr>
        <p:spPr bwMode="auto">
          <a:xfrm flipV="1">
            <a:off x="1403350" y="170021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3" name="Line 29"/>
          <p:cNvSpPr>
            <a:spLocks noChangeShapeType="1"/>
          </p:cNvSpPr>
          <p:nvPr/>
        </p:nvSpPr>
        <p:spPr bwMode="auto">
          <a:xfrm>
            <a:off x="1347788" y="4579938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4" name="AutoShape 30"/>
          <p:cNvSpPr>
            <a:spLocks/>
          </p:cNvSpPr>
          <p:nvPr/>
        </p:nvSpPr>
        <p:spPr bwMode="auto">
          <a:xfrm flipV="1">
            <a:off x="1187450" y="55959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5" name="Rectangle 31"/>
          <p:cNvSpPr>
            <a:spLocks noChangeArrowheads="1"/>
          </p:cNvSpPr>
          <p:nvPr/>
        </p:nvSpPr>
        <p:spPr bwMode="auto">
          <a:xfrm flipV="1">
            <a:off x="1123950" y="6480175"/>
            <a:ext cx="288925" cy="3778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1179513" y="5384800"/>
            <a:ext cx="1757362" cy="427038"/>
            <a:chOff x="3404" y="3206"/>
            <a:chExt cx="1107" cy="269"/>
          </a:xfrm>
        </p:grpSpPr>
        <p:sp>
          <p:nvSpPr>
            <p:cNvPr id="10311" name="Text Box 33"/>
            <p:cNvSpPr txBox="1">
              <a:spLocks noChangeArrowheads="1"/>
            </p:cNvSpPr>
            <p:nvPr/>
          </p:nvSpPr>
          <p:spPr bwMode="auto">
            <a:xfrm>
              <a:off x="3651" y="3244"/>
              <a:ext cx="8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-DBL_MAX</a:t>
              </a:r>
            </a:p>
          </p:txBody>
        </p:sp>
        <p:sp>
          <p:nvSpPr>
            <p:cNvPr id="10312" name="AutoShape 34"/>
            <p:cNvSpPr>
              <a:spLocks/>
            </p:cNvSpPr>
            <p:nvPr/>
          </p:nvSpPr>
          <p:spPr bwMode="auto">
            <a:xfrm>
              <a:off x="3404" y="3206"/>
              <a:ext cx="91" cy="136"/>
            </a:xfrm>
            <a:prstGeom prst="rightBrace">
              <a:avLst>
                <a:gd name="adj1" fmla="val 1245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13" name="Line 35"/>
            <p:cNvSpPr>
              <a:spLocks noChangeShapeType="1"/>
            </p:cNvSpPr>
            <p:nvPr/>
          </p:nvSpPr>
          <p:spPr bwMode="auto">
            <a:xfrm>
              <a:off x="3500" y="3274"/>
              <a:ext cx="182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2260" name="Line 36"/>
          <p:cNvSpPr>
            <a:spLocks noChangeShapeType="1"/>
          </p:cNvSpPr>
          <p:nvPr/>
        </p:nvSpPr>
        <p:spPr bwMode="auto">
          <a:xfrm>
            <a:off x="1343025" y="610076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4" name="Line 37"/>
          <p:cNvSpPr>
            <a:spLocks noChangeShapeType="1"/>
          </p:cNvSpPr>
          <p:nvPr/>
        </p:nvSpPr>
        <p:spPr bwMode="auto">
          <a:xfrm>
            <a:off x="996950" y="3257550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2" name="Text Box 38"/>
          <p:cNvSpPr txBox="1">
            <a:spLocks noChangeArrowheads="1"/>
          </p:cNvSpPr>
          <p:nvPr/>
        </p:nvSpPr>
        <p:spPr bwMode="auto">
          <a:xfrm>
            <a:off x="1625600" y="2990850"/>
            <a:ext cx="212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0.666666666666667</a:t>
            </a:r>
          </a:p>
        </p:txBody>
      </p:sp>
      <p:sp>
        <p:nvSpPr>
          <p:cNvPr id="52263" name="AutoShape 39"/>
          <p:cNvSpPr>
            <a:spLocks/>
          </p:cNvSpPr>
          <p:nvPr/>
        </p:nvSpPr>
        <p:spPr bwMode="auto">
          <a:xfrm>
            <a:off x="1233488" y="31384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4" name="Line 40"/>
          <p:cNvSpPr>
            <a:spLocks noChangeShapeType="1"/>
          </p:cNvSpPr>
          <p:nvPr/>
        </p:nvSpPr>
        <p:spPr bwMode="auto">
          <a:xfrm flipV="1">
            <a:off x="1385888" y="3170238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8" name="Text Box 41"/>
          <p:cNvSpPr txBox="1">
            <a:spLocks noChangeArrowheads="1"/>
          </p:cNvSpPr>
          <p:nvPr/>
        </p:nvSpPr>
        <p:spPr bwMode="auto">
          <a:xfrm>
            <a:off x="508000" y="3087688"/>
            <a:ext cx="52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2/3</a:t>
            </a:r>
          </a:p>
        </p:txBody>
      </p:sp>
      <p:sp>
        <p:nvSpPr>
          <p:cNvPr id="52266" name="AutoShape 42"/>
          <p:cNvSpPr>
            <a:spLocks/>
          </p:cNvSpPr>
          <p:nvPr/>
        </p:nvSpPr>
        <p:spPr bwMode="auto">
          <a:xfrm rot="-5400000">
            <a:off x="2699543" y="2059782"/>
            <a:ext cx="144463" cy="1873250"/>
          </a:xfrm>
          <a:prstGeom prst="rightBrace">
            <a:avLst>
              <a:gd name="adj1" fmla="val 108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2170113" y="2592388"/>
            <a:ext cx="1162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DBL_DIG</a:t>
            </a:r>
          </a:p>
        </p:txBody>
      </p:sp>
      <p:sp>
        <p:nvSpPr>
          <p:cNvPr id="52268" name="Line 44"/>
          <p:cNvSpPr>
            <a:spLocks noChangeShapeType="1"/>
          </p:cNvSpPr>
          <p:nvPr/>
        </p:nvSpPr>
        <p:spPr bwMode="auto">
          <a:xfrm flipH="1" flipV="1">
            <a:off x="1403350" y="3357563"/>
            <a:ext cx="2160588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9" name="Text Box 45"/>
          <p:cNvSpPr txBox="1">
            <a:spLocks noChangeArrowheads="1"/>
          </p:cNvSpPr>
          <p:nvPr/>
        </p:nvSpPr>
        <p:spPr bwMode="auto">
          <a:xfrm>
            <a:off x="3687763" y="3810000"/>
            <a:ext cx="1695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DBL_EPSILON</a:t>
            </a:r>
          </a:p>
        </p:txBody>
      </p:sp>
      <p:sp>
        <p:nvSpPr>
          <p:cNvPr id="52270" name="Text Box 46"/>
          <p:cNvSpPr txBox="1">
            <a:spLocks noChangeArrowheads="1"/>
          </p:cNvSpPr>
          <p:nvPr/>
        </p:nvSpPr>
        <p:spPr bwMode="auto">
          <a:xfrm>
            <a:off x="1668463" y="6157913"/>
            <a:ext cx="4270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</a:t>
            </a:r>
            <a:r>
              <a:rPr lang="en-US" altLang="nl-BE" sz="1800">
                <a:latin typeface="Euclid"/>
                <a:sym typeface="Symbol" pitchFamily="18" charset="2"/>
              </a:rPr>
              <a:t>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5580063" y="1341438"/>
            <a:ext cx="2378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defined in </a:t>
            </a:r>
            <a:r>
              <a:rPr lang="en-US" altLang="nl-BE" sz="2400">
                <a:latin typeface="Times New Roman" pitchFamily="18" charset="0"/>
              </a:rPr>
              <a:t>float.h</a:t>
            </a:r>
          </a:p>
        </p:txBody>
      </p:sp>
      <p:sp>
        <p:nvSpPr>
          <p:cNvPr id="52272" name="Line 48"/>
          <p:cNvSpPr>
            <a:spLocks noChangeShapeType="1"/>
          </p:cNvSpPr>
          <p:nvPr/>
        </p:nvSpPr>
        <p:spPr bwMode="auto">
          <a:xfrm flipH="1">
            <a:off x="3492500" y="1773238"/>
            <a:ext cx="2016125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3" name="Line 49"/>
          <p:cNvSpPr>
            <a:spLocks noChangeShapeType="1"/>
          </p:cNvSpPr>
          <p:nvPr/>
        </p:nvSpPr>
        <p:spPr bwMode="auto">
          <a:xfrm flipH="1">
            <a:off x="4859338" y="1846263"/>
            <a:ext cx="1009650" cy="1870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4" name="Line 50"/>
          <p:cNvSpPr>
            <a:spLocks noChangeShapeType="1"/>
          </p:cNvSpPr>
          <p:nvPr/>
        </p:nvSpPr>
        <p:spPr bwMode="auto">
          <a:xfrm flipH="1">
            <a:off x="3132138" y="1628775"/>
            <a:ext cx="2303462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5" name="Line 51"/>
          <p:cNvSpPr>
            <a:spLocks noChangeShapeType="1"/>
          </p:cNvSpPr>
          <p:nvPr/>
        </p:nvSpPr>
        <p:spPr bwMode="auto">
          <a:xfrm flipH="1">
            <a:off x="3348038" y="1844675"/>
            <a:ext cx="2303462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6" name="Text Box 52"/>
          <p:cNvSpPr txBox="1">
            <a:spLocks noChangeArrowheads="1"/>
          </p:cNvSpPr>
          <p:nvPr/>
        </p:nvSpPr>
        <p:spPr bwMode="auto">
          <a:xfrm>
            <a:off x="4767263" y="4365625"/>
            <a:ext cx="283845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1.0 + DBL_EPSILON != 1.0</a:t>
            </a:r>
          </a:p>
        </p:txBody>
      </p:sp>
      <p:sp>
        <p:nvSpPr>
          <p:cNvPr id="52277" name="Rectangle 53"/>
          <p:cNvSpPr>
            <a:spLocks noChangeArrowheads="1"/>
          </p:cNvSpPr>
          <p:nvPr/>
        </p:nvSpPr>
        <p:spPr bwMode="auto">
          <a:xfrm>
            <a:off x="4138613" y="5949950"/>
            <a:ext cx="4465637" cy="1444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78" name="Line 54"/>
          <p:cNvSpPr>
            <a:spLocks noChangeShapeType="1"/>
          </p:cNvSpPr>
          <p:nvPr/>
        </p:nvSpPr>
        <p:spPr bwMode="auto">
          <a:xfrm>
            <a:off x="428307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9" name="Line 55"/>
          <p:cNvSpPr>
            <a:spLocks noChangeShapeType="1"/>
          </p:cNvSpPr>
          <p:nvPr/>
        </p:nvSpPr>
        <p:spPr bwMode="auto">
          <a:xfrm>
            <a:off x="442753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0" name="Line 56"/>
          <p:cNvSpPr>
            <a:spLocks noChangeShapeType="1"/>
          </p:cNvSpPr>
          <p:nvPr/>
        </p:nvSpPr>
        <p:spPr bwMode="auto">
          <a:xfrm>
            <a:off x="45720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4" name="Line 60"/>
          <p:cNvSpPr>
            <a:spLocks noChangeShapeType="1"/>
          </p:cNvSpPr>
          <p:nvPr/>
        </p:nvSpPr>
        <p:spPr bwMode="auto">
          <a:xfrm>
            <a:off x="8315325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5" name="Line 61"/>
          <p:cNvSpPr>
            <a:spLocks noChangeShapeType="1"/>
          </p:cNvSpPr>
          <p:nvPr/>
        </p:nvSpPr>
        <p:spPr bwMode="auto">
          <a:xfrm>
            <a:off x="84597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6" name="Line 62"/>
          <p:cNvSpPr>
            <a:spLocks noChangeShapeType="1"/>
          </p:cNvSpPr>
          <p:nvPr/>
        </p:nvSpPr>
        <p:spPr bwMode="auto">
          <a:xfrm>
            <a:off x="52197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7" name="Line 63"/>
          <p:cNvSpPr>
            <a:spLocks noChangeShapeType="1"/>
          </p:cNvSpPr>
          <p:nvPr/>
        </p:nvSpPr>
        <p:spPr bwMode="auto">
          <a:xfrm>
            <a:off x="53641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8" name="Line 64"/>
          <p:cNvSpPr>
            <a:spLocks noChangeShapeType="1"/>
          </p:cNvSpPr>
          <p:nvPr/>
        </p:nvSpPr>
        <p:spPr bwMode="auto">
          <a:xfrm>
            <a:off x="550862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9" name="Line 65"/>
          <p:cNvSpPr>
            <a:spLocks noChangeShapeType="1"/>
          </p:cNvSpPr>
          <p:nvPr/>
        </p:nvSpPr>
        <p:spPr bwMode="auto">
          <a:xfrm>
            <a:off x="56530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0" name="Line 66"/>
          <p:cNvSpPr>
            <a:spLocks noChangeShapeType="1"/>
          </p:cNvSpPr>
          <p:nvPr/>
        </p:nvSpPr>
        <p:spPr bwMode="auto">
          <a:xfrm>
            <a:off x="57959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1" name="Text Box 67"/>
          <p:cNvSpPr txBox="1">
            <a:spLocks noChangeArrowheads="1"/>
          </p:cNvSpPr>
          <p:nvPr/>
        </p:nvSpPr>
        <p:spPr bwMode="auto">
          <a:xfrm>
            <a:off x="4694238" y="5765800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2" name="Text Box 68"/>
          <p:cNvSpPr txBox="1">
            <a:spLocks noChangeArrowheads="1"/>
          </p:cNvSpPr>
          <p:nvPr/>
        </p:nvSpPr>
        <p:spPr bwMode="auto">
          <a:xfrm>
            <a:off x="6751638" y="577532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3" name="Text Box 69"/>
          <p:cNvSpPr txBox="1">
            <a:spLocks noChangeArrowheads="1"/>
          </p:cNvSpPr>
          <p:nvPr/>
        </p:nvSpPr>
        <p:spPr bwMode="auto">
          <a:xfrm>
            <a:off x="3471863" y="4941888"/>
            <a:ext cx="603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sign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bit</a:t>
            </a:r>
          </a:p>
        </p:txBody>
      </p:sp>
      <p:sp>
        <p:nvSpPr>
          <p:cNvPr id="52294" name="Text Box 70"/>
          <p:cNvSpPr txBox="1">
            <a:spLocks noChangeArrowheads="1"/>
          </p:cNvSpPr>
          <p:nvPr/>
        </p:nvSpPr>
        <p:spPr bwMode="auto">
          <a:xfrm>
            <a:off x="4284663" y="4941888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exponent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11 bits</a:t>
            </a:r>
          </a:p>
        </p:txBody>
      </p:sp>
      <p:sp>
        <p:nvSpPr>
          <p:cNvPr id="52295" name="Text Box 71"/>
          <p:cNvSpPr txBox="1">
            <a:spLocks noChangeArrowheads="1"/>
          </p:cNvSpPr>
          <p:nvPr/>
        </p:nvSpPr>
        <p:spPr bwMode="auto">
          <a:xfrm>
            <a:off x="6516688" y="4941888"/>
            <a:ext cx="933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fraction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52 bits</a:t>
            </a:r>
          </a:p>
        </p:txBody>
      </p:sp>
      <p:sp>
        <p:nvSpPr>
          <p:cNvPr id="52296" name="Line 72"/>
          <p:cNvSpPr>
            <a:spLocks noChangeShapeType="1"/>
          </p:cNvSpPr>
          <p:nvPr/>
        </p:nvSpPr>
        <p:spPr bwMode="auto">
          <a:xfrm>
            <a:off x="3924300" y="5518150"/>
            <a:ext cx="2159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7" name="AutoShape 73"/>
          <p:cNvSpPr>
            <a:spLocks/>
          </p:cNvSpPr>
          <p:nvPr/>
        </p:nvSpPr>
        <p:spPr bwMode="auto">
          <a:xfrm rot="-5400000">
            <a:off x="4824413" y="5122863"/>
            <a:ext cx="144462" cy="1223962"/>
          </a:xfrm>
          <a:prstGeom prst="rightBrace">
            <a:avLst>
              <a:gd name="adj1" fmla="val 7060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8" name="AutoShape 74"/>
          <p:cNvSpPr>
            <a:spLocks/>
          </p:cNvSpPr>
          <p:nvPr/>
        </p:nvSpPr>
        <p:spPr bwMode="auto">
          <a:xfrm rot="-5400000">
            <a:off x="6984207" y="4187031"/>
            <a:ext cx="144462" cy="3095625"/>
          </a:xfrm>
          <a:prstGeom prst="rightBrace">
            <a:avLst>
              <a:gd name="adj1" fmla="val 17857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9" name="AutoShape 75"/>
          <p:cNvSpPr>
            <a:spLocks/>
          </p:cNvSpPr>
          <p:nvPr/>
        </p:nvSpPr>
        <p:spPr bwMode="auto">
          <a:xfrm rot="5400000" flipV="1">
            <a:off x="6299994" y="4077494"/>
            <a:ext cx="144462" cy="4464050"/>
          </a:xfrm>
          <a:prstGeom prst="rightBrace">
            <a:avLst>
              <a:gd name="adj1" fmla="val 25751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300" name="Text Box 76"/>
          <p:cNvSpPr txBox="1">
            <a:spLocks noChangeArrowheads="1"/>
          </p:cNvSpPr>
          <p:nvPr/>
        </p:nvSpPr>
        <p:spPr bwMode="auto">
          <a:xfrm>
            <a:off x="5580063" y="6400800"/>
            <a:ext cx="1428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</a:t>
            </a:r>
            <a:r>
              <a:rPr lang="en-US" altLang="nl-BE" sz="1800"/>
              <a:t> 64 bit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6631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30" grpId="0"/>
      <p:bldP spid="52232" grpId="0"/>
      <p:bldP spid="52233" grpId="0"/>
      <p:bldP spid="52234" grpId="0" animBg="1"/>
      <p:bldP spid="52235" grpId="0" animBg="1"/>
      <p:bldP spid="52236" grpId="0" animBg="1"/>
      <p:bldP spid="52238" grpId="0" animBg="1"/>
      <p:bldP spid="52239" grpId="0"/>
      <p:bldP spid="52240" grpId="0"/>
      <p:bldP spid="52241" grpId="0"/>
      <p:bldP spid="52242" grpId="0"/>
      <p:bldP spid="52243" grpId="0" animBg="1"/>
      <p:bldP spid="52244" grpId="0" animBg="1"/>
      <p:bldP spid="52245" grpId="0"/>
      <p:bldP spid="52246" grpId="0" animBg="1"/>
      <p:bldP spid="52247" grpId="0" animBg="1"/>
      <p:bldP spid="52248" grpId="0" animBg="1"/>
      <p:bldP spid="52249" grpId="0" animBg="1"/>
      <p:bldP spid="52251" grpId="0" animBg="1"/>
      <p:bldP spid="52252" grpId="0" animBg="1"/>
      <p:bldP spid="52253" grpId="0" animBg="1"/>
      <p:bldP spid="52254" grpId="0" animBg="1"/>
      <p:bldP spid="52255" grpId="0" animBg="1"/>
      <p:bldP spid="52260" grpId="0" animBg="1"/>
      <p:bldP spid="52262" grpId="0"/>
      <p:bldP spid="52263" grpId="0" animBg="1"/>
      <p:bldP spid="52264" grpId="0" animBg="1"/>
      <p:bldP spid="52266" grpId="0" animBg="1"/>
      <p:bldP spid="52267" grpId="0"/>
      <p:bldP spid="52268" grpId="0" animBg="1"/>
      <p:bldP spid="52269" grpId="0"/>
      <p:bldP spid="52270" grpId="0"/>
      <p:bldP spid="52271" grpId="0"/>
      <p:bldP spid="52272" grpId="0" animBg="1"/>
      <p:bldP spid="52273" grpId="0" animBg="1"/>
      <p:bldP spid="52274" grpId="0" animBg="1"/>
      <p:bldP spid="52275" grpId="0" animBg="1"/>
      <p:bldP spid="52276" grpId="0" animBg="1"/>
      <p:bldP spid="52277" grpId="0" animBg="1"/>
      <p:bldP spid="52278" grpId="0" animBg="1"/>
      <p:bldP spid="52279" grpId="0" animBg="1"/>
      <p:bldP spid="52280" grpId="0" animBg="1"/>
      <p:bldP spid="52284" grpId="0" animBg="1"/>
      <p:bldP spid="52285" grpId="0" animBg="1"/>
      <p:bldP spid="52286" grpId="0" animBg="1"/>
      <p:bldP spid="52287" grpId="0" animBg="1"/>
      <p:bldP spid="52288" grpId="0" animBg="1"/>
      <p:bldP spid="52289" grpId="0" animBg="1"/>
      <p:bldP spid="52290" grpId="0" animBg="1"/>
      <p:bldP spid="52291" grpId="0"/>
      <p:bldP spid="52292" grpId="0"/>
      <p:bldP spid="52293" grpId="0"/>
      <p:bldP spid="52294" grpId="0"/>
      <p:bldP spid="52295" grpId="0"/>
      <p:bldP spid="52296" grpId="0" animBg="1"/>
      <p:bldP spid="52297" grpId="0" animBg="1"/>
      <p:bldP spid="52298" grpId="0" animBg="1"/>
      <p:bldP spid="52299" grpId="0" animBg="1"/>
      <p:bldP spid="5230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enum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sz="2800"/>
              <a:t>enumeration (set-like) type</a:t>
            </a:r>
          </a:p>
          <a:p>
            <a:pPr eaLnBrk="1" hangingPunct="1"/>
            <a:r>
              <a:rPr lang="en-US" altLang="nl-BE" sz="2800"/>
              <a:t>symbolic way to refer to constant members</a:t>
            </a:r>
          </a:p>
          <a:p>
            <a:pPr eaLnBrk="1" hangingPunct="1"/>
            <a:r>
              <a:rPr lang="en-US" altLang="nl-BE" sz="2800"/>
              <a:t>values implicitly or explicitly assigned</a:t>
            </a:r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r>
              <a:rPr lang="en-US" altLang="nl-BE" sz="2800"/>
              <a:t>no range checks: </a:t>
            </a:r>
            <a:r>
              <a:rPr lang="en-US" altLang="nl-BE" sz="2800">
                <a:latin typeface="Times New Roman" pitchFamily="18" charset="0"/>
              </a:rPr>
              <a:t>today = 15</a:t>
            </a:r>
            <a:r>
              <a:rPr lang="en-US" altLang="nl-BE" sz="2800"/>
              <a:t> gives </a:t>
            </a:r>
            <a:r>
              <a:rPr lang="en-US" altLang="nl-BE" sz="2800">
                <a:solidFill>
                  <a:srgbClr val="FF0000"/>
                </a:solidFill>
              </a:rPr>
              <a:t>no error</a:t>
            </a:r>
            <a:r>
              <a:rPr lang="en-US" altLang="nl-BE" sz="2800"/>
              <a:t>!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1273175" y="3213100"/>
            <a:ext cx="4757738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{Monday, Tuesday, Wednesday,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               Thursday, Friday};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today = Friday;</a:t>
            </a:r>
          </a:p>
        </p:txBody>
      </p:sp>
      <p:sp>
        <p:nvSpPr>
          <p:cNvPr id="11269" name="Text Box 6"/>
          <p:cNvSpPr txBox="1">
            <a:spLocks noChangeArrowheads="1"/>
          </p:cNvSpPr>
          <p:nvPr/>
        </p:nvSpPr>
        <p:spPr bwMode="auto">
          <a:xfrm>
            <a:off x="6516688" y="3244850"/>
            <a:ext cx="14446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Monday ==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Tuesday ==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Friday == 4</a:t>
            </a:r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273175" y="4581525"/>
            <a:ext cx="74152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Pieces {King = 'K', Queens = 'Q', Rook = 'R', Bishop = 'B', Knight = 'N'}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227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/>
      <p:bldP spid="11268" grpId="0"/>
      <p:bldP spid="11269" grpId="0"/>
      <p:bldP spid="112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compound type, building block</a:t>
            </a:r>
          </a:p>
          <a:p>
            <a:pPr eaLnBrk="1" hangingPunct="1"/>
            <a:r>
              <a:rPr lang="en-US" altLang="nl-BE" dirty="0"/>
              <a:t>size </a:t>
            </a:r>
            <a:r>
              <a:rPr lang="en-US" altLang="nl-BE" dirty="0">
                <a:sym typeface="Symbol" panose="05050102010706020507" pitchFamily="18" charset="2"/>
              </a:rPr>
              <a:t></a:t>
            </a:r>
            <a:r>
              <a:rPr lang="en-US" altLang="nl-BE" dirty="0"/>
              <a:t> sum of sizes of compounds</a:t>
            </a:r>
          </a:p>
          <a:p>
            <a:pPr eaLnBrk="1" hangingPunct="1"/>
            <a:r>
              <a:rPr lang="en-US" altLang="nl-BE" dirty="0"/>
              <a:t>struct has one or more </a:t>
            </a:r>
            <a:r>
              <a:rPr lang="en-US" altLang="nl-BE" i="1" dirty="0"/>
              <a:t>named</a:t>
            </a:r>
            <a:r>
              <a:rPr lang="en-US" altLang="nl-BE" dirty="0"/>
              <a:t> members</a:t>
            </a:r>
          </a:p>
          <a:p>
            <a:pPr eaLnBrk="1" hangingPunct="1"/>
            <a:r>
              <a:rPr lang="en-US" altLang="nl-BE" dirty="0"/>
              <a:t>members can have different types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403350" y="4078288"/>
            <a:ext cx="2668588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Lepton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Flavor flavor;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Charge charge;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particle.mass = 0.511;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particle.flavor = Electron;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particle.charge = Negative;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643438" y="4078288"/>
            <a:ext cx="35909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Flavor {Electron, Muon, Tau};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Charge {Negative = -1,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Neutral =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Positive = +1};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69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  <p:bldP spid="12292" grpId="0"/>
      <p:bldP spid="1229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sizes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 in bytes: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i="1" dirty="0">
                <a:latin typeface="Times New Roman" pitchFamily="18" charset="0"/>
              </a:rPr>
              <a:t>type</a:t>
            </a:r>
            <a:r>
              <a:rPr lang="en-US" altLang="nl-BE" dirty="0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dirty="0"/>
              <a:t>relative sizes:</a:t>
            </a:r>
            <a:br>
              <a:rPr lang="en-US" altLang="nl-BE" dirty="0"/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(char) </a:t>
            </a:r>
            <a:r>
              <a:rPr lang="en-US" altLang="nl-BE" dirty="0">
                <a:latin typeface="Times New Roman" pitchFamily="18" charset="0"/>
                <a:sym typeface="Symbol"/>
              </a:rPr>
              <a:t> 1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2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(short)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               4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(float)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(double)</a:t>
            </a:r>
          </a:p>
          <a:p>
            <a:pPr eaLnBrk="1" hangingPunct="1"/>
            <a:r>
              <a:rPr lang="en-US" altLang="nl-BE" dirty="0"/>
              <a:t>actual sizes implementation dependent!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6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conversion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nl-BE" dirty="0"/>
              <a:t>implicit from smaller to larger,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'A'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char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65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12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12L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long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5.0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double</a:t>
            </a:r>
            <a:r>
              <a:rPr lang="en-US" altLang="nl-BE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in expression: conversion to largest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 + 3.2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12.0 + 3.2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explicit cast from larger to smaller,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12L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5.3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(information loss: truncation!)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010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4A333-B11A-59FF-BC89-C3CC17525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Accidental type conversions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CEF5-2BF7-29C2-FEF0-EAA4F4AFE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the wrong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Double promotion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26A61-4AA6-C215-09B3-FBD9B997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40</a:t>
            </a:fld>
            <a:endParaRPr lang="nl-BE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BC39F41-C5C8-577E-BD1D-42F12E462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4" y="2178730"/>
            <a:ext cx="2082621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math.h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sin(x[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9B685581-0B1A-A4D2-6B7F-66D710BA9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3" y="4543960"/>
            <a:ext cx="2082621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3.0*x[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E91CA-E051-2D63-265B-86301225E6A5}"/>
              </a:ext>
            </a:extLst>
          </p:cNvPr>
          <p:cNvSpPr txBox="1"/>
          <p:nvPr/>
        </p:nvSpPr>
        <p:spPr>
          <a:xfrm>
            <a:off x="4918489" y="3573016"/>
            <a:ext cx="326942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x[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400" dirty="0"/>
              <a:t>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computation in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result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endParaRPr lang="LID4096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9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declarations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type information, e.g., </a:t>
            </a:r>
            <a:r>
              <a:rPr lang="en-US" altLang="nl-BE" dirty="0">
                <a:latin typeface="Times New Roman" pitchFamily="18" charset="0"/>
              </a:rPr>
              <a:t>int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, j;</a:t>
            </a:r>
          </a:p>
          <a:p>
            <a:pPr eaLnBrk="1" hangingPunct="1"/>
            <a:r>
              <a:rPr lang="en-US" altLang="nl-BE" dirty="0"/>
              <a:t>assignment, e.g., </a:t>
            </a:r>
            <a:r>
              <a:rPr lang="en-US" altLang="nl-BE" dirty="0">
                <a:latin typeface="Times New Roman" pitchFamily="18" charset="0"/>
              </a:rPr>
              <a:t>double x = 3.2, y;</a:t>
            </a:r>
          </a:p>
          <a:p>
            <a:pPr lvl="1" eaLnBrk="1" hangingPunct="1"/>
            <a:r>
              <a:rPr lang="en-US" altLang="nl-BE" dirty="0"/>
              <a:t>can be an expression, e.g.,</a:t>
            </a:r>
            <a:r>
              <a:rPr lang="en-US" altLang="nl-BE" dirty="0">
                <a:latin typeface="Times New Roman" pitchFamily="18" charset="0"/>
              </a:rPr>
              <a:t> double x = sqrt(2.0);</a:t>
            </a:r>
          </a:p>
          <a:p>
            <a:pPr eaLnBrk="1" hangingPunct="1"/>
            <a:r>
              <a:rPr lang="en-US" altLang="nl-BE" b="1" dirty="0">
                <a:solidFill>
                  <a:srgbClr val="C00000"/>
                </a:solidFill>
              </a:rPr>
              <a:t>no automatic initialization!!!</a:t>
            </a:r>
          </a:p>
          <a:p>
            <a:pPr eaLnBrk="1" hangingPunct="1"/>
            <a:r>
              <a:rPr lang="en-US" altLang="nl-BE" dirty="0"/>
              <a:t>constants can't be modified, must be assigned upon declaration:</a:t>
            </a:r>
            <a:br>
              <a:rPr lang="en-US" altLang="nl-BE" dirty="0"/>
            </a:br>
            <a:r>
              <a:rPr lang="en-US" altLang="nl-BE" dirty="0"/>
              <a:t>    </a:t>
            </a:r>
            <a:r>
              <a:rPr lang="en-US" altLang="nl-BE" dirty="0">
                <a:latin typeface="Times New Roman" pitchFamily="18" charset="0"/>
              </a:rPr>
              <a:t>const double Pi = 3.14;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405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Operators: overview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  <a:p>
            <a:pPr eaLnBrk="1" hangingPunct="1"/>
            <a:r>
              <a:rPr lang="en-US" altLang="nl-BE"/>
              <a:t>relational operators</a:t>
            </a:r>
          </a:p>
          <a:p>
            <a:pPr eaLnBrk="1" hangingPunct="1"/>
            <a:r>
              <a:rPr lang="en-US" altLang="nl-BE"/>
              <a:t>logical operators</a:t>
            </a:r>
          </a:p>
          <a:p>
            <a:pPr eaLnBrk="1" hangingPunct="1"/>
            <a:r>
              <a:rPr lang="en-US" altLang="nl-BE"/>
              <a:t>bitwise operators</a:t>
            </a:r>
          </a:p>
          <a:p>
            <a:pPr eaLnBrk="1" hangingPunct="1"/>
            <a:r>
              <a:rPr lang="en-US" altLang="nl-BE"/>
              <a:t>assignment operators</a:t>
            </a:r>
          </a:p>
          <a:p>
            <a:pPr eaLnBrk="1" hangingPunct="1"/>
            <a:r>
              <a:rPr lang="en-US" altLang="nl-BE"/>
              <a:t>incremental operators</a:t>
            </a:r>
          </a:p>
          <a:p>
            <a:pPr eaLnBrk="1" hangingPunct="1"/>
            <a:r>
              <a:rPr lang="en-US" altLang="nl-BE"/>
              <a:t>conditional operator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3346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nl-BE" dirty="0"/>
              <a:t>addition, subtraction, multiplication: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*</a:t>
            </a:r>
          </a:p>
          <a:p>
            <a:pPr eaLnBrk="1" hangingPunct="1"/>
            <a:r>
              <a:rPr lang="en-US" altLang="nl-BE" dirty="0"/>
              <a:t>division: </a:t>
            </a:r>
            <a:r>
              <a:rPr lang="en-US" altLang="nl-BE" dirty="0">
                <a:latin typeface="Times New Roman" pitchFamily="18" charset="0"/>
              </a:rPr>
              <a:t>/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2/3 == 0</a:t>
            </a:r>
            <a:r>
              <a:rPr lang="en-US" altLang="nl-BE" dirty="0">
                <a:latin typeface="Times New Roman" pitchFamily="18" charset="0"/>
              </a:rPr>
              <a:t>, 3/2 == 1 </a:t>
            </a:r>
          </a:p>
          <a:p>
            <a:pPr lvl="1" eaLnBrk="1" hangingPunct="1"/>
            <a:r>
              <a:rPr lang="en-US" altLang="nl-BE" dirty="0"/>
              <a:t>reals:</a:t>
            </a:r>
            <a:r>
              <a:rPr lang="en-US" altLang="nl-BE" dirty="0">
                <a:latin typeface="Times New Roman" pitchFamily="18" charset="0"/>
              </a:rPr>
              <a:t> 2.0/3.0</a:t>
            </a:r>
            <a:r>
              <a:rPr lang="en-US" altLang="nl-BE" dirty="0">
                <a:latin typeface="Times New Roman" pitchFamily="18" charset="0"/>
                <a:sym typeface="Symbol" pitchFamily="18" charset="2"/>
              </a:rPr>
              <a:t></a:t>
            </a:r>
            <a:r>
              <a:rPr lang="en-US" altLang="nl-BE" dirty="0">
                <a:latin typeface="Times New Roman" pitchFamily="18" charset="0"/>
              </a:rPr>
              <a:t> 0.6666…</a:t>
            </a:r>
          </a:p>
          <a:p>
            <a:pPr eaLnBrk="1" hangingPunct="1"/>
            <a:r>
              <a:rPr lang="en-US" altLang="nl-BE" dirty="0"/>
              <a:t>modulo: </a:t>
            </a:r>
            <a:r>
              <a:rPr lang="en-US" altLang="nl-BE" dirty="0">
                <a:latin typeface="Times New Roman" pitchFamily="18" charset="0"/>
              </a:rPr>
              <a:t>%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11 % 3 == 2</a:t>
            </a:r>
            <a:r>
              <a:rPr lang="en-US" altLang="nl-BE" dirty="0">
                <a:latin typeface="Times New Roman" pitchFamily="18" charset="0"/>
              </a:rPr>
              <a:t>, 2 % 3 == 2</a:t>
            </a:r>
          </a:p>
          <a:p>
            <a:pPr eaLnBrk="1" hangingPunct="1"/>
            <a:r>
              <a:rPr lang="en-US" altLang="nl-BE" dirty="0"/>
              <a:t>unary sign: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</a:p>
          <a:p>
            <a:pPr eaLnBrk="1" hangingPunct="1"/>
            <a:r>
              <a:rPr lang="en-US" altLang="nl-BE" dirty="0"/>
              <a:t>left to right associative</a:t>
            </a: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24923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43</a:t>
            </a:fld>
            <a:endParaRPr lang="nl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2D6190-E393-19DE-B718-19E5D3A61C1F}"/>
              </a:ext>
            </a:extLst>
          </p:cNvPr>
          <p:cNvSpPr txBox="1"/>
          <p:nvPr/>
        </p:nvSpPr>
        <p:spPr>
          <a:xfrm>
            <a:off x="3347864" y="6113587"/>
            <a:ext cx="40452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nl-BE" sz="2400" dirty="0"/>
              <a:t>depends on optimization level!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543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Relational &amp; logical operators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relational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equality: </a:t>
            </a:r>
            <a:r>
              <a:rPr lang="en-US" altLang="nl-BE">
                <a:latin typeface="Times New Roman" pitchFamily="18" charset="0"/>
                <a:cs typeface="Times New Roman" pitchFamily="18" charset="0"/>
              </a:rPr>
              <a:t>==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!=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all scalar types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makes no sense for</a:t>
            </a:r>
            <a:r>
              <a:rPr lang="en-US" altLang="nl-BE">
                <a:latin typeface="Times New Roman" pitchFamily="18" charset="0"/>
              </a:rPr>
              <a:t> double</a:t>
            </a:r>
            <a:r>
              <a:rPr lang="en-US" altLang="nl-BE"/>
              <a:t>!!! (why?)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order: </a:t>
            </a:r>
            <a:r>
              <a:rPr lang="en-US" altLang="nl-BE">
                <a:latin typeface="Times New Roman" pitchFamily="18" charset="0"/>
              </a:rPr>
              <a:t>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&gt;=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and, or:</a:t>
            </a:r>
            <a:r>
              <a:rPr lang="en-US" altLang="nl-BE">
                <a:latin typeface="Times New Roman" pitchFamily="18" charset="0"/>
              </a:rPr>
              <a:t> &amp;&amp;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||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unary negation:</a:t>
            </a:r>
            <a:r>
              <a:rPr lang="en-US" altLang="nl-BE">
                <a:latin typeface="Times New Roman" pitchFamily="18" charset="0"/>
              </a:rPr>
              <a:t> 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zero is false, non-zero is true</a:t>
            </a:r>
          </a:p>
          <a:p>
            <a:pPr eaLnBrk="1" hangingPunct="1">
              <a:lnSpc>
                <a:spcPct val="90000"/>
              </a:lnSpc>
            </a:pPr>
            <a:endParaRPr lang="en-US" altLang="nl-BE">
              <a:latin typeface="Times New Roman" pitchFamily="18" charset="0"/>
            </a:endParaRP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7082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46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or, and, xor:</a:t>
            </a:r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shift left, right:</a:t>
            </a:r>
          </a:p>
          <a:p>
            <a:pPr eaLnBrk="1" hangingPunct="1"/>
            <a:endParaRPr lang="en-US" altLang="nl-BE"/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negation: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5891213" y="1700213"/>
            <a:ext cx="133350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&amp;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010…001</a:t>
            </a:r>
          </a:p>
        </p:txBody>
      </p:sp>
      <p:sp>
        <p:nvSpPr>
          <p:cNvPr id="19461" name="Text Box 6"/>
          <p:cNvSpPr txBox="1">
            <a:spLocks noChangeArrowheads="1"/>
          </p:cNvSpPr>
          <p:nvPr/>
        </p:nvSpPr>
        <p:spPr bwMode="auto">
          <a:xfrm>
            <a:off x="7343775" y="1700213"/>
            <a:ext cx="1263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^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101…010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operators</a:t>
            </a:r>
          </a:p>
        </p:txBody>
      </p:sp>
      <p:grpSp>
        <p:nvGrpSpPr>
          <p:cNvPr id="2" name="Group 1"/>
          <p:cNvGrpSpPr>
            <a:grpSpLocks/>
          </p:cNvGrpSpPr>
          <p:nvPr/>
        </p:nvGrpSpPr>
        <p:grpSpPr bwMode="auto">
          <a:xfrm>
            <a:off x="4500563" y="1700213"/>
            <a:ext cx="4103687" cy="915987"/>
            <a:chOff x="4500563" y="1700213"/>
            <a:chExt cx="4103687" cy="915987"/>
          </a:xfrm>
        </p:grpSpPr>
        <p:sp>
          <p:nvSpPr>
            <p:cNvPr id="19471" name="Text Box 4"/>
            <p:cNvSpPr txBox="1">
              <a:spLocks noChangeArrowheads="1"/>
            </p:cNvSpPr>
            <p:nvPr/>
          </p:nvSpPr>
          <p:spPr bwMode="auto">
            <a:xfrm>
              <a:off x="4572000" y="1700213"/>
              <a:ext cx="1201738" cy="915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110…011 |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111…011</a:t>
              </a:r>
            </a:p>
          </p:txBody>
        </p:sp>
        <p:sp>
          <p:nvSpPr>
            <p:cNvPr id="19472" name="Line 8"/>
            <p:cNvSpPr>
              <a:spLocks noChangeShapeType="1"/>
            </p:cNvSpPr>
            <p:nvPr/>
          </p:nvSpPr>
          <p:spPr bwMode="auto">
            <a:xfrm>
              <a:off x="4500563" y="2308225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5" name="Text Box 10"/>
          <p:cNvSpPr txBox="1">
            <a:spLocks noChangeArrowheads="1"/>
          </p:cNvSpPr>
          <p:nvPr/>
        </p:nvSpPr>
        <p:spPr bwMode="auto">
          <a:xfrm>
            <a:off x="6575425" y="2852738"/>
            <a:ext cx="18129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01110…001 &gt;&gt;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xx01110…0</a:t>
            </a: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4500563" y="2852738"/>
            <a:ext cx="4103687" cy="641350"/>
            <a:chOff x="4500563" y="2852738"/>
            <a:chExt cx="4103687" cy="641350"/>
          </a:xfrm>
        </p:grpSpPr>
        <p:sp>
          <p:nvSpPr>
            <p:cNvPr id="19469" name="Text Box 9"/>
            <p:cNvSpPr txBox="1">
              <a:spLocks noChangeArrowheads="1"/>
            </p:cNvSpPr>
            <p:nvPr/>
          </p:nvSpPr>
          <p:spPr bwMode="auto">
            <a:xfrm>
              <a:off x="4572000" y="2852738"/>
              <a:ext cx="18129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01110…001 &lt;&lt;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110…00100</a:t>
              </a:r>
            </a:p>
          </p:txBody>
        </p:sp>
        <p:sp>
          <p:nvSpPr>
            <p:cNvPr id="19470" name="Line 11"/>
            <p:cNvSpPr>
              <a:spLocks noChangeShapeType="1"/>
            </p:cNvSpPr>
            <p:nvPr/>
          </p:nvSpPr>
          <p:spPr bwMode="auto">
            <a:xfrm>
              <a:off x="4500563" y="3181350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7" name="Text Box 12"/>
          <p:cNvSpPr txBox="1">
            <a:spLocks noChangeArrowheads="1"/>
          </p:cNvSpPr>
          <p:nvPr/>
        </p:nvSpPr>
        <p:spPr bwMode="auto">
          <a:xfrm>
            <a:off x="6659563" y="3429000"/>
            <a:ext cx="23685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 == 0</a:t>
            </a:r>
            <a:r>
              <a:rPr lang="en-US" altLang="nl-BE" sz="1800"/>
              <a:t> if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</a:t>
            </a:r>
            <a:r>
              <a:rPr lang="en-US" altLang="nl-BE" sz="1800"/>
              <a:t> machine dependent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otherwise</a:t>
            </a:r>
          </a:p>
        </p:txBody>
      </p:sp>
      <p:grpSp>
        <p:nvGrpSpPr>
          <p:cNvPr id="4" name="Group 3"/>
          <p:cNvGrpSpPr>
            <a:grpSpLocks/>
          </p:cNvGrpSpPr>
          <p:nvPr/>
        </p:nvGrpSpPr>
        <p:grpSpPr bwMode="auto">
          <a:xfrm>
            <a:off x="4427538" y="4600575"/>
            <a:ext cx="1512887" cy="641350"/>
            <a:chOff x="4427538" y="4600575"/>
            <a:chExt cx="1512887" cy="641350"/>
          </a:xfrm>
        </p:grpSpPr>
        <p:sp>
          <p:nvSpPr>
            <p:cNvPr id="6" name="Text Box 13"/>
            <p:cNvSpPr txBox="1">
              <a:spLocks noChangeArrowheads="1"/>
            </p:cNvSpPr>
            <p:nvPr/>
          </p:nvSpPr>
          <p:spPr bwMode="auto">
            <a:xfrm>
              <a:off x="4572000" y="4600575"/>
              <a:ext cx="12795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 ~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100…110</a:t>
              </a:r>
            </a:p>
          </p:txBody>
        </p:sp>
        <p:sp>
          <p:nvSpPr>
            <p:cNvPr id="19468" name="Line 14"/>
            <p:cNvSpPr>
              <a:spLocks noChangeShapeType="1"/>
            </p:cNvSpPr>
            <p:nvPr/>
          </p:nvSpPr>
          <p:spPr bwMode="auto">
            <a:xfrm>
              <a:off x="4427538" y="4941888"/>
              <a:ext cx="15128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808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 build="p"/>
      <p:bldP spid="19460" grpId="0"/>
      <p:bldP spid="19461" grpId="0"/>
      <p:bldP spid="19465" grpId="0"/>
      <p:bldP spid="1946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Assignment operators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simple assignment: =</a:t>
            </a:r>
          </a:p>
          <a:p>
            <a:pPr eaLnBrk="1" hangingPunct="1"/>
            <a:r>
              <a:rPr lang="en-US" altLang="nl-BE"/>
              <a:t>shorthands : </a:t>
            </a:r>
            <a:r>
              <a:rPr lang="en-US" altLang="nl-BE">
                <a:latin typeface="Times New Roman" pitchFamily="18" charset="0"/>
              </a:rPr>
              <a:t>+=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-=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*=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/=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%=</a:t>
            </a:r>
            <a:r>
              <a:rPr lang="en-US" altLang="nl-BE"/>
              <a:t>,</a:t>
            </a:r>
            <a:br>
              <a:rPr lang="en-US" altLang="nl-BE"/>
            </a:br>
            <a:r>
              <a:rPr lang="en-US" altLang="nl-BE"/>
              <a:t>                      </a:t>
            </a:r>
            <a:r>
              <a:rPr lang="en-US" altLang="nl-BE">
                <a:latin typeface="Times New Roman" pitchFamily="18" charset="0"/>
              </a:rPr>
              <a:t>|=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&amp;=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^=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&gt;&gt;=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i = i + 2;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i += 2;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x = x * 3.14;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x *= 3.14;</a:t>
            </a:r>
          </a:p>
          <a:p>
            <a:pPr lvl="1" eaLnBrk="1" hangingPunct="1"/>
            <a:endParaRPr lang="en-US" altLang="nl-BE">
              <a:latin typeface="Times New Roman" pitchFamily="18" charset="0"/>
            </a:endParaRP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1043236" y="4091357"/>
            <a:ext cx="7057527" cy="1169689"/>
            <a:chOff x="1259632" y="4377102"/>
            <a:chExt cx="7056120" cy="1169747"/>
          </a:xfrm>
        </p:grpSpPr>
        <p:sp>
          <p:nvSpPr>
            <p:cNvPr id="20485" name="TextBox 1"/>
            <p:cNvSpPr txBox="1">
              <a:spLocks noChangeArrowheads="1"/>
            </p:cNvSpPr>
            <p:nvPr/>
          </p:nvSpPr>
          <p:spPr bwMode="auto">
            <a:xfrm>
              <a:off x="1259632" y="5085184"/>
              <a:ext cx="6583854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Note: assignment is expression, not statement!</a:t>
              </a:r>
              <a:endParaRPr lang="nl-BE" altLang="nl-BE" sz="2400"/>
            </a:p>
          </p:txBody>
        </p:sp>
        <p:pic>
          <p:nvPicPr>
            <p:cNvPr id="20486" name="Picture 4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84697" y="4377102"/>
              <a:ext cx="731055" cy="75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7272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sz="4000"/>
              <a:t>Increment/decrement operators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increment:</a:t>
            </a:r>
            <a:r>
              <a:rPr lang="en-US" altLang="nl-BE">
                <a:latin typeface="Times New Roman" pitchFamily="18" charset="0"/>
              </a:rPr>
              <a:t> i = i + 1;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+=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i++;</a:t>
            </a:r>
          </a:p>
          <a:p>
            <a:pPr eaLnBrk="1" hangingPunct="1"/>
            <a:r>
              <a:rPr lang="en-US" altLang="nl-BE"/>
              <a:t>decrement:</a:t>
            </a:r>
            <a:r>
              <a:rPr lang="en-US" altLang="nl-BE">
                <a:latin typeface="Times New Roman" pitchFamily="18" charset="0"/>
              </a:rPr>
              <a:t> i = i - 1;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-=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i--;</a:t>
            </a:r>
          </a:p>
          <a:p>
            <a:pPr eaLnBrk="1" hangingPunct="1"/>
            <a:r>
              <a:rPr lang="en-US" altLang="nl-BE"/>
              <a:t>post versus pre-increment: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  i++</a:t>
            </a:r>
            <a:r>
              <a:rPr lang="en-US" altLang="nl-BE"/>
              <a:t> versus </a:t>
            </a:r>
            <a:r>
              <a:rPr lang="en-US" altLang="nl-BE">
                <a:latin typeface="Times New Roman" pitchFamily="18" charset="0"/>
              </a:rPr>
              <a:t>++i</a:t>
            </a:r>
            <a:r>
              <a:rPr lang="en-US" altLang="nl-BE"/>
              <a:t>, e.g.,</a:t>
            </a:r>
          </a:p>
        </p:txBody>
      </p: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1887538" y="3927475"/>
            <a:ext cx="1181100" cy="1230313"/>
            <a:chOff x="1189" y="2474"/>
            <a:chExt cx="744" cy="775"/>
          </a:xfrm>
        </p:grpSpPr>
        <p:sp>
          <p:nvSpPr>
            <p:cNvPr id="21513" name="Text Box 4"/>
            <p:cNvSpPr txBox="1">
              <a:spLocks noChangeArrowheads="1"/>
            </p:cNvSpPr>
            <p:nvPr/>
          </p:nvSpPr>
          <p:spPr bwMode="auto">
            <a:xfrm>
              <a:off x="1189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i</a:t>
              </a:r>
              <a:r>
                <a:rPr lang="en-US" altLang="nl-BE" sz="1800">
                  <a:solidFill>
                    <a:srgbClr val="FF3300"/>
                  </a:solidFill>
                </a:rPr>
                <a:t>++</a:t>
              </a:r>
              <a:r>
                <a:rPr lang="en-US" altLang="nl-BE" sz="1800"/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j == 0</a:t>
              </a:r>
            </a:p>
          </p:txBody>
        </p:sp>
        <p:sp>
          <p:nvSpPr>
            <p:cNvPr id="21514" name="Oval 6"/>
            <p:cNvSpPr>
              <a:spLocks noChangeArrowheads="1"/>
            </p:cNvSpPr>
            <p:nvPr/>
          </p:nvSpPr>
          <p:spPr bwMode="auto">
            <a:xfrm>
              <a:off x="129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22700" y="3927475"/>
            <a:ext cx="1181100" cy="1230313"/>
            <a:chOff x="2408" y="2474"/>
            <a:chExt cx="744" cy="775"/>
          </a:xfrm>
        </p:grpSpPr>
        <p:sp>
          <p:nvSpPr>
            <p:cNvPr id="21511" name="Text Box 5"/>
            <p:cNvSpPr txBox="1">
              <a:spLocks noChangeArrowheads="1"/>
            </p:cNvSpPr>
            <p:nvPr/>
          </p:nvSpPr>
          <p:spPr bwMode="auto">
            <a:xfrm>
              <a:off x="2408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</a:t>
              </a:r>
              <a:r>
                <a:rPr lang="en-US" altLang="nl-BE" sz="1800">
                  <a:solidFill>
                    <a:srgbClr val="3366FF"/>
                  </a:solidFill>
                </a:rPr>
                <a:t>++</a:t>
              </a:r>
              <a:r>
                <a:rPr lang="en-US" altLang="nl-BE" sz="1800"/>
                <a:t>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j == 1</a:t>
              </a:r>
            </a:p>
          </p:txBody>
        </p:sp>
        <p:sp>
          <p:nvSpPr>
            <p:cNvPr id="21512" name="Oval 7"/>
            <p:cNvSpPr>
              <a:spLocks noChangeArrowheads="1"/>
            </p:cNvSpPr>
            <p:nvPr/>
          </p:nvSpPr>
          <p:spPr bwMode="auto">
            <a:xfrm>
              <a:off x="256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pic>
        <p:nvPicPr>
          <p:cNvPr id="10" name="Picture 9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25" y="4797425"/>
            <a:ext cx="73025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18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Conditonal operator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ternary operator:  </a:t>
            </a:r>
            <a:r>
              <a:rPr lang="en-US" altLang="nl-BE" i="1">
                <a:latin typeface="Times New Roman" pitchFamily="18" charset="0"/>
              </a:rPr>
              <a:t>condition</a:t>
            </a:r>
            <a:r>
              <a:rPr lang="en-US" altLang="nl-BE">
                <a:latin typeface="Times New Roman" pitchFamily="18" charset="0"/>
              </a:rPr>
              <a:t> ?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 :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false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5030985" y="2708275"/>
            <a:ext cx="3573463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</a:t>
            </a:r>
            <a:r>
              <a:rPr lang="en-US" altLang="nl-BE" sz="1800" dirty="0" err="1">
                <a:latin typeface="Times New Roman" pitchFamily="18" charset="0"/>
              </a:rPr>
              <a:t>d%s</a:t>
            </a:r>
            <a:r>
              <a:rPr lang="en-US" altLang="nl-BE" sz="1800" dirty="0">
                <a:latin typeface="Times New Roman" pitchFamily="18" charset="0"/>
              </a:rPr>
              <a:t>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?</a:t>
            </a:r>
            <a:r>
              <a:rPr lang="en-US" altLang="nl-BE" sz="1800" dirty="0">
                <a:latin typeface="Times New Roman" pitchFamily="18" charset="0"/>
              </a:rPr>
              <a:t> ", "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:</a:t>
            </a:r>
            <a:r>
              <a:rPr lang="en-US" altLang="nl-BE" sz="1800" dirty="0">
                <a:latin typeface="Times New Roman" pitchFamily="18" charset="0"/>
              </a:rPr>
              <a:t> 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782513" y="2708275"/>
            <a:ext cx="3573463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("%d",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if</a:t>
            </a:r>
            <a:r>
              <a:rPr lang="en-US" altLang="nl-BE" sz="1800" dirty="0">
                <a:latin typeface="Times New Roman" pitchFamily="18" charset="0"/>
              </a:rPr>
              <a:t>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(",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else</a:t>
            </a:r>
            <a:r>
              <a:rPr lang="en-US" altLang="nl-BE" sz="1800" dirty="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4" name="Line 6"/>
          <p:cNvSpPr>
            <a:spLocks noChangeShapeType="1"/>
          </p:cNvSpPr>
          <p:nvPr/>
        </p:nvSpPr>
        <p:spPr bwMode="auto">
          <a:xfrm>
            <a:off x="3924300" y="3789363"/>
            <a:ext cx="8636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57225" y="5742012"/>
            <a:ext cx="7875588" cy="49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if (…) … else …</a:t>
            </a:r>
            <a:r>
              <a:rPr lang="en-US" altLang="nl-BE" sz="2400"/>
              <a:t> statement versus </a:t>
            </a:r>
            <a:r>
              <a:rPr lang="en-US" altLang="nl-BE" sz="2400">
                <a:latin typeface="Times New Roman" pitchFamily="18" charset="0"/>
              </a:rPr>
              <a:t>… ? … : …</a:t>
            </a:r>
            <a:r>
              <a:rPr lang="en-US" altLang="nl-BE" sz="2400"/>
              <a:t> expression!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64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 precedence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 can be found in K&amp;R</a:t>
            </a:r>
          </a:p>
          <a:p>
            <a:pPr eaLnBrk="1" hangingPunct="1"/>
            <a:r>
              <a:rPr lang="en-US" altLang="nl-BE"/>
              <a:t>however, use bracket to</a:t>
            </a:r>
          </a:p>
          <a:p>
            <a:pPr lvl="1" eaLnBrk="1" hangingPunct="1"/>
            <a:r>
              <a:rPr lang="en-US" altLang="nl-BE"/>
              <a:t>clarify code</a:t>
            </a:r>
          </a:p>
          <a:p>
            <a:pPr lvl="1" eaLnBrk="1" hangingPunct="1"/>
            <a:r>
              <a:rPr lang="en-US" altLang="nl-BE"/>
              <a:t>avoid confusion!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27550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 flow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 dirty="0"/>
              <a:t>K&amp;R, Chapter 3, Control flow</a:t>
            </a:r>
            <a:endParaRPr lang="nl-BE" alt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12566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Blocks &amp; scope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3336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use '</a:t>
            </a:r>
            <a:r>
              <a:rPr lang="en-US" altLang="nl-BE" sz="2400" dirty="0">
                <a:latin typeface="Times New Roman" pitchFamily="18" charset="0"/>
              </a:rPr>
              <a:t>;</a:t>
            </a:r>
            <a:r>
              <a:rPr lang="en-US" altLang="nl-BE" sz="2400" dirty="0"/>
              <a:t>' to </a:t>
            </a:r>
            <a:r>
              <a:rPr lang="en-US" altLang="nl-BE" sz="2400" i="1" dirty="0"/>
              <a:t>end</a:t>
            </a:r>
            <a:r>
              <a:rPr lang="en-US" altLang="nl-BE" sz="2400" dirty="0"/>
              <a:t> statements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multiple statements grouped in block</a:t>
            </a:r>
            <a:br>
              <a:rPr lang="en-US" altLang="nl-BE" sz="2400" dirty="0"/>
            </a:br>
            <a:r>
              <a:rPr lang="en-US" altLang="nl-BE" sz="2400" dirty="0"/>
              <a:t>by '</a:t>
            </a:r>
            <a:r>
              <a:rPr lang="en-US" altLang="nl-BE" sz="2400" dirty="0">
                <a:latin typeface="Times New Roman" pitchFamily="18" charset="0"/>
              </a:rPr>
              <a:t>{</a:t>
            </a:r>
            <a:r>
              <a:rPr lang="en-US" altLang="nl-BE" sz="2400" dirty="0"/>
              <a:t>', '</a:t>
            </a:r>
            <a:r>
              <a:rPr lang="en-US" altLang="nl-BE" sz="2400" dirty="0">
                <a:latin typeface="Times New Roman" pitchFamily="18" charset="0"/>
              </a:rPr>
              <a:t>}</a:t>
            </a:r>
            <a:r>
              <a:rPr lang="en-US" altLang="nl-BE" sz="2400" dirty="0"/>
              <a:t>'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blocks can be nested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 scope: variables can be declared/defined in each block at any level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nl-BE" sz="2400" dirty="0"/>
          </a:p>
        </p:txBody>
      </p:sp>
      <p:sp>
        <p:nvSpPr>
          <p:cNvPr id="4106" name="Text Box 4"/>
          <p:cNvSpPr txBox="1">
            <a:spLocks noChangeArrowheads="1"/>
          </p:cNvSpPr>
          <p:nvPr/>
        </p:nvSpPr>
        <p:spPr bwMode="auto">
          <a:xfrm>
            <a:off x="6116638" y="4152900"/>
            <a:ext cx="11953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5;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945063" y="4294188"/>
            <a:ext cx="3984625" cy="2159000"/>
            <a:chOff x="4945063" y="4294188"/>
            <a:chExt cx="3984625" cy="2159000"/>
          </a:xfrm>
        </p:grpSpPr>
        <p:grpSp>
          <p:nvGrpSpPr>
            <p:cNvPr id="4107" name="Group 7"/>
            <p:cNvGrpSpPr>
              <a:grpSpLocks/>
            </p:cNvGrpSpPr>
            <p:nvPr/>
          </p:nvGrpSpPr>
          <p:grpSpPr bwMode="auto">
            <a:xfrm>
              <a:off x="4945063" y="4294188"/>
              <a:ext cx="955675" cy="503237"/>
              <a:chOff x="1507" y="2705"/>
              <a:chExt cx="602" cy="317"/>
            </a:xfrm>
          </p:grpSpPr>
          <p:sp>
            <p:nvSpPr>
              <p:cNvPr id="4114" name="AutoShape 5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5" name="Text Box 6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8" name="Group 8"/>
            <p:cNvGrpSpPr>
              <a:grpSpLocks/>
            </p:cNvGrpSpPr>
            <p:nvPr/>
          </p:nvGrpSpPr>
          <p:grpSpPr bwMode="auto">
            <a:xfrm>
              <a:off x="4945063" y="5949950"/>
              <a:ext cx="955675" cy="503238"/>
              <a:chOff x="1507" y="2705"/>
              <a:chExt cx="602" cy="317"/>
            </a:xfrm>
          </p:grpSpPr>
          <p:sp>
            <p:nvSpPr>
              <p:cNvPr id="4112" name="AutoShape 9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3" name="Text Box 10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9" name="Group 13"/>
            <p:cNvGrpSpPr>
              <a:grpSpLocks/>
            </p:cNvGrpSpPr>
            <p:nvPr/>
          </p:nvGrpSpPr>
          <p:grpSpPr bwMode="auto">
            <a:xfrm>
              <a:off x="7916863" y="5013325"/>
              <a:ext cx="1012825" cy="576263"/>
              <a:chOff x="3379" y="3158"/>
              <a:chExt cx="638" cy="363"/>
            </a:xfrm>
          </p:grpSpPr>
          <p:sp>
            <p:nvSpPr>
              <p:cNvPr id="4110" name="AutoShape 11"/>
              <p:cNvSpPr>
                <a:spLocks/>
              </p:cNvSpPr>
              <p:nvPr/>
            </p:nvSpPr>
            <p:spPr bwMode="auto">
              <a:xfrm>
                <a:off x="3379" y="3158"/>
                <a:ext cx="91" cy="363"/>
              </a:xfrm>
              <a:prstGeom prst="rightBrace">
                <a:avLst>
                  <a:gd name="adj1" fmla="val 33242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1" name="Text Box 12"/>
              <p:cNvSpPr txBox="1">
                <a:spLocks noChangeArrowheads="1"/>
              </p:cNvSpPr>
              <p:nvPr/>
            </p:nvSpPr>
            <p:spPr bwMode="auto">
              <a:xfrm>
                <a:off x="3555" y="3219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5</a:t>
                </a:r>
              </a:p>
            </p:txBody>
          </p:sp>
        </p:grpSp>
      </p:grpSp>
      <p:sp>
        <p:nvSpPr>
          <p:cNvPr id="4102" name="Text Box 4"/>
          <p:cNvSpPr txBox="1">
            <a:spLocks noChangeArrowheads="1"/>
          </p:cNvSpPr>
          <p:nvPr/>
        </p:nvSpPr>
        <p:spPr bwMode="auto">
          <a:xfrm>
            <a:off x="1814513" y="4143375"/>
            <a:ext cx="9747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4103" name="Group 7"/>
          <p:cNvGrpSpPr>
            <a:grpSpLocks/>
          </p:cNvGrpSpPr>
          <p:nvPr/>
        </p:nvGrpSpPr>
        <p:grpSpPr bwMode="auto">
          <a:xfrm>
            <a:off x="642938" y="4284663"/>
            <a:ext cx="1000125" cy="1573212"/>
            <a:chOff x="1507" y="2705"/>
            <a:chExt cx="630" cy="991"/>
          </a:xfrm>
        </p:grpSpPr>
        <p:sp>
          <p:nvSpPr>
            <p:cNvPr id="4104" name="AutoShape 5"/>
            <p:cNvSpPr>
              <a:spLocks/>
            </p:cNvSpPr>
            <p:nvPr/>
          </p:nvSpPr>
          <p:spPr bwMode="auto">
            <a:xfrm>
              <a:off x="2018" y="2705"/>
              <a:ext cx="119" cy="991"/>
            </a:xfrm>
            <a:prstGeom prst="leftBrace">
              <a:avLst>
                <a:gd name="adj1" fmla="val 290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endParaRPr lang="nl-BE" altLang="nl-BE"/>
            </a:p>
          </p:txBody>
        </p:sp>
        <p:sp>
          <p:nvSpPr>
            <p:cNvPr id="4105" name="Text Box 6"/>
            <p:cNvSpPr txBox="1">
              <a:spLocks noChangeArrowheads="1"/>
            </p:cNvSpPr>
            <p:nvPr/>
          </p:nvSpPr>
          <p:spPr bwMode="auto">
            <a:xfrm>
              <a:off x="1507" y="3150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 == 3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29438" y="4177795"/>
            <a:ext cx="1979612" cy="2176298"/>
            <a:chOff x="6929438" y="4177795"/>
            <a:chExt cx="1979612" cy="2176298"/>
          </a:xfrm>
        </p:grpSpPr>
        <p:sp>
          <p:nvSpPr>
            <p:cNvPr id="9230" name="Text Box 14"/>
            <p:cNvSpPr txBox="1">
              <a:spLocks noChangeArrowheads="1"/>
            </p:cNvSpPr>
            <p:nvPr/>
          </p:nvSpPr>
          <p:spPr bwMode="auto">
            <a:xfrm>
              <a:off x="6929438" y="5949280"/>
              <a:ext cx="1979612" cy="4048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don't tempt fate!!!</a:t>
              </a:r>
            </a:p>
          </p:txBody>
        </p:sp>
        <p:pic>
          <p:nvPicPr>
            <p:cNvPr id="21" name="Picture 20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1326" y="4177795"/>
              <a:ext cx="731838" cy="750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57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  <p:bldP spid="4106" grpId="0"/>
      <p:bldP spid="410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2124075" y="1577975"/>
            <a:ext cx="1676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false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879475" y="3525838"/>
            <a:ext cx="4340225" cy="1477962"/>
            <a:chOff x="879475" y="3525838"/>
            <a:chExt cx="4340225" cy="1477962"/>
          </a:xfrm>
        </p:grpSpPr>
        <p:sp>
          <p:nvSpPr>
            <p:cNvPr id="5146" name="Text Box 5"/>
            <p:cNvSpPr txBox="1">
              <a:spLocks noChangeArrowheads="1"/>
            </p:cNvSpPr>
            <p:nvPr/>
          </p:nvSpPr>
          <p:spPr bwMode="auto">
            <a:xfrm>
              <a:off x="879475" y="35258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k = i;</a:t>
              </a:r>
            </a:p>
          </p:txBody>
        </p:sp>
        <p:sp>
          <p:nvSpPr>
            <p:cNvPr id="5147" name="Text Box 6"/>
            <p:cNvSpPr txBox="1">
              <a:spLocks noChangeArrowheads="1"/>
            </p:cNvSpPr>
            <p:nvPr/>
          </p:nvSpPr>
          <p:spPr bwMode="auto">
            <a:xfrm>
              <a:off x="3543300" y="35385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</p:txBody>
        </p:sp>
        <p:sp>
          <p:nvSpPr>
            <p:cNvPr id="5148" name="Text Box 7"/>
            <p:cNvSpPr txBox="1">
              <a:spLocks noChangeArrowheads="1"/>
            </p:cNvSpPr>
            <p:nvPr/>
          </p:nvSpPr>
          <p:spPr bwMode="auto">
            <a:xfrm>
              <a:off x="2671763" y="4160838"/>
              <a:ext cx="387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or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39750" y="3492500"/>
            <a:ext cx="2087563" cy="1655763"/>
            <a:chOff x="340" y="2024"/>
            <a:chExt cx="1315" cy="1043"/>
          </a:xfrm>
        </p:grpSpPr>
        <p:sp>
          <p:nvSpPr>
            <p:cNvPr id="5144" name="Line 8"/>
            <p:cNvSpPr>
              <a:spLocks noChangeShapeType="1"/>
            </p:cNvSpPr>
            <p:nvPr/>
          </p:nvSpPr>
          <p:spPr bwMode="auto">
            <a:xfrm>
              <a:off x="385" y="2024"/>
              <a:ext cx="1089" cy="104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5145" name="Line 9"/>
            <p:cNvSpPr>
              <a:spLocks noChangeShapeType="1"/>
            </p:cNvSpPr>
            <p:nvPr/>
          </p:nvSpPr>
          <p:spPr bwMode="auto">
            <a:xfrm flipV="1">
              <a:off x="340" y="2160"/>
              <a:ext cx="1315" cy="81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487988" y="3538538"/>
            <a:ext cx="2971800" cy="1739900"/>
            <a:chOff x="3457" y="2053"/>
            <a:chExt cx="1872" cy="1096"/>
          </a:xfrm>
        </p:grpSpPr>
        <p:sp>
          <p:nvSpPr>
            <p:cNvPr id="5142" name="Text Box 11"/>
            <p:cNvSpPr txBox="1">
              <a:spLocks noChangeArrowheads="1"/>
            </p:cNvSpPr>
            <p:nvPr/>
          </p:nvSpPr>
          <p:spPr bwMode="auto">
            <a:xfrm>
              <a:off x="3457" y="2445"/>
              <a:ext cx="4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safer</a:t>
              </a:r>
            </a:p>
          </p:txBody>
        </p:sp>
        <p:sp>
          <p:nvSpPr>
            <p:cNvPr id="5143" name="Text Box 12"/>
            <p:cNvSpPr txBox="1">
              <a:spLocks noChangeArrowheads="1"/>
            </p:cNvSpPr>
            <p:nvPr/>
          </p:nvSpPr>
          <p:spPr bwMode="auto">
            <a:xfrm>
              <a:off x="4273" y="2053"/>
              <a:ext cx="105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879475" y="5602288"/>
            <a:ext cx="3619500" cy="922337"/>
            <a:chOff x="554" y="3353"/>
            <a:chExt cx="2280" cy="581"/>
          </a:xfrm>
        </p:grpSpPr>
        <p:sp>
          <p:nvSpPr>
            <p:cNvPr id="5139" name="Text Box 13"/>
            <p:cNvSpPr txBox="1">
              <a:spLocks noChangeArrowheads="1"/>
            </p:cNvSpPr>
            <p:nvPr/>
          </p:nvSpPr>
          <p:spPr bwMode="auto">
            <a:xfrm>
              <a:off x="554" y="3353"/>
              <a:ext cx="78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 !=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0" name="Text Box 14"/>
            <p:cNvSpPr txBox="1">
              <a:spLocks noChangeArrowheads="1"/>
            </p:cNvSpPr>
            <p:nvPr/>
          </p:nvSpPr>
          <p:spPr bwMode="auto">
            <a:xfrm>
              <a:off x="2321" y="3357"/>
              <a:ext cx="513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1" name="Line 15"/>
            <p:cNvSpPr>
              <a:spLocks noChangeShapeType="1"/>
            </p:cNvSpPr>
            <p:nvPr/>
          </p:nvSpPr>
          <p:spPr bwMode="auto">
            <a:xfrm>
              <a:off x="1610" y="3702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1280" name="Text Box 16"/>
          <p:cNvSpPr txBox="1">
            <a:spLocks noChangeArrowheads="1"/>
          </p:cNvSpPr>
          <p:nvPr/>
        </p:nvSpPr>
        <p:spPr bwMode="auto">
          <a:xfrm>
            <a:off x="5292725" y="6013450"/>
            <a:ext cx="2932113" cy="4048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don't feel obliged, however</a:t>
            </a:r>
          </a:p>
        </p:txBody>
      </p:sp>
      <p:sp>
        <p:nvSpPr>
          <p:cNvPr id="5129" name="Text Box 17"/>
          <p:cNvSpPr txBox="1">
            <a:spLocks noChangeArrowheads="1"/>
          </p:cNvSpPr>
          <p:nvPr/>
        </p:nvSpPr>
        <p:spPr bwMode="auto">
          <a:xfrm>
            <a:off x="1042988" y="198278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851275" y="1268413"/>
            <a:ext cx="3241675" cy="1584325"/>
            <a:chOff x="3851275" y="1268413"/>
            <a:chExt cx="3241675" cy="1584325"/>
          </a:xfrm>
        </p:grpSpPr>
        <p:grpSp>
          <p:nvGrpSpPr>
            <p:cNvPr id="6" name="Group 5"/>
            <p:cNvGrpSpPr/>
            <p:nvPr/>
          </p:nvGrpSpPr>
          <p:grpSpPr>
            <a:xfrm>
              <a:off x="5327650" y="1268413"/>
              <a:ext cx="1765300" cy="1584325"/>
              <a:chOff x="5327650" y="1268413"/>
              <a:chExt cx="1765300" cy="1584325"/>
            </a:xfrm>
          </p:grpSpPr>
          <p:sp>
            <p:nvSpPr>
              <p:cNvPr id="11284" name="AutoShape 20"/>
              <p:cNvSpPr>
                <a:spLocks noChangeArrowheads="1"/>
              </p:cNvSpPr>
              <p:nvPr/>
            </p:nvSpPr>
            <p:spPr bwMode="auto">
              <a:xfrm>
                <a:off x="5435600" y="1628775"/>
                <a:ext cx="865188" cy="50482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1286" name="AutoShape 22"/>
              <p:cNvSpPr>
                <a:spLocks noChangeArrowheads="1"/>
              </p:cNvSpPr>
              <p:nvPr/>
            </p:nvSpPr>
            <p:spPr bwMode="auto">
              <a:xfrm>
                <a:off x="5653088" y="25638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true</a:t>
                </a:r>
              </a:p>
            </p:txBody>
          </p:sp>
          <p:sp>
            <p:nvSpPr>
              <p:cNvPr id="11288" name="AutoShape 24"/>
              <p:cNvSpPr>
                <a:spLocks noChangeArrowheads="1"/>
              </p:cNvSpPr>
              <p:nvPr/>
            </p:nvSpPr>
            <p:spPr bwMode="auto">
              <a:xfrm>
                <a:off x="6661150" y="17557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false</a:t>
                </a:r>
              </a:p>
            </p:txBody>
          </p:sp>
          <p:cxnSp>
            <p:nvCxnSpPr>
              <p:cNvPr id="11289" name="AutoShape 25"/>
              <p:cNvCxnSpPr>
                <a:cxnSpLocks noChangeShapeType="1"/>
                <a:stCxn id="11284" idx="2"/>
                <a:endCxn id="11286" idx="0"/>
              </p:cNvCxnSpPr>
              <p:nvPr/>
            </p:nvCxnSpPr>
            <p:spPr bwMode="auto">
              <a:xfrm>
                <a:off x="5868988" y="2133600"/>
                <a:ext cx="0" cy="4302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290" name="AutoShape 26"/>
              <p:cNvCxnSpPr>
                <a:cxnSpLocks noChangeShapeType="1"/>
                <a:stCxn id="11284" idx="3"/>
                <a:endCxn id="11288" idx="1"/>
              </p:cNvCxnSpPr>
              <p:nvPr/>
            </p:nvCxnSpPr>
            <p:spPr bwMode="auto">
              <a:xfrm>
                <a:off x="6300788" y="1881188"/>
                <a:ext cx="360362" cy="19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5327650" y="2087563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1292" name="Text Box 28"/>
              <p:cNvSpPr txBox="1">
                <a:spLocks noChangeArrowheads="1"/>
              </p:cNvSpPr>
              <p:nvPr/>
            </p:nvSpPr>
            <p:spPr bwMode="auto">
              <a:xfrm>
                <a:off x="6229350" y="157162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cxnSp>
            <p:nvCxnSpPr>
              <p:cNvPr id="11293" name="AutoShape 29"/>
              <p:cNvCxnSpPr>
                <a:cxnSpLocks noChangeShapeType="1"/>
                <a:endCxn id="11284" idx="0"/>
              </p:cNvCxnSpPr>
              <p:nvPr/>
            </p:nvCxnSpPr>
            <p:spPr bwMode="auto">
              <a:xfrm>
                <a:off x="5868988" y="1268413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3851275" y="19827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980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else</a:t>
            </a:r>
            <a:r>
              <a:rPr lang="en-US" altLang="nl-BE" dirty="0"/>
              <a:t>-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6147" name="Text Box 17"/>
          <p:cNvSpPr txBox="1">
            <a:spLocks noChangeArrowheads="1"/>
          </p:cNvSpPr>
          <p:nvPr/>
        </p:nvSpPr>
        <p:spPr bwMode="auto">
          <a:xfrm>
            <a:off x="395288" y="2133600"/>
            <a:ext cx="379412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scanf</a:t>
            </a:r>
            <a:r>
              <a:rPr lang="en-US" altLang="nl-BE" dirty="0">
                <a:latin typeface="Times New Roman" pitchFamily="18" charset="0"/>
              </a:rPr>
              <a:t>("%d %c %d", &amp;x, &amp;op, &amp;y);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if (op == '+')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+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'-')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–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'*')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x*y;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printf</a:t>
            </a:r>
            <a:r>
              <a:rPr lang="en-US" altLang="nl-BE" dirty="0">
                <a:latin typeface="Times New Roman" pitchFamily="18" charset="0"/>
              </a:rPr>
              <a:t>("invalid operator: '%c'\n", op);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14363" name="Text Box 27"/>
          <p:cNvSpPr txBox="1">
            <a:spLocks noChangeArrowheads="1"/>
          </p:cNvSpPr>
          <p:nvPr/>
        </p:nvSpPr>
        <p:spPr bwMode="auto">
          <a:xfrm>
            <a:off x="4708525" y="177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4852988" y="2211388"/>
            <a:ext cx="1123950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608763" y="1766888"/>
            <a:ext cx="1963737" cy="3967162"/>
            <a:chOff x="6608763" y="1766888"/>
            <a:chExt cx="1963737" cy="3967162"/>
          </a:xfrm>
        </p:grpSpPr>
        <p:sp>
          <p:nvSpPr>
            <p:cNvPr id="14371" name="Text Box 35"/>
            <p:cNvSpPr txBox="1">
              <a:spLocks noChangeArrowheads="1"/>
            </p:cNvSpPr>
            <p:nvPr/>
          </p:nvSpPr>
          <p:spPr bwMode="auto">
            <a:xfrm>
              <a:off x="6608763" y="17668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869113" y="2212975"/>
              <a:ext cx="1703387" cy="3521075"/>
              <a:chOff x="6869113" y="2212975"/>
              <a:chExt cx="1703387" cy="3521075"/>
            </a:xfrm>
          </p:grpSpPr>
          <p:sp>
            <p:nvSpPr>
              <p:cNvPr id="14365" name="AutoShape 29"/>
              <p:cNvSpPr>
                <a:spLocks noChangeArrowheads="1"/>
              </p:cNvSpPr>
              <p:nvPr/>
            </p:nvSpPr>
            <p:spPr bwMode="auto">
              <a:xfrm>
                <a:off x="6869113" y="2422525"/>
                <a:ext cx="1008062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66" name="AutoShape 30"/>
              <p:cNvSpPr>
                <a:spLocks noChangeArrowheads="1"/>
              </p:cNvSpPr>
              <p:nvPr/>
            </p:nvSpPr>
            <p:spPr bwMode="auto">
              <a:xfrm>
                <a:off x="7116763" y="5084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endParaRPr lang="en-US" altLang="nl-BE" sz="1600" baseline="-25000">
                  <a:latin typeface="Times New Roman" pitchFamily="18" charset="0"/>
                </a:endParaRPr>
              </a:p>
            </p:txBody>
          </p:sp>
          <p:sp>
            <p:nvSpPr>
              <p:cNvPr id="14367" name="AutoShape 31"/>
              <p:cNvSpPr>
                <a:spLocks noChangeArrowheads="1"/>
              </p:cNvSpPr>
              <p:nvPr/>
            </p:nvSpPr>
            <p:spPr bwMode="auto">
              <a:xfrm>
                <a:off x="8101013" y="25019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4368" name="AutoShape 32"/>
              <p:cNvCxnSpPr>
                <a:cxnSpLocks noChangeShapeType="1"/>
                <a:stCxn id="14365" idx="3"/>
                <a:endCxn id="14367" idx="1"/>
              </p:cNvCxnSpPr>
              <p:nvPr/>
            </p:nvCxnSpPr>
            <p:spPr bwMode="auto">
              <a:xfrm>
                <a:off x="7877175" y="2638425"/>
                <a:ext cx="223838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69" name="Text Box 33"/>
              <p:cNvSpPr txBox="1">
                <a:spLocks noChangeArrowheads="1"/>
              </p:cNvSpPr>
              <p:nvPr/>
            </p:nvSpPr>
            <p:spPr bwMode="auto">
              <a:xfrm>
                <a:off x="6891338" y="273843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0" name="Text Box 34"/>
              <p:cNvSpPr txBox="1">
                <a:spLocks noChangeArrowheads="1"/>
              </p:cNvSpPr>
              <p:nvPr/>
            </p:nvSpPr>
            <p:spPr bwMode="auto">
              <a:xfrm>
                <a:off x="7645400" y="22383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4372" name="AutoShape 36"/>
              <p:cNvSpPr>
                <a:spLocks noChangeArrowheads="1"/>
              </p:cNvSpPr>
              <p:nvPr/>
            </p:nvSpPr>
            <p:spPr bwMode="auto">
              <a:xfrm>
                <a:off x="6900863" y="3138488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73" name="AutoShape 37"/>
              <p:cNvSpPr>
                <a:spLocks noChangeArrowheads="1"/>
              </p:cNvSpPr>
              <p:nvPr/>
            </p:nvSpPr>
            <p:spPr bwMode="auto">
              <a:xfrm>
                <a:off x="8077200" y="320992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4374" name="AutoShape 38"/>
              <p:cNvCxnSpPr>
                <a:cxnSpLocks noChangeShapeType="1"/>
                <a:stCxn id="14372" idx="3"/>
                <a:endCxn id="14373" idx="1"/>
              </p:cNvCxnSpPr>
              <p:nvPr/>
            </p:nvCxnSpPr>
            <p:spPr bwMode="auto">
              <a:xfrm flipV="1">
                <a:off x="7837488" y="3354388"/>
                <a:ext cx="239712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5" name="Text Box 39"/>
              <p:cNvSpPr txBox="1">
                <a:spLocks noChangeArrowheads="1"/>
              </p:cNvSpPr>
              <p:nvPr/>
            </p:nvSpPr>
            <p:spPr bwMode="auto">
              <a:xfrm>
                <a:off x="6891338" y="34544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6" name="Text Box 40"/>
              <p:cNvSpPr txBox="1">
                <a:spLocks noChangeArrowheads="1"/>
              </p:cNvSpPr>
              <p:nvPr/>
            </p:nvSpPr>
            <p:spPr bwMode="auto">
              <a:xfrm>
                <a:off x="7645400" y="295433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77" name="AutoShape 41"/>
              <p:cNvCxnSpPr>
                <a:cxnSpLocks noChangeShapeType="1"/>
                <a:stCxn id="14365" idx="2"/>
                <a:endCxn id="14372" idx="0"/>
              </p:cNvCxnSpPr>
              <p:nvPr/>
            </p:nvCxnSpPr>
            <p:spPr bwMode="auto">
              <a:xfrm flipH="1">
                <a:off x="7369175" y="2854325"/>
                <a:ext cx="4763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9" name="Text Box 43"/>
              <p:cNvSpPr txBox="1">
                <a:spLocks noChangeArrowheads="1"/>
              </p:cNvSpPr>
              <p:nvPr/>
            </p:nvSpPr>
            <p:spPr bwMode="auto">
              <a:xfrm>
                <a:off x="7159625" y="3790950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4380" name="AutoShape 44"/>
              <p:cNvCxnSpPr>
                <a:cxnSpLocks noChangeShapeType="1"/>
                <a:stCxn id="14372" idx="2"/>
                <a:endCxn id="14379" idx="0"/>
              </p:cNvCxnSpPr>
              <p:nvPr/>
            </p:nvCxnSpPr>
            <p:spPr bwMode="auto">
              <a:xfrm flipH="1">
                <a:off x="7366000" y="3573463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2" name="AutoShape 46"/>
              <p:cNvSpPr>
                <a:spLocks noChangeArrowheads="1"/>
              </p:cNvSpPr>
              <p:nvPr/>
            </p:nvSpPr>
            <p:spPr bwMode="auto">
              <a:xfrm>
                <a:off x="6869113" y="4405313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83" name="AutoShape 47"/>
              <p:cNvSpPr>
                <a:spLocks noChangeArrowheads="1"/>
              </p:cNvSpPr>
              <p:nvPr/>
            </p:nvSpPr>
            <p:spPr bwMode="auto">
              <a:xfrm>
                <a:off x="8093075" y="45005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4384" name="AutoShape 48"/>
              <p:cNvCxnSpPr>
                <a:cxnSpLocks noChangeShapeType="1"/>
                <a:stCxn id="14382" idx="3"/>
                <a:endCxn id="14383" idx="1"/>
              </p:cNvCxnSpPr>
              <p:nvPr/>
            </p:nvCxnSpPr>
            <p:spPr bwMode="auto">
              <a:xfrm>
                <a:off x="7805738" y="4638675"/>
                <a:ext cx="287337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5" name="Text Box 49"/>
              <p:cNvSpPr txBox="1">
                <a:spLocks noChangeArrowheads="1"/>
              </p:cNvSpPr>
              <p:nvPr/>
            </p:nvSpPr>
            <p:spPr bwMode="auto">
              <a:xfrm>
                <a:off x="6891338" y="47498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86" name="Text Box 50"/>
              <p:cNvSpPr txBox="1">
                <a:spLocks noChangeArrowheads="1"/>
              </p:cNvSpPr>
              <p:nvPr/>
            </p:nvSpPr>
            <p:spPr bwMode="auto">
              <a:xfrm>
                <a:off x="7661275" y="42449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87" name="AutoShape 51"/>
              <p:cNvCxnSpPr>
                <a:cxnSpLocks noChangeShapeType="1"/>
                <a:stCxn id="14382" idx="2"/>
                <a:endCxn id="14366" idx="0"/>
              </p:cNvCxnSpPr>
              <p:nvPr/>
            </p:nvCxnSpPr>
            <p:spPr bwMode="auto">
              <a:xfrm flipH="1">
                <a:off x="7332663" y="4870450"/>
                <a:ext cx="4762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9" name="Line 53"/>
              <p:cNvSpPr>
                <a:spLocks noChangeShapeType="1"/>
              </p:cNvSpPr>
              <p:nvPr/>
            </p:nvSpPr>
            <p:spPr bwMode="auto">
              <a:xfrm>
                <a:off x="7332663" y="4198938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4390" name="Line 54"/>
              <p:cNvSpPr>
                <a:spLocks noChangeShapeType="1"/>
              </p:cNvSpPr>
              <p:nvPr/>
            </p:nvSpPr>
            <p:spPr bwMode="auto">
              <a:xfrm>
                <a:off x="7372350" y="2212975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14392" name="AutoShape 56"/>
              <p:cNvCxnSpPr>
                <a:cxnSpLocks noChangeShapeType="1"/>
              </p:cNvCxnSpPr>
              <p:nvPr/>
            </p:nvCxnSpPr>
            <p:spPr bwMode="auto">
              <a:xfrm flipH="1">
                <a:off x="7372350" y="2646363"/>
                <a:ext cx="1200150" cy="3087687"/>
              </a:xfrm>
              <a:prstGeom prst="bentConnector4">
                <a:avLst>
                  <a:gd name="adj1" fmla="val -20370"/>
                  <a:gd name="adj2" fmla="val 93931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3" name="AutoShape 57"/>
              <p:cNvCxnSpPr>
                <a:cxnSpLocks noChangeShapeType="1"/>
                <a:stCxn id="14373" idx="3"/>
              </p:cNvCxnSpPr>
              <p:nvPr/>
            </p:nvCxnSpPr>
            <p:spPr bwMode="auto">
              <a:xfrm flipH="1">
                <a:off x="7332663" y="3354388"/>
                <a:ext cx="1176337" cy="2379662"/>
              </a:xfrm>
              <a:prstGeom prst="bentConnector4">
                <a:avLst>
                  <a:gd name="adj1" fmla="val -21731"/>
                  <a:gd name="adj2" fmla="val 92194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4" name="AutoShape 58"/>
              <p:cNvCxnSpPr>
                <a:cxnSpLocks noChangeShapeType="1"/>
                <a:stCxn id="14366" idx="2"/>
              </p:cNvCxnSpPr>
              <p:nvPr/>
            </p:nvCxnSpPr>
            <p:spPr bwMode="auto">
              <a:xfrm>
                <a:off x="7332663" y="5373688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5" name="AutoShape 59"/>
              <p:cNvCxnSpPr>
                <a:cxnSpLocks noChangeShapeType="1"/>
                <a:stCxn id="14383" idx="3"/>
              </p:cNvCxnSpPr>
              <p:nvPr/>
            </p:nvCxnSpPr>
            <p:spPr bwMode="auto">
              <a:xfrm flipH="1">
                <a:off x="7332663" y="4645025"/>
                <a:ext cx="1192212" cy="1089025"/>
              </a:xfrm>
              <a:prstGeom prst="bentConnector4">
                <a:avLst>
                  <a:gd name="adj1" fmla="val -19977"/>
                  <a:gd name="adj2" fmla="val 82213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6177" name="Text Box 60"/>
          <p:cNvSpPr txBox="1">
            <a:spLocks noChangeArrowheads="1"/>
          </p:cNvSpPr>
          <p:nvPr/>
        </p:nvSpPr>
        <p:spPr bwMode="auto">
          <a:xfrm>
            <a:off x="127000" y="1773238"/>
            <a:ext cx="1111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example: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875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63" grpId="0"/>
      <p:bldP spid="1436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switch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4941888" y="1701800"/>
            <a:ext cx="4022725" cy="517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switch (op)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'+':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'-':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'*':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default: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sz="900">
                <a:latin typeface="Times New Roman" pitchFamily="18" charset="0"/>
              </a:rPr>
              <a:t> 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…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179388" y="5157788"/>
            <a:ext cx="3816350" cy="122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notes: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/>
              <a:t> must be scalar type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/>
              <a:t>, …,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/>
              <a:t>: constant scalar </a:t>
            </a:r>
            <a:br>
              <a:rPr lang="en-US" altLang="nl-BE"/>
            </a:br>
            <a:r>
              <a:rPr lang="en-US" altLang="nl-BE"/>
              <a:t>  expressions, no conditions in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/>
              <a:t>!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427538" y="3573463"/>
            <a:ext cx="649287" cy="3168650"/>
            <a:chOff x="158" y="2069"/>
            <a:chExt cx="409" cy="1996"/>
          </a:xfrm>
        </p:grpSpPr>
        <p:sp>
          <p:nvSpPr>
            <p:cNvPr id="7202" name="Line 6"/>
            <p:cNvSpPr>
              <a:spLocks noChangeShapeType="1"/>
            </p:cNvSpPr>
            <p:nvPr/>
          </p:nvSpPr>
          <p:spPr bwMode="auto">
            <a:xfrm flipH="1">
              <a:off x="158" y="2069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3" name="Line 7"/>
            <p:cNvSpPr>
              <a:spLocks noChangeShapeType="1"/>
            </p:cNvSpPr>
            <p:nvPr/>
          </p:nvSpPr>
          <p:spPr bwMode="auto">
            <a:xfrm>
              <a:off x="158" y="2069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4" name="Line 8"/>
            <p:cNvSpPr>
              <a:spLocks noChangeShapeType="1"/>
            </p:cNvSpPr>
            <p:nvPr/>
          </p:nvSpPr>
          <p:spPr bwMode="auto">
            <a:xfrm>
              <a:off x="158" y="4065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5" name="Line 9"/>
            <p:cNvSpPr>
              <a:spLocks noChangeShapeType="1"/>
            </p:cNvSpPr>
            <p:nvPr/>
          </p:nvSpPr>
          <p:spPr bwMode="auto">
            <a:xfrm flipH="1">
              <a:off x="158" y="2614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6" name="Line 10"/>
            <p:cNvSpPr>
              <a:spLocks noChangeShapeType="1"/>
            </p:cNvSpPr>
            <p:nvPr/>
          </p:nvSpPr>
          <p:spPr bwMode="auto">
            <a:xfrm flipH="1">
              <a:off x="158" y="3113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7" name="Line 11"/>
            <p:cNvSpPr>
              <a:spLocks noChangeShapeType="1"/>
            </p:cNvSpPr>
            <p:nvPr/>
          </p:nvSpPr>
          <p:spPr bwMode="auto">
            <a:xfrm flipH="1">
              <a:off x="158" y="3612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174" name="Text Box 14"/>
          <p:cNvSpPr txBox="1">
            <a:spLocks noChangeArrowheads="1"/>
          </p:cNvSpPr>
          <p:nvPr/>
        </p:nvSpPr>
        <p:spPr bwMode="auto">
          <a:xfrm>
            <a:off x="179388" y="12684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7175" name="Text Box 15"/>
          <p:cNvSpPr txBox="1">
            <a:spLocks noChangeArrowheads="1"/>
          </p:cNvSpPr>
          <p:nvPr/>
        </p:nvSpPr>
        <p:spPr bwMode="auto">
          <a:xfrm>
            <a:off x="323850" y="1706563"/>
            <a:ext cx="125888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switch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case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 i="1">
                <a:latin typeface="Times New Roman" pitchFamily="18" charset="0"/>
              </a:rPr>
              <a:t> 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default: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d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55763" y="1262063"/>
            <a:ext cx="2347912" cy="3606800"/>
            <a:chOff x="1655763" y="1262063"/>
            <a:chExt cx="2347912" cy="3606800"/>
          </a:xfrm>
        </p:grpSpPr>
        <p:sp>
          <p:nvSpPr>
            <p:cNvPr id="16408" name="Text Box 24"/>
            <p:cNvSpPr txBox="1">
              <a:spLocks noChangeArrowheads="1"/>
            </p:cNvSpPr>
            <p:nvPr/>
          </p:nvSpPr>
          <p:spPr bwMode="auto">
            <a:xfrm>
              <a:off x="1655763" y="1262063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339975" y="1708150"/>
              <a:ext cx="1663700" cy="3160713"/>
              <a:chOff x="2339975" y="1708150"/>
              <a:chExt cx="1663700" cy="3160713"/>
            </a:xfrm>
          </p:grpSpPr>
          <p:sp>
            <p:nvSpPr>
              <p:cNvPr id="16400" name="AutoShape 16"/>
              <p:cNvSpPr>
                <a:spLocks noChangeArrowheads="1"/>
              </p:cNvSpPr>
              <p:nvPr/>
            </p:nvSpPr>
            <p:spPr bwMode="auto">
              <a:xfrm>
                <a:off x="2339975" y="1917700"/>
                <a:ext cx="1008063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01" name="AutoShape 17"/>
              <p:cNvSpPr>
                <a:spLocks noChangeArrowheads="1"/>
              </p:cNvSpPr>
              <p:nvPr/>
            </p:nvSpPr>
            <p:spPr bwMode="auto">
              <a:xfrm>
                <a:off x="2587625" y="45799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6402" name="AutoShape 18"/>
              <p:cNvSpPr>
                <a:spLocks noChangeArrowheads="1"/>
              </p:cNvSpPr>
              <p:nvPr/>
            </p:nvSpPr>
            <p:spPr bwMode="auto">
              <a:xfrm>
                <a:off x="3571875" y="19970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6404" name="AutoShape 20"/>
              <p:cNvCxnSpPr>
                <a:cxnSpLocks noChangeShapeType="1"/>
                <a:stCxn id="16400" idx="3"/>
                <a:endCxn id="16402" idx="1"/>
              </p:cNvCxnSpPr>
              <p:nvPr/>
            </p:nvCxnSpPr>
            <p:spPr bwMode="auto">
              <a:xfrm>
                <a:off x="3348038" y="2133600"/>
                <a:ext cx="223837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5" name="Text Box 21"/>
              <p:cNvSpPr txBox="1">
                <a:spLocks noChangeArrowheads="1"/>
              </p:cNvSpPr>
              <p:nvPr/>
            </p:nvSpPr>
            <p:spPr bwMode="auto">
              <a:xfrm>
                <a:off x="2362200" y="22336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3116263" y="17335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6409" name="AutoShape 25"/>
              <p:cNvSpPr>
                <a:spLocks noChangeArrowheads="1"/>
              </p:cNvSpPr>
              <p:nvPr/>
            </p:nvSpPr>
            <p:spPr bwMode="auto">
              <a:xfrm>
                <a:off x="2371725" y="2633663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10" name="AutoShape 26"/>
              <p:cNvSpPr>
                <a:spLocks noChangeArrowheads="1"/>
              </p:cNvSpPr>
              <p:nvPr/>
            </p:nvSpPr>
            <p:spPr bwMode="auto">
              <a:xfrm>
                <a:off x="3548063" y="27051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6411" name="AutoShape 27"/>
              <p:cNvCxnSpPr>
                <a:cxnSpLocks noChangeShapeType="1"/>
                <a:stCxn id="16409" idx="3"/>
                <a:endCxn id="16410" idx="1"/>
              </p:cNvCxnSpPr>
              <p:nvPr/>
            </p:nvCxnSpPr>
            <p:spPr bwMode="auto">
              <a:xfrm flipV="1">
                <a:off x="3308350" y="2849563"/>
                <a:ext cx="239713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2" name="Text Box 28"/>
              <p:cNvSpPr txBox="1">
                <a:spLocks noChangeArrowheads="1"/>
              </p:cNvSpPr>
              <p:nvPr/>
            </p:nvSpPr>
            <p:spPr bwMode="auto">
              <a:xfrm>
                <a:off x="2362200" y="29495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13" name="Text Box 29"/>
              <p:cNvSpPr txBox="1">
                <a:spLocks noChangeArrowheads="1"/>
              </p:cNvSpPr>
              <p:nvPr/>
            </p:nvSpPr>
            <p:spPr bwMode="auto">
              <a:xfrm>
                <a:off x="3116263" y="2449513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14" name="AutoShape 30"/>
              <p:cNvCxnSpPr>
                <a:cxnSpLocks noChangeShapeType="1"/>
                <a:stCxn id="16400" idx="2"/>
                <a:endCxn id="16409" idx="0"/>
              </p:cNvCxnSpPr>
              <p:nvPr/>
            </p:nvCxnSpPr>
            <p:spPr bwMode="auto">
              <a:xfrm flipH="1">
                <a:off x="2840038" y="2349500"/>
                <a:ext cx="4762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5" name="AutoShape 31"/>
              <p:cNvCxnSpPr>
                <a:cxnSpLocks noChangeShapeType="1"/>
                <a:stCxn id="16402" idx="2"/>
                <a:endCxn id="16409" idx="0"/>
              </p:cNvCxnSpPr>
              <p:nvPr/>
            </p:nvCxnSpPr>
            <p:spPr bwMode="auto">
              <a:xfrm flipH="1">
                <a:off x="2840038" y="2286000"/>
                <a:ext cx="947737" cy="3476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6" name="Text Box 32"/>
              <p:cNvSpPr txBox="1">
                <a:spLocks noChangeArrowheads="1"/>
              </p:cNvSpPr>
              <p:nvPr/>
            </p:nvSpPr>
            <p:spPr bwMode="auto">
              <a:xfrm>
                <a:off x="2630488" y="3286125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6417" name="AutoShape 33"/>
              <p:cNvCxnSpPr>
                <a:cxnSpLocks noChangeShapeType="1"/>
                <a:stCxn id="16409" idx="2"/>
                <a:endCxn id="16416" idx="0"/>
              </p:cNvCxnSpPr>
              <p:nvPr/>
            </p:nvCxnSpPr>
            <p:spPr bwMode="auto">
              <a:xfrm flipH="1">
                <a:off x="2836863" y="3068638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8" name="AutoShape 34"/>
              <p:cNvCxnSpPr>
                <a:cxnSpLocks noChangeShapeType="1"/>
                <a:stCxn id="16410" idx="2"/>
                <a:endCxn id="16416" idx="0"/>
              </p:cNvCxnSpPr>
              <p:nvPr/>
            </p:nvCxnSpPr>
            <p:spPr bwMode="auto">
              <a:xfrm flipH="1">
                <a:off x="2836863" y="2994025"/>
                <a:ext cx="927100" cy="29210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9" name="AutoShape 35"/>
              <p:cNvSpPr>
                <a:spLocks noChangeArrowheads="1"/>
              </p:cNvSpPr>
              <p:nvPr/>
            </p:nvSpPr>
            <p:spPr bwMode="auto">
              <a:xfrm>
                <a:off x="2339975" y="3900488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20" name="AutoShape 36"/>
              <p:cNvSpPr>
                <a:spLocks noChangeArrowheads="1"/>
              </p:cNvSpPr>
              <p:nvPr/>
            </p:nvSpPr>
            <p:spPr bwMode="auto">
              <a:xfrm>
                <a:off x="3563938" y="39957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6421" name="AutoShape 37"/>
              <p:cNvCxnSpPr>
                <a:cxnSpLocks noChangeShapeType="1"/>
                <a:stCxn id="16419" idx="3"/>
                <a:endCxn id="16420" idx="1"/>
              </p:cNvCxnSpPr>
              <p:nvPr/>
            </p:nvCxnSpPr>
            <p:spPr bwMode="auto">
              <a:xfrm>
                <a:off x="3276600" y="4133850"/>
                <a:ext cx="287338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2" name="Text Box 38"/>
              <p:cNvSpPr txBox="1">
                <a:spLocks noChangeArrowheads="1"/>
              </p:cNvSpPr>
              <p:nvPr/>
            </p:nvSpPr>
            <p:spPr bwMode="auto">
              <a:xfrm>
                <a:off x="2362200" y="42449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23" name="Text Box 39"/>
              <p:cNvSpPr txBox="1">
                <a:spLocks noChangeArrowheads="1"/>
              </p:cNvSpPr>
              <p:nvPr/>
            </p:nvSpPr>
            <p:spPr bwMode="auto">
              <a:xfrm>
                <a:off x="3132138" y="37401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24" name="AutoShape 40"/>
              <p:cNvCxnSpPr>
                <a:cxnSpLocks noChangeShapeType="1"/>
                <a:stCxn id="16419" idx="2"/>
                <a:endCxn id="16401" idx="0"/>
              </p:cNvCxnSpPr>
              <p:nvPr/>
            </p:nvCxnSpPr>
            <p:spPr bwMode="auto">
              <a:xfrm flipH="1">
                <a:off x="2803525" y="4365625"/>
                <a:ext cx="4763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25" name="AutoShape 41"/>
              <p:cNvCxnSpPr>
                <a:cxnSpLocks noChangeShapeType="1"/>
                <a:stCxn id="16420" idx="2"/>
                <a:endCxn id="16401" idx="0"/>
              </p:cNvCxnSpPr>
              <p:nvPr/>
            </p:nvCxnSpPr>
            <p:spPr bwMode="auto">
              <a:xfrm flipH="1">
                <a:off x="2803525" y="4284663"/>
                <a:ext cx="976313" cy="295275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803525" y="3694113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843213" y="1708150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36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/>
      <p:bldP spid="1638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for</a:t>
            </a:r>
          </a:p>
        </p:txBody>
      </p:sp>
      <p:sp>
        <p:nvSpPr>
          <p:cNvPr id="8195" name="Text Box 11"/>
          <p:cNvSpPr txBox="1">
            <a:spLocks noChangeArrowheads="1"/>
          </p:cNvSpPr>
          <p:nvPr/>
        </p:nvSpPr>
        <p:spPr bwMode="auto">
          <a:xfrm>
            <a:off x="1023938" y="1341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8196" name="Text Box 12"/>
          <p:cNvSpPr txBox="1">
            <a:spLocks noChangeArrowheads="1"/>
          </p:cNvSpPr>
          <p:nvPr/>
        </p:nvSpPr>
        <p:spPr bwMode="auto">
          <a:xfrm>
            <a:off x="2555875" y="1341438"/>
            <a:ext cx="20986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 i="1">
                <a:solidFill>
                  <a:srgbClr val="FF3300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FF3300"/>
                </a:solidFill>
                <a:latin typeface="Times New Roman" pitchFamily="18" charset="0"/>
              </a:rPr>
              <a:t>before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chemeClr val="folHlink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chemeClr val="folHlink"/>
                </a:solidFill>
                <a:latin typeface="Times New Roman" pitchFamily="18" charset="0"/>
              </a:rPr>
              <a:t>iter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023938" y="2081213"/>
            <a:ext cx="5008562" cy="915987"/>
            <a:chOff x="645" y="1810"/>
            <a:chExt cx="3155" cy="577"/>
          </a:xfrm>
        </p:grpSpPr>
        <p:sp>
          <p:nvSpPr>
            <p:cNvPr id="8218" name="Text Box 13"/>
            <p:cNvSpPr txBox="1">
              <a:spLocks noChangeArrowheads="1"/>
            </p:cNvSpPr>
            <p:nvPr/>
          </p:nvSpPr>
          <p:spPr bwMode="auto">
            <a:xfrm>
              <a:off x="1610" y="1810"/>
              <a:ext cx="2190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  <a:endParaRPr lang="en-US" altLang="nl-BE">
                <a:solidFill>
                  <a:srgbClr val="FF3300"/>
                </a:solidFill>
              </a:endParaRPr>
            </a:p>
            <a:p>
              <a:pPr eaLnBrk="1" hangingPunct="1"/>
              <a:r>
                <a:rPr lang="en-US" altLang="nl-BE"/>
                <a:t>while </a:t>
              </a:r>
              <a:r>
                <a:rPr lang="en-US" altLang="nl-BE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/>
                <a:t> true do</a:t>
              </a:r>
            </a:p>
            <a:p>
              <a:pPr eaLnBrk="1" hangingPunct="1"/>
              <a:r>
                <a:rPr lang="en-US" altLang="nl-BE"/>
                <a:t>   </a:t>
              </a:r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/>
                <a:t> followed by </a:t>
              </a:r>
              <a:r>
                <a:rPr lang="en-US" altLang="nl-BE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19" name="Text Box 14"/>
            <p:cNvSpPr txBox="1">
              <a:spLocks noChangeArrowheads="1"/>
            </p:cNvSpPr>
            <p:nvPr/>
          </p:nvSpPr>
          <p:spPr bwMode="auto">
            <a:xfrm>
              <a:off x="645" y="1810"/>
              <a:ext cx="8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</p:grpSp>
      <p:sp>
        <p:nvSpPr>
          <p:cNvPr id="18447" name="Text Box 15"/>
          <p:cNvSpPr txBox="1">
            <a:spLocks noChangeArrowheads="1"/>
          </p:cNvSpPr>
          <p:nvPr/>
        </p:nvSpPr>
        <p:spPr bwMode="auto">
          <a:xfrm>
            <a:off x="1511300" y="4221163"/>
            <a:ext cx="68770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known or computed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1023938" y="5149850"/>
            <a:ext cx="3762375" cy="1190625"/>
            <a:chOff x="645" y="3244"/>
            <a:chExt cx="2370" cy="750"/>
          </a:xfrm>
        </p:grpSpPr>
        <p:sp>
          <p:nvSpPr>
            <p:cNvPr id="8216" name="Text Box 16"/>
            <p:cNvSpPr txBox="1">
              <a:spLocks noChangeArrowheads="1"/>
            </p:cNvSpPr>
            <p:nvPr/>
          </p:nvSpPr>
          <p:spPr bwMode="auto">
            <a:xfrm>
              <a:off x="1610" y="3244"/>
              <a:ext cx="140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unsigned n = 10,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 = 0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rgbClr val="0000FF"/>
                  </a:solidFill>
                  <a:latin typeface="Times New Roman" pitchFamily="18" charset="0"/>
                </a:rPr>
                <a:t>i &lt; n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chemeClr val="folHlink"/>
                  </a:solidFill>
                  <a:latin typeface="Times New Roman" pitchFamily="18" charset="0"/>
                </a:rPr>
                <a:t>i++</a:t>
              </a:r>
              <a:r>
                <a:rPr lang="en-US" altLang="nl-BE">
                  <a:latin typeface="Times New Roman" pitchFamily="18" charset="0"/>
                </a:rPr>
                <a:t>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8217" name="Text Box 17"/>
            <p:cNvSpPr txBox="1">
              <a:spLocks noChangeArrowheads="1"/>
            </p:cNvSpPr>
            <p:nvPr/>
          </p:nvSpPr>
          <p:spPr bwMode="auto">
            <a:xfrm>
              <a:off x="645" y="3244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5435600" y="5149850"/>
            <a:ext cx="2449513" cy="1190625"/>
            <a:chOff x="3424" y="3244"/>
            <a:chExt cx="1543" cy="750"/>
          </a:xfrm>
        </p:grpSpPr>
        <p:sp>
          <p:nvSpPr>
            <p:cNvPr id="8214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8215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601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(;;)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>
                <a:latin typeface="Times New Roman" pitchFamily="18" charset="0"/>
              </a:endParaRPr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5651500" y="1773238"/>
            <a:ext cx="2735263" cy="1943100"/>
            <a:chOff x="5651500" y="1773238"/>
            <a:chExt cx="2735263" cy="1943100"/>
          </a:xfrm>
        </p:grpSpPr>
        <p:sp>
          <p:nvSpPr>
            <p:cNvPr id="8202" name="AutoShape 23"/>
            <p:cNvSpPr>
              <a:spLocks noChangeArrowheads="1"/>
            </p:cNvSpPr>
            <p:nvPr/>
          </p:nvSpPr>
          <p:spPr bwMode="auto">
            <a:xfrm>
              <a:off x="7954963" y="2957513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03" name="AutoShape 24"/>
            <p:cNvSpPr>
              <a:spLocks noChangeArrowheads="1"/>
            </p:cNvSpPr>
            <p:nvPr/>
          </p:nvSpPr>
          <p:spPr bwMode="auto">
            <a:xfrm>
              <a:off x="5651500" y="2757488"/>
              <a:ext cx="1152525" cy="671512"/>
            </a:xfrm>
            <a:prstGeom prst="flowChartDecision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  <a:cs typeface="Times New Roman" pitchFamily="18" charset="0"/>
                  <a:sym typeface="Euclid Symbol"/>
                </a:rPr>
                <a:t>≠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0?</a:t>
              </a:r>
            </a:p>
          </p:txBody>
        </p:sp>
        <p:sp>
          <p:nvSpPr>
            <p:cNvPr id="8204" name="AutoShape 25"/>
            <p:cNvSpPr>
              <a:spLocks noChangeArrowheads="1"/>
            </p:cNvSpPr>
            <p:nvPr/>
          </p:nvSpPr>
          <p:spPr bwMode="auto">
            <a:xfrm>
              <a:off x="7162800" y="2955925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endParaRPr lang="en-US" altLang="nl-BE" sz="1600" baseline="-25000">
                <a:solidFill>
                  <a:srgbClr val="FF33CC"/>
                </a:solidFill>
                <a:latin typeface="Times New Roman" pitchFamily="18" charset="0"/>
              </a:endParaRPr>
            </a:p>
          </p:txBody>
        </p:sp>
        <p:cxnSp>
          <p:nvCxnSpPr>
            <p:cNvPr id="8205" name="AutoShape 26"/>
            <p:cNvCxnSpPr>
              <a:cxnSpLocks noChangeShapeType="1"/>
              <a:stCxn id="8203" idx="3"/>
              <a:endCxn id="8204" idx="1"/>
            </p:cNvCxnSpPr>
            <p:nvPr/>
          </p:nvCxnSpPr>
          <p:spPr bwMode="auto">
            <a:xfrm>
              <a:off x="6804025" y="3094038"/>
              <a:ext cx="358775" cy="63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6" name="Text Box 27"/>
            <p:cNvSpPr txBox="1">
              <a:spLocks noChangeArrowheads="1"/>
            </p:cNvSpPr>
            <p:nvPr/>
          </p:nvSpPr>
          <p:spPr bwMode="auto">
            <a:xfrm>
              <a:off x="5818188" y="3308350"/>
              <a:ext cx="4095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no</a:t>
              </a:r>
            </a:p>
          </p:txBody>
        </p:sp>
        <p:sp>
          <p:nvSpPr>
            <p:cNvPr id="8207" name="Text Box 28"/>
            <p:cNvSpPr txBox="1">
              <a:spLocks noChangeArrowheads="1"/>
            </p:cNvSpPr>
            <p:nvPr/>
          </p:nvSpPr>
          <p:spPr bwMode="auto">
            <a:xfrm>
              <a:off x="6659563" y="2700338"/>
              <a:ext cx="50006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yes</a:t>
              </a:r>
            </a:p>
          </p:txBody>
        </p:sp>
        <p:cxnSp>
          <p:nvCxnSpPr>
            <p:cNvPr id="8208" name="AutoShape 30"/>
            <p:cNvCxnSpPr>
              <a:cxnSpLocks noChangeShapeType="1"/>
              <a:stCxn id="8204" idx="3"/>
              <a:endCxn id="8202" idx="1"/>
            </p:cNvCxnSpPr>
            <p:nvPr/>
          </p:nvCxnSpPr>
          <p:spPr bwMode="auto">
            <a:xfrm>
              <a:off x="7594600" y="3100388"/>
              <a:ext cx="360363" cy="1587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9" name="AutoShape 32"/>
            <p:cNvSpPr>
              <a:spLocks noChangeArrowheads="1"/>
            </p:cNvSpPr>
            <p:nvPr/>
          </p:nvSpPr>
          <p:spPr bwMode="auto">
            <a:xfrm>
              <a:off x="5978525" y="2068513"/>
              <a:ext cx="504825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</a:p>
          </p:txBody>
        </p:sp>
        <p:cxnSp>
          <p:nvCxnSpPr>
            <p:cNvPr id="8210" name="AutoShape 33"/>
            <p:cNvCxnSpPr>
              <a:cxnSpLocks noChangeShapeType="1"/>
              <a:stCxn id="8209" idx="2"/>
              <a:endCxn id="8203" idx="0"/>
            </p:cNvCxnSpPr>
            <p:nvPr/>
          </p:nvCxnSpPr>
          <p:spPr bwMode="auto">
            <a:xfrm flipH="1">
              <a:off x="6227763" y="2357438"/>
              <a:ext cx="3175" cy="400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1" name="AutoShape 34"/>
            <p:cNvCxnSpPr>
              <a:cxnSpLocks noChangeShapeType="1"/>
              <a:stCxn id="8202" idx="0"/>
              <a:endCxn id="8203" idx="0"/>
            </p:cNvCxnSpPr>
            <p:nvPr/>
          </p:nvCxnSpPr>
          <p:spPr bwMode="auto">
            <a:xfrm rot="5400000" flipH="1">
              <a:off x="7099300" y="1885951"/>
              <a:ext cx="200025" cy="1943100"/>
            </a:xfrm>
            <a:prstGeom prst="bentConnector3">
              <a:avLst>
                <a:gd name="adj1" fmla="val 21428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2" name="Line 35"/>
            <p:cNvSpPr>
              <a:spLocks noChangeShapeType="1"/>
            </p:cNvSpPr>
            <p:nvPr/>
          </p:nvSpPr>
          <p:spPr bwMode="auto">
            <a:xfrm>
              <a:off x="6227763" y="1773238"/>
              <a:ext cx="0" cy="287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3" name="Line 36"/>
            <p:cNvSpPr>
              <a:spLocks noChangeShapeType="1"/>
            </p:cNvSpPr>
            <p:nvPr/>
          </p:nvSpPr>
          <p:spPr bwMode="auto">
            <a:xfrm>
              <a:off x="6227763" y="3429000"/>
              <a:ext cx="0" cy="287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8550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while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79388" y="1274763"/>
            <a:ext cx="1530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general form: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1711325" y="1274763"/>
            <a:ext cx="135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1062038" y="3529013"/>
            <a:ext cx="69659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unknown in advance</a:t>
            </a:r>
          </a:p>
        </p:txBody>
      </p: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023938" y="4008438"/>
            <a:ext cx="4589462" cy="2805112"/>
            <a:chOff x="645" y="2659"/>
            <a:chExt cx="2891" cy="1767"/>
          </a:xfrm>
        </p:grpSpPr>
        <p:sp>
          <p:nvSpPr>
            <p:cNvPr id="9242" name="Text Box 8"/>
            <p:cNvSpPr txBox="1">
              <a:spLocks noChangeArrowheads="1"/>
            </p:cNvSpPr>
            <p:nvPr/>
          </p:nvSpPr>
          <p:spPr bwMode="auto">
            <a:xfrm>
              <a:off x="1610" y="2674"/>
              <a:ext cx="1926" cy="17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int contains(char str[], char c) {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const int False = 0, True = 1;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int found = False;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unsigned i = 0;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while (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i &lt; strlen(str) &amp;&amp; !found</a:t>
              </a:r>
              <a:r>
                <a:rPr lang="en-US" altLang="nl-BE" sz="1600">
                  <a:latin typeface="Times New Roman" pitchFamily="18" charset="0"/>
                </a:rPr>
                <a:t>)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</a:t>
              </a:r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if (str[i] == c)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found = True;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else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i++;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return found;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9243" name="Text Box 9"/>
            <p:cNvSpPr txBox="1">
              <a:spLocks noChangeArrowheads="1"/>
            </p:cNvSpPr>
            <p:nvPr/>
          </p:nvSpPr>
          <p:spPr bwMode="auto">
            <a:xfrm>
              <a:off x="645" y="2659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sp>
        <p:nvSpPr>
          <p:cNvPr id="20492" name="Text Box 12"/>
          <p:cNvSpPr txBox="1">
            <a:spLocks noChangeArrowheads="1"/>
          </p:cNvSpPr>
          <p:nvPr/>
        </p:nvSpPr>
        <p:spPr bwMode="auto">
          <a:xfrm>
            <a:off x="6011863" y="1268413"/>
            <a:ext cx="1363662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388" y="1565275"/>
            <a:ext cx="5329237" cy="1647825"/>
            <a:chOff x="179388" y="1565275"/>
            <a:chExt cx="5329237" cy="1647825"/>
          </a:xfrm>
        </p:grpSpPr>
        <p:grpSp>
          <p:nvGrpSpPr>
            <p:cNvPr id="2" name="Group 14"/>
            <p:cNvGrpSpPr>
              <a:grpSpLocks/>
            </p:cNvGrpSpPr>
            <p:nvPr/>
          </p:nvGrpSpPr>
          <p:grpSpPr bwMode="auto">
            <a:xfrm>
              <a:off x="179388" y="2297113"/>
              <a:ext cx="3763962" cy="915987"/>
              <a:chOff x="645" y="1664"/>
              <a:chExt cx="2371" cy="577"/>
            </a:xfrm>
          </p:grpSpPr>
          <p:sp>
            <p:nvSpPr>
              <p:cNvPr id="9244" name="Text Box 5"/>
              <p:cNvSpPr txBox="1">
                <a:spLocks noChangeArrowheads="1"/>
              </p:cNvSpPr>
              <p:nvPr/>
            </p:nvSpPr>
            <p:spPr bwMode="auto">
              <a:xfrm>
                <a:off x="1610" y="1664"/>
                <a:ext cx="1406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r>
                  <a:rPr lang="en-US" altLang="nl-BE" i="1">
                    <a:latin typeface="Times New Roman" pitchFamily="18" charset="0"/>
                  </a:rPr>
                  <a:t> </a:t>
                </a:r>
                <a:r>
                  <a:rPr lang="en-US" altLang="nl-BE"/>
                  <a:t>executed zero</a:t>
                </a:r>
              </a:p>
              <a:p>
                <a:pPr eaLnBrk="1" hangingPunct="1"/>
                <a:r>
                  <a:rPr lang="en-US" altLang="nl-BE"/>
                  <a:t>or more times</a:t>
                </a:r>
              </a:p>
              <a:p>
                <a:pPr eaLnBrk="1" hangingPunct="1"/>
                <a:r>
                  <a:rPr lang="en-US" altLang="nl-BE"/>
                  <a:t>while </a:t>
                </a:r>
                <a:r>
                  <a:rPr lang="en-US" altLang="nl-BE" i="1">
                    <a:latin typeface="Times New Roman" pitchFamily="18" charset="0"/>
                  </a:rPr>
                  <a:t>e</a:t>
                </a:r>
                <a:r>
                  <a:rPr lang="en-US" altLang="nl-BE" baseline="-25000">
                    <a:latin typeface="Times New Roman" pitchFamily="18" charset="0"/>
                  </a:rPr>
                  <a:t>cond</a:t>
                </a:r>
                <a:r>
                  <a:rPr lang="en-US" altLang="nl-BE"/>
                  <a:t> is true</a:t>
                </a:r>
                <a:endParaRPr lang="en-US" altLang="nl-BE" baseline="-25000"/>
              </a:p>
            </p:txBody>
          </p:sp>
          <p:sp>
            <p:nvSpPr>
              <p:cNvPr id="9245" name="Text Box 6"/>
              <p:cNvSpPr txBox="1">
                <a:spLocks noChangeArrowheads="1"/>
              </p:cNvSpPr>
              <p:nvPr/>
            </p:nvSpPr>
            <p:spPr bwMode="auto">
              <a:xfrm>
                <a:off x="645" y="1664"/>
                <a:ext cx="8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dirty="0"/>
                  <a:t>semantics:</a:t>
                </a:r>
              </a:p>
            </p:txBody>
          </p:sp>
        </p:grpSp>
        <p:grpSp>
          <p:nvGrpSpPr>
            <p:cNvPr id="4" name="Group 3"/>
            <p:cNvGrpSpPr/>
            <p:nvPr/>
          </p:nvGrpSpPr>
          <p:grpSpPr>
            <a:xfrm>
              <a:off x="3565525" y="1565275"/>
              <a:ext cx="1943100" cy="1358900"/>
              <a:chOff x="3565525" y="1565275"/>
              <a:chExt cx="1943100" cy="1358900"/>
            </a:xfrm>
          </p:grpSpPr>
          <p:sp>
            <p:nvSpPr>
              <p:cNvPr id="20497" name="AutoShape 17"/>
              <p:cNvSpPr>
                <a:spLocks noChangeArrowheads="1"/>
              </p:cNvSpPr>
              <p:nvPr/>
            </p:nvSpPr>
            <p:spPr bwMode="auto">
              <a:xfrm>
                <a:off x="3565525" y="1965325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498" name="AutoShape 18"/>
              <p:cNvSpPr>
                <a:spLocks noChangeArrowheads="1"/>
              </p:cNvSpPr>
              <p:nvPr/>
            </p:nvSpPr>
            <p:spPr bwMode="auto">
              <a:xfrm>
                <a:off x="5076825" y="2163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cxnSp>
            <p:nvCxnSpPr>
              <p:cNvPr id="20499" name="AutoShape 19"/>
              <p:cNvCxnSpPr>
                <a:cxnSpLocks noChangeShapeType="1"/>
                <a:stCxn id="20497" idx="3"/>
                <a:endCxn id="20498" idx="1"/>
              </p:cNvCxnSpPr>
              <p:nvPr/>
            </p:nvCxnSpPr>
            <p:spPr bwMode="auto">
              <a:xfrm>
                <a:off x="4718050" y="2301875"/>
                <a:ext cx="358775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0" name="Text Box 20"/>
              <p:cNvSpPr txBox="1">
                <a:spLocks noChangeArrowheads="1"/>
              </p:cNvSpPr>
              <p:nvPr/>
            </p:nvSpPr>
            <p:spPr bwMode="auto">
              <a:xfrm>
                <a:off x="3732213" y="251618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01" name="Text Box 21"/>
              <p:cNvSpPr txBox="1">
                <a:spLocks noChangeArrowheads="1"/>
              </p:cNvSpPr>
              <p:nvPr/>
            </p:nvSpPr>
            <p:spPr bwMode="auto">
              <a:xfrm>
                <a:off x="4573588" y="1908175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04" name="AutoShape 24"/>
              <p:cNvCxnSpPr>
                <a:cxnSpLocks noChangeShapeType="1"/>
                <a:endCxn id="20497" idx="0"/>
              </p:cNvCxnSpPr>
              <p:nvPr/>
            </p:nvCxnSpPr>
            <p:spPr bwMode="auto">
              <a:xfrm flipH="1">
                <a:off x="4141788" y="1565275"/>
                <a:ext cx="3175" cy="400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505" name="AutoShape 25"/>
              <p:cNvCxnSpPr>
                <a:cxnSpLocks noChangeShapeType="1"/>
                <a:stCxn id="20498" idx="0"/>
                <a:endCxn id="20497" idx="0"/>
              </p:cNvCxnSpPr>
              <p:nvPr/>
            </p:nvCxnSpPr>
            <p:spPr bwMode="auto">
              <a:xfrm rot="5400000" flipH="1">
                <a:off x="4618038" y="1489075"/>
                <a:ext cx="198438" cy="1150937"/>
              </a:xfrm>
              <a:prstGeom prst="bentConnector3">
                <a:avLst>
                  <a:gd name="adj1" fmla="val 215199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7" name="Line 27"/>
              <p:cNvSpPr>
                <a:spLocks noChangeShapeType="1"/>
              </p:cNvSpPr>
              <p:nvPr/>
            </p:nvSpPr>
            <p:spPr bwMode="auto">
              <a:xfrm>
                <a:off x="4141788" y="2636838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011863" y="1125538"/>
            <a:ext cx="2952750" cy="2341562"/>
            <a:chOff x="6011863" y="1125538"/>
            <a:chExt cx="2952750" cy="2341562"/>
          </a:xfrm>
        </p:grpSpPr>
        <p:sp>
          <p:nvSpPr>
            <p:cNvPr id="20493" name="Text Box 13"/>
            <p:cNvSpPr txBox="1">
              <a:spLocks noChangeArrowheads="1"/>
            </p:cNvSpPr>
            <p:nvPr/>
          </p:nvSpPr>
          <p:spPr bwMode="auto">
            <a:xfrm>
              <a:off x="6011863" y="2276475"/>
              <a:ext cx="2232025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 i="1">
                  <a:latin typeface="Times New Roman" pitchFamily="18" charset="0"/>
                </a:rPr>
                <a:t> </a:t>
              </a:r>
              <a:r>
                <a:rPr lang="en-US" altLang="nl-BE"/>
                <a:t>executed</a:t>
              </a:r>
            </a:p>
            <a:p>
              <a:pPr eaLnBrk="1" hangingPunct="1"/>
              <a:r>
                <a:rPr lang="en-US" altLang="nl-BE"/>
                <a:t>at least once</a:t>
              </a:r>
            </a:p>
            <a:p>
              <a:pPr eaLnBrk="1" hangingPunct="1"/>
              <a:r>
                <a:rPr lang="en-US" altLang="nl-BE"/>
                <a:t>until  </a:t>
              </a:r>
              <a:r>
                <a:rPr lang="en-US" altLang="nl-BE" i="1">
                  <a:latin typeface="Times New Roman" pitchFamily="18" charset="0"/>
                </a:rPr>
                <a:t>e</a:t>
              </a:r>
              <a:r>
                <a:rPr lang="en-US" altLang="nl-BE" baseline="-25000">
                  <a:latin typeface="Times New Roman" pitchFamily="18" charset="0"/>
                </a:rPr>
                <a:t>cond</a:t>
              </a:r>
              <a:r>
                <a:rPr lang="en-US" altLang="nl-BE"/>
                <a:t> is</a:t>
              </a:r>
            </a:p>
            <a:p>
              <a:pPr eaLnBrk="1" hangingPunct="1"/>
              <a:r>
                <a:rPr lang="en-US" altLang="nl-BE"/>
                <a:t>false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7529513" y="1125538"/>
              <a:ext cx="1435100" cy="1871662"/>
              <a:chOff x="7529513" y="1125538"/>
              <a:chExt cx="1435100" cy="1871662"/>
            </a:xfrm>
          </p:grpSpPr>
          <p:sp>
            <p:nvSpPr>
              <p:cNvPr id="20508" name="AutoShape 28"/>
              <p:cNvSpPr>
                <a:spLocks noChangeArrowheads="1"/>
              </p:cNvSpPr>
              <p:nvPr/>
            </p:nvSpPr>
            <p:spPr bwMode="auto">
              <a:xfrm>
                <a:off x="7529513" y="2038350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509" name="AutoShape 29"/>
              <p:cNvSpPr>
                <a:spLocks noChangeArrowheads="1"/>
              </p:cNvSpPr>
              <p:nvPr/>
            </p:nvSpPr>
            <p:spPr bwMode="auto">
              <a:xfrm>
                <a:off x="7889875" y="14843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7696200" y="25892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12" name="Text Box 32"/>
              <p:cNvSpPr txBox="1">
                <a:spLocks noChangeArrowheads="1"/>
              </p:cNvSpPr>
              <p:nvPr/>
            </p:nvSpPr>
            <p:spPr bwMode="auto">
              <a:xfrm>
                <a:off x="8464550" y="186848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13" name="AutoShape 33"/>
              <p:cNvCxnSpPr>
                <a:cxnSpLocks noChangeShapeType="1"/>
                <a:stCxn id="20509" idx="2"/>
                <a:endCxn id="20508" idx="0"/>
              </p:cNvCxnSpPr>
              <p:nvPr/>
            </p:nvCxnSpPr>
            <p:spPr bwMode="auto">
              <a:xfrm>
                <a:off x="8105775" y="1773238"/>
                <a:ext cx="0" cy="26511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5" name="Line 35"/>
              <p:cNvSpPr>
                <a:spLocks noChangeShapeType="1"/>
              </p:cNvSpPr>
              <p:nvPr/>
            </p:nvSpPr>
            <p:spPr bwMode="auto">
              <a:xfrm>
                <a:off x="8105775" y="2709863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20516" name="AutoShape 36"/>
              <p:cNvCxnSpPr>
                <a:cxnSpLocks noChangeShapeType="1"/>
                <a:stCxn id="20508" idx="3"/>
                <a:endCxn id="20509" idx="0"/>
              </p:cNvCxnSpPr>
              <p:nvPr/>
            </p:nvCxnSpPr>
            <p:spPr bwMode="auto">
              <a:xfrm flipH="1" flipV="1">
                <a:off x="8105775" y="1484313"/>
                <a:ext cx="576263" cy="890587"/>
              </a:xfrm>
              <a:prstGeom prst="bentConnector4">
                <a:avLst>
                  <a:gd name="adj1" fmla="val -39671"/>
                  <a:gd name="adj2" fmla="val 125667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8" name="Line 38"/>
              <p:cNvSpPr>
                <a:spLocks noChangeShapeType="1"/>
              </p:cNvSpPr>
              <p:nvPr/>
            </p:nvSpPr>
            <p:spPr bwMode="auto">
              <a:xfrm>
                <a:off x="8105775" y="1125538"/>
                <a:ext cx="0" cy="3587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6010921" y="5334719"/>
            <a:ext cx="2687639" cy="1200150"/>
            <a:chOff x="3424" y="3244"/>
            <a:chExt cx="1693" cy="756"/>
          </a:xfrm>
        </p:grpSpPr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32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751" cy="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while (1) {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        </a:t>
              </a:r>
              <a:r>
                <a:rPr lang="en-US" altLang="nl-BE" dirty="0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 dirty="0">
                <a:latin typeface="Times New Roman" pitchFamily="18" charset="0"/>
              </a:endParaRP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350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7" grpId="0" animBg="1"/>
      <p:bldP spid="2049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Break</a:t>
            </a:r>
            <a:r>
              <a:rPr lang="en-US" altLang="nl-BE" dirty="0"/>
              <a:t> &amp; </a:t>
            </a:r>
            <a:r>
              <a:rPr lang="en-US" altLang="nl-BE" dirty="0">
                <a:latin typeface="Times New Roman" pitchFamily="18" charset="0"/>
              </a:rPr>
              <a:t>continue</a:t>
            </a:r>
          </a:p>
        </p:txBody>
      </p:sp>
      <p:sp>
        <p:nvSpPr>
          <p:cNvPr id="10243" name="Text Box 8"/>
          <p:cNvSpPr txBox="1">
            <a:spLocks noChangeArrowheads="1"/>
          </p:cNvSpPr>
          <p:nvPr/>
        </p:nvSpPr>
        <p:spPr bwMode="auto">
          <a:xfrm>
            <a:off x="684213" y="1484313"/>
            <a:ext cx="30670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contains(char 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[], char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const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False = 0, True = 1;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found = False;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unsigned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for (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0;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&lt; </a:t>
            </a:r>
            <a:r>
              <a:rPr lang="en-US" altLang="nl-BE" dirty="0" err="1">
                <a:latin typeface="Times New Roman" pitchFamily="18" charset="0"/>
              </a:rPr>
              <a:t>strlen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);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++)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if 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found = True;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return found;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22540" name="Text Box 12"/>
          <p:cNvSpPr txBox="1">
            <a:spLocks noChangeArrowheads="1"/>
          </p:cNvSpPr>
          <p:nvPr/>
        </p:nvSpPr>
        <p:spPr bwMode="auto">
          <a:xfrm>
            <a:off x="4840288" y="2205038"/>
            <a:ext cx="3549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ends execution of repetition</a:t>
            </a:r>
          </a:p>
          <a:p>
            <a:pPr eaLnBrk="1" hangingPunct="1"/>
            <a:r>
              <a:rPr lang="en-US" altLang="nl-BE"/>
              <a:t>(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  <a:r>
              <a:rPr lang="en-US" altLang="nl-BE"/>
              <a:t>)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5288" y="3573463"/>
            <a:ext cx="360362" cy="647700"/>
            <a:chOff x="249" y="1888"/>
            <a:chExt cx="227" cy="408"/>
          </a:xfrm>
        </p:grpSpPr>
        <p:sp>
          <p:nvSpPr>
            <p:cNvPr id="10251" name="Line 13"/>
            <p:cNvSpPr>
              <a:spLocks noChangeShapeType="1"/>
            </p:cNvSpPr>
            <p:nvPr/>
          </p:nvSpPr>
          <p:spPr bwMode="auto">
            <a:xfrm flipH="1">
              <a:off x="249" y="1888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2" name="Line 14"/>
            <p:cNvSpPr>
              <a:spLocks noChangeShapeType="1"/>
            </p:cNvSpPr>
            <p:nvPr/>
          </p:nvSpPr>
          <p:spPr bwMode="auto">
            <a:xfrm>
              <a:off x="249" y="1888"/>
              <a:ext cx="0" cy="40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3" name="Line 15"/>
            <p:cNvSpPr>
              <a:spLocks noChangeShapeType="1"/>
            </p:cNvSpPr>
            <p:nvPr/>
          </p:nvSpPr>
          <p:spPr bwMode="auto">
            <a:xfrm>
              <a:off x="249" y="2296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5" name="Text Box 17"/>
          <p:cNvSpPr txBox="1">
            <a:spLocks noChangeArrowheads="1"/>
          </p:cNvSpPr>
          <p:nvPr/>
        </p:nvSpPr>
        <p:spPr bwMode="auto">
          <a:xfrm>
            <a:off x="4751388" y="3484563"/>
            <a:ext cx="414178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double average(double data[], int nrData)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double sum = 0.0;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unsigned i, nrNonMissing = 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for (i = 0; i &lt; nrData; i++)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if (data[i] &lt; 0)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continue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sum += data[i];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nrNonMissing++;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return sum/nrNonMissing;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6732588" y="4724400"/>
            <a:ext cx="503237" cy="360363"/>
            <a:chOff x="4241" y="2976"/>
            <a:chExt cx="317" cy="227"/>
          </a:xfrm>
        </p:grpSpPr>
        <p:sp>
          <p:nvSpPr>
            <p:cNvPr id="10249" name="Line 18"/>
            <p:cNvSpPr>
              <a:spLocks noChangeShapeType="1"/>
            </p:cNvSpPr>
            <p:nvPr/>
          </p:nvSpPr>
          <p:spPr bwMode="auto">
            <a:xfrm>
              <a:off x="4241" y="3203"/>
              <a:ext cx="31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0" name="Line 19"/>
            <p:cNvSpPr>
              <a:spLocks noChangeShapeType="1"/>
            </p:cNvSpPr>
            <p:nvPr/>
          </p:nvSpPr>
          <p:spPr bwMode="auto">
            <a:xfrm flipV="1">
              <a:off x="4558" y="2976"/>
              <a:ext cx="0" cy="227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9" name="Text Box 21"/>
          <p:cNvSpPr txBox="1">
            <a:spLocks noChangeArrowheads="1"/>
          </p:cNvSpPr>
          <p:nvPr/>
        </p:nvSpPr>
        <p:spPr bwMode="auto">
          <a:xfrm>
            <a:off x="611188" y="4659313"/>
            <a:ext cx="38671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continue</a:t>
            </a:r>
            <a:r>
              <a:rPr lang="en-US" altLang="nl-BE"/>
              <a:t> skips remaining statements</a:t>
            </a:r>
          </a:p>
          <a:p>
            <a:pPr eaLnBrk="1" hangingPunct="1"/>
            <a:r>
              <a:rPr lang="en-US" altLang="nl-BE"/>
              <a:t>and resumes at next iteration step in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322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0" grpId="0"/>
      <p:bldP spid="22545" grpId="0"/>
      <p:bldP spid="2254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Equivalence of 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and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1355725" y="1268413"/>
            <a:ext cx="20637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4524375" y="1268413"/>
            <a:ext cx="1692275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3790950" y="1603375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2" name="Text Box 8"/>
          <p:cNvSpPr txBox="1">
            <a:spLocks noChangeArrowheads="1"/>
          </p:cNvSpPr>
          <p:nvPr/>
        </p:nvSpPr>
        <p:spPr bwMode="auto">
          <a:xfrm>
            <a:off x="131763" y="3079750"/>
            <a:ext cx="345757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3" name="Text Box 9"/>
          <p:cNvSpPr txBox="1">
            <a:spLocks noChangeArrowheads="1"/>
          </p:cNvSpPr>
          <p:nvPr/>
        </p:nvSpPr>
        <p:spPr bwMode="auto">
          <a:xfrm>
            <a:off x="4519613" y="3079750"/>
            <a:ext cx="463073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  <a:br>
              <a:rPr lang="en-US" altLang="nl-BE">
                <a:latin typeface="Times New Roman" pitchFamily="18" charset="0"/>
              </a:rPr>
            </a:b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4" name="Text Box 10"/>
          <p:cNvSpPr txBox="1">
            <a:spLocks noChangeArrowheads="1"/>
          </p:cNvSpPr>
          <p:nvPr/>
        </p:nvSpPr>
        <p:spPr bwMode="auto">
          <a:xfrm>
            <a:off x="3795713" y="4484688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5" name="Line 11"/>
          <p:cNvSpPr>
            <a:spLocks noChangeShapeType="1"/>
          </p:cNvSpPr>
          <p:nvPr/>
        </p:nvSpPr>
        <p:spPr bwMode="auto">
          <a:xfrm flipH="1" flipV="1">
            <a:off x="4716463" y="1268413"/>
            <a:ext cx="1368425" cy="1368425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6636" name="Line 12"/>
          <p:cNvSpPr>
            <a:spLocks noChangeShapeType="1"/>
          </p:cNvSpPr>
          <p:nvPr/>
        </p:nvSpPr>
        <p:spPr bwMode="auto">
          <a:xfrm flipH="1" flipV="1">
            <a:off x="4643438" y="3068638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847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/>
      <p:bldP spid="26631" grpId="0"/>
      <p:bldP spid="26632" grpId="0"/>
      <p:bldP spid="26633" grpId="0"/>
      <p:bldP spid="26634" grpId="0"/>
      <p:bldP spid="26635" grpId="0" animBg="1"/>
      <p:bldP spid="2663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versus condition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107950" y="1303338"/>
            <a:ext cx="414655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for (i = 0, found = False; !found &amp;&amp; i &lt; n; i++)</a:t>
            </a:r>
            <a:br>
              <a:rPr lang="en-US" altLang="nl-BE" sz="1600">
                <a:latin typeface="Times New Roman" pitchFamily="18" charset="0"/>
              </a:rPr>
            </a:br>
            <a:r>
              <a:rPr lang="en-US" altLang="nl-BE" sz="1600"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02" name="Line 6"/>
          <p:cNvSpPr>
            <a:spLocks noChangeShapeType="1"/>
          </p:cNvSpPr>
          <p:nvPr/>
        </p:nvSpPr>
        <p:spPr bwMode="auto">
          <a:xfrm flipH="1" flipV="1">
            <a:off x="539750" y="762000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9705" name="Text Box 9"/>
          <p:cNvSpPr txBox="1">
            <a:spLocks noChangeArrowheads="1"/>
          </p:cNvSpPr>
          <p:nvPr/>
        </p:nvSpPr>
        <p:spPr bwMode="auto">
          <a:xfrm>
            <a:off x="5148263" y="1308100"/>
            <a:ext cx="2784475" cy="229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=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break;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 ?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: -1;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29706" name="Text Box 10"/>
          <p:cNvSpPr txBox="1">
            <a:spLocks noChangeArrowheads="1"/>
          </p:cNvSpPr>
          <p:nvPr/>
        </p:nvSpPr>
        <p:spPr bwMode="auto">
          <a:xfrm>
            <a:off x="4284663" y="2324100"/>
            <a:ext cx="4302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09" name="Text Box 13"/>
          <p:cNvSpPr txBox="1">
            <a:spLocks noChangeArrowheads="1"/>
          </p:cNvSpPr>
          <p:nvPr/>
        </p:nvSpPr>
        <p:spPr bwMode="auto">
          <a:xfrm>
            <a:off x="7235825" y="5516563"/>
            <a:ext cx="11969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for purists</a:t>
            </a:r>
          </a:p>
        </p:txBody>
      </p:sp>
      <p:sp>
        <p:nvSpPr>
          <p:cNvPr id="29710" name="Text Box 14"/>
          <p:cNvSpPr txBox="1">
            <a:spLocks noChangeArrowheads="1"/>
          </p:cNvSpPr>
          <p:nvPr/>
        </p:nvSpPr>
        <p:spPr bwMode="auto">
          <a:xfrm>
            <a:off x="5148263" y="3716338"/>
            <a:ext cx="3101975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 sz="1600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while (</a:t>
            </a:r>
            <a:r>
              <a:rPr lang="en-US" altLang="nl-BE" sz="1600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 sz="1600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</a:t>
            </a:r>
            <a:r>
              <a:rPr lang="en-US" altLang="nl-BE" sz="1600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11" name="Text Box 15"/>
          <p:cNvSpPr txBox="1">
            <a:spLocks noChangeArrowheads="1"/>
          </p:cNvSpPr>
          <p:nvPr/>
        </p:nvSpPr>
        <p:spPr bwMode="auto">
          <a:xfrm>
            <a:off x="4284663" y="4484688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12" name="Text Box 16"/>
          <p:cNvSpPr txBox="1">
            <a:spLocks noChangeArrowheads="1"/>
          </p:cNvSpPr>
          <p:nvPr/>
        </p:nvSpPr>
        <p:spPr bwMode="auto">
          <a:xfrm>
            <a:off x="2184400" y="3599357"/>
            <a:ext cx="2895600" cy="9842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Do whatever you</a:t>
            </a:r>
          </a:p>
          <a:p>
            <a:pPr algn="ctr" eaLnBrk="1" hangingPunct="1"/>
            <a:r>
              <a:rPr lang="en-US" altLang="nl-BE" sz="2800"/>
              <a:t>understand best!</a:t>
            </a: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539750" y="4731874"/>
            <a:ext cx="2763898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12" name="Text Box 15"/>
          <p:cNvSpPr txBox="1">
            <a:spLocks noChangeArrowheads="1"/>
          </p:cNvSpPr>
          <p:nvPr/>
        </p:nvSpPr>
        <p:spPr bwMode="auto">
          <a:xfrm>
            <a:off x="75407" y="5246945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050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5" grpId="0"/>
      <p:bldP spid="29706" grpId="0"/>
      <p:bldP spid="29709" grpId="0" animBg="1"/>
      <p:bldP spid="29710" grpId="0"/>
      <p:bldP spid="29711" grpId="0"/>
      <p:bldP spid="29712" grpId="0" animBg="1"/>
      <p:bldP spid="11" grpId="0"/>
      <p:bldP spid="1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goto</a:t>
            </a:r>
            <a:r>
              <a:rPr lang="en-US" altLang="nl-BE" dirty="0"/>
              <a:t> &amp; labels</a:t>
            </a:r>
            <a:endParaRPr lang="en-US" altLang="nl-BE" dirty="0">
              <a:latin typeface="Times New Roman" pitchFamily="18" charset="0"/>
            </a:endParaRPr>
          </a:p>
        </p:txBody>
      </p:sp>
      <p:sp>
        <p:nvSpPr>
          <p:cNvPr id="24590" name="Text Box 14"/>
          <p:cNvSpPr txBox="1">
            <a:spLocks noChangeArrowheads="1"/>
          </p:cNvSpPr>
          <p:nvPr/>
        </p:nvSpPr>
        <p:spPr bwMode="auto">
          <a:xfrm>
            <a:off x="3600450" y="4549750"/>
            <a:ext cx="2051050" cy="6794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3600" dirty="0"/>
              <a:t>no </a:t>
            </a:r>
            <a:r>
              <a:rPr lang="en-US" altLang="nl-BE" sz="3600" dirty="0" err="1">
                <a:latin typeface="Times New Roman" pitchFamily="18" charset="0"/>
              </a:rPr>
              <a:t>goto</a:t>
            </a:r>
            <a:r>
              <a:rPr lang="en-US" altLang="nl-BE" sz="3600" dirty="0"/>
              <a:t>!!!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31640" y="2300679"/>
            <a:ext cx="65678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leads to unstructured code that is hard to read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spaghetti code</a:t>
            </a:r>
            <a:endParaRPr lang="nl-BE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77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9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Functions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4, Functions &amp; program structure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9024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Rationale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structured code</a:t>
            </a:r>
          </a:p>
          <a:p>
            <a:pPr eaLnBrk="1" hangingPunct="1"/>
            <a:r>
              <a:rPr lang="en-US" altLang="nl-BE"/>
              <a:t>reuse code</a:t>
            </a:r>
          </a:p>
          <a:p>
            <a:pPr eaLnBrk="1" hangingPunct="1"/>
            <a:r>
              <a:rPr lang="en-US" altLang="nl-BE"/>
              <a:t>hide implementation details</a:t>
            </a:r>
          </a:p>
          <a:p>
            <a:pPr eaLnBrk="1" hangingPunct="1"/>
            <a:r>
              <a:rPr lang="en-US" altLang="nl-BE"/>
              <a:t>facilitate change</a:t>
            </a:r>
          </a:p>
          <a:p>
            <a:pPr eaLnBrk="1" hangingPunct="1"/>
            <a:r>
              <a:rPr lang="en-US" altLang="nl-BE"/>
              <a:t>top-down design</a:t>
            </a:r>
          </a:p>
          <a:p>
            <a:pPr eaLnBrk="1" hangingPunct="1"/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607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top level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736975" y="1268413"/>
            <a:ext cx="5227638" cy="547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double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showPrompt();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else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result = calculate(toOperator(str), op1, op2);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showResult(result);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reportError("unknown symbol");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Text Box 5"/>
          <p:cNvSpPr txBox="1">
            <a:spLocks noChangeArrowheads="1"/>
          </p:cNvSpPr>
          <p:nvPr/>
        </p:nvSpPr>
        <p:spPr bwMode="auto">
          <a:xfrm>
            <a:off x="447675" y="1576388"/>
            <a:ext cx="17843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(3 + 5)*7 – 12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postfix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3 5 + 7 * 12 -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9388" y="3284538"/>
            <a:ext cx="37401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until doomsday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see if there's a number to read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so, push it on the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read a string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it is 'q' end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else if it's an operator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take two numbers from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perform calculation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show result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put it on the stack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80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7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functions</a:t>
            </a:r>
          </a:p>
        </p:txBody>
      </p:sp>
      <p:sp>
        <p:nvSpPr>
          <p:cNvPr id="6147" name="Text Box 5"/>
          <p:cNvSpPr txBox="1">
            <a:spLocks noChangeArrowheads="1"/>
          </p:cNvSpPr>
          <p:nvPr/>
        </p:nvSpPr>
        <p:spPr bwMode="auto">
          <a:xfrm>
            <a:off x="296863" y="1268413"/>
            <a:ext cx="4321175" cy="31226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{Add = '+', Substract = '-',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Multiply = '*', Divide = '/'};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(str[0] == Add || str[0] == Substract ||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str[0] == Multiply || str[0] == Divide) &amp;&amp;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strlen(str) ==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toOperator(char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str[0];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  <a:endParaRPr lang="en-US" altLang="nl-BE" sz="1800"/>
          </a:p>
        </p:txBody>
      </p:sp>
      <p:sp>
        <p:nvSpPr>
          <p:cNvPr id="14342" name="Text Box 6"/>
          <p:cNvSpPr txBox="1">
            <a:spLocks noChangeArrowheads="1"/>
          </p:cNvSpPr>
          <p:nvPr/>
        </p:nvSpPr>
        <p:spPr bwMode="auto">
          <a:xfrm>
            <a:off x="4957763" y="1268413"/>
            <a:ext cx="4016375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calculate(enum Operator operator,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(operator)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-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Multiply: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x*y;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Divide: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x/y;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default: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reportError("undefined opeartor");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3" name="Text Box 7"/>
          <p:cNvSpPr txBox="1">
            <a:spLocks noChangeArrowheads="1"/>
          </p:cNvSpPr>
          <p:nvPr/>
        </p:nvSpPr>
        <p:spPr bwMode="auto">
          <a:xfrm>
            <a:off x="296863" y="5805488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reportError(char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printf("### error: %s\n",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4" name="Text Box 8"/>
          <p:cNvSpPr txBox="1">
            <a:spLocks noChangeArrowheads="1"/>
          </p:cNvSpPr>
          <p:nvPr/>
        </p:nvSpPr>
        <p:spPr bwMode="auto">
          <a:xfrm>
            <a:off x="296863" y="4602163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showResult(double result)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printf(" -&gt; %lf\n", 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520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2" grpId="0" animBg="1"/>
      <p:bldP spid="14343" grpId="0" animBg="1"/>
      <p:bldP spid="1434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functions</a:t>
            </a:r>
          </a:p>
        </p:txBody>
      </p:sp>
      <p:sp>
        <p:nvSpPr>
          <p:cNvPr id="7171" name="Rectangle 11"/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/>
              <a:t>general function definition: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with no parameters: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returns no result: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declaration:</a:t>
            </a:r>
          </a:p>
        </p:txBody>
      </p:sp>
      <p:sp>
        <p:nvSpPr>
          <p:cNvPr id="7172" name="Text Box 8"/>
          <p:cNvSpPr txBox="1">
            <a:spLocks noChangeArrowheads="1"/>
          </p:cNvSpPr>
          <p:nvPr/>
        </p:nvSpPr>
        <p:spPr bwMode="auto">
          <a:xfrm>
            <a:off x="1390650" y="1916113"/>
            <a:ext cx="5126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3" name="Text Box 12"/>
          <p:cNvSpPr txBox="1">
            <a:spLocks noChangeArrowheads="1"/>
          </p:cNvSpPr>
          <p:nvPr/>
        </p:nvSpPr>
        <p:spPr bwMode="auto">
          <a:xfrm>
            <a:off x="1390650" y="3213100"/>
            <a:ext cx="33162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4" name="Text Box 13"/>
          <p:cNvSpPr txBox="1">
            <a:spLocks noChangeArrowheads="1"/>
          </p:cNvSpPr>
          <p:nvPr/>
        </p:nvSpPr>
        <p:spPr bwMode="auto">
          <a:xfrm>
            <a:off x="1390650" y="4508500"/>
            <a:ext cx="450373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5" name="Text Box 14"/>
          <p:cNvSpPr txBox="1">
            <a:spLocks noChangeArrowheads="1"/>
          </p:cNvSpPr>
          <p:nvPr/>
        </p:nvSpPr>
        <p:spPr bwMode="auto">
          <a:xfrm>
            <a:off x="1390650" y="5805488"/>
            <a:ext cx="502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3" name="Text Box 15"/>
              <p:cNvSpPr txBox="1">
                <a:spLocks noChangeArrowheads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</a:rPr>
                  <a:t>f</a:t>
                </a:r>
                <a:r>
                  <a:rPr lang="en-US" altLang="nl-BE" sz="1800" dirty="0">
                    <a:latin typeface="Euclid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Symbol" panose="05050102010706020507" pitchFamily="18" charset="2"/>
                  </a:rPr>
                  <a:t>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1800" b="1" dirty="0"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(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x</a:t>
                </a:r>
                <a:r>
                  <a:rPr lang="en-US" altLang="nl-BE" sz="1800" dirty="0" err="1">
                    <a:latin typeface="Euclid" pitchFamily="18" charset="0"/>
                    <a:sym typeface="Euclid Extra" pitchFamily="18" charset="2"/>
                  </a:rPr>
                  <a:t>,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y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 </a:t>
                </a:r>
                <a:r>
                  <a:rPr lang="en-US" altLang="nl-BE" sz="1800" dirty="0">
                    <a:latin typeface="Euclid" pitchFamily="18" charset="0"/>
                    <a:sym typeface="Symbol" panose="05050102010706020507" pitchFamily="18" charset="2"/>
                  </a:rPr>
                  <a:t>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  <a:r>
                  <a:rPr lang="en-US" altLang="nl-BE" sz="18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 +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y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</a:p>
            </p:txBody>
          </p:sp>
        </mc:Choice>
        <mc:Fallback xmlns="">
          <p:sp>
            <p:nvSpPr>
              <p:cNvPr id="1742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blipFill>
                <a:blip r:embed="rId3"/>
                <a:stretch>
                  <a:fillRect l="-2787" t="-6604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6075363" y="2557463"/>
            <a:ext cx="2857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 flipH="1" flipV="1">
            <a:off x="6516688" y="2924175"/>
            <a:ext cx="13684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Line 18"/>
          <p:cNvSpPr>
            <a:spLocks noChangeShapeType="1"/>
          </p:cNvSpPr>
          <p:nvPr/>
        </p:nvSpPr>
        <p:spPr bwMode="auto">
          <a:xfrm flipV="1">
            <a:off x="7165975" y="2924175"/>
            <a:ext cx="144463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Line 19"/>
          <p:cNvSpPr>
            <a:spLocks noChangeShapeType="1"/>
          </p:cNvSpPr>
          <p:nvPr/>
        </p:nvSpPr>
        <p:spPr bwMode="auto">
          <a:xfrm flipV="1">
            <a:off x="7526338" y="2924175"/>
            <a:ext cx="6477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20"/>
          <p:cNvSpPr>
            <a:spLocks noChangeShapeType="1"/>
          </p:cNvSpPr>
          <p:nvPr/>
        </p:nvSpPr>
        <p:spPr bwMode="auto">
          <a:xfrm flipV="1">
            <a:off x="6877050" y="2852738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Rectangle 21"/>
          <p:cNvSpPr>
            <a:spLocks noChangeArrowheads="1"/>
          </p:cNvSpPr>
          <p:nvPr/>
        </p:nvSpPr>
        <p:spPr bwMode="auto">
          <a:xfrm>
            <a:off x="6084888" y="2557463"/>
            <a:ext cx="2808287" cy="96043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0" name="Text Box 22"/>
          <p:cNvSpPr txBox="1">
            <a:spLocks noChangeArrowheads="1"/>
          </p:cNvSpPr>
          <p:nvPr/>
        </p:nvSpPr>
        <p:spPr bwMode="auto">
          <a:xfrm>
            <a:off x="6075363" y="4005263"/>
            <a:ext cx="2960687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</a:t>
            </a: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x*x + y*y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31" name="Rectangle 23"/>
          <p:cNvSpPr>
            <a:spLocks noChangeArrowheads="1"/>
          </p:cNvSpPr>
          <p:nvPr/>
        </p:nvSpPr>
        <p:spPr bwMode="auto">
          <a:xfrm>
            <a:off x="6011863" y="3141663"/>
            <a:ext cx="3024187" cy="1800225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2" name="Text Box 24"/>
          <p:cNvSpPr txBox="1">
            <a:spLocks noChangeArrowheads="1"/>
          </p:cNvSpPr>
          <p:nvPr/>
        </p:nvSpPr>
        <p:spPr bwMode="auto">
          <a:xfrm>
            <a:off x="6856413" y="5032375"/>
            <a:ext cx="1098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17433" name="Text Box 25"/>
          <p:cNvSpPr txBox="1">
            <a:spLocks noChangeArrowheads="1"/>
          </p:cNvSpPr>
          <p:nvPr/>
        </p:nvSpPr>
        <p:spPr bwMode="auto">
          <a:xfrm>
            <a:off x="6732588" y="2060575"/>
            <a:ext cx="1301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declaration</a:t>
            </a:r>
          </a:p>
        </p:txBody>
      </p:sp>
      <p:sp>
        <p:nvSpPr>
          <p:cNvPr id="7187" name="TextBox 1"/>
          <p:cNvSpPr txBox="1">
            <a:spLocks noChangeArrowheads="1"/>
          </p:cNvSpPr>
          <p:nvPr/>
        </p:nvSpPr>
        <p:spPr bwMode="auto">
          <a:xfrm>
            <a:off x="2574925" y="6203950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(function signature)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933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23" grpId="0"/>
      <p:bldP spid="17424" grpId="0"/>
      <p:bldP spid="17425" grpId="0" animBg="1"/>
      <p:bldP spid="17426" grpId="0" animBg="1"/>
      <p:bldP spid="17427" grpId="0" animBg="1"/>
      <p:bldP spid="17428" grpId="0" animBg="1"/>
      <p:bldP spid="17429" grpId="0" animBg="1"/>
      <p:bldP spid="17430" grpId="0"/>
      <p:bldP spid="17431" grpId="0" animBg="1"/>
      <p:bldP spid="17432" grpId="0"/>
      <p:bldP spid="1743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Return statement</a:t>
            </a:r>
            <a:endParaRPr lang="en-US" altLang="nl-BE">
              <a:latin typeface="Times New Roman" panose="02020603050405020304" pitchFamily="18" charset="0"/>
            </a:endParaRPr>
          </a:p>
        </p:txBody>
      </p:sp>
      <p:sp>
        <p:nvSpPr>
          <p:cNvPr id="819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general form: </a:t>
            </a:r>
            <a:r>
              <a:rPr lang="en-US" altLang="nl-BE">
                <a:latin typeface="Times New Roman" panose="02020603050405020304" pitchFamily="18" charset="0"/>
              </a:rPr>
              <a:t>return </a:t>
            </a:r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lvl="1" eaLnBrk="1" hangingPunct="1"/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/>
              <a:t>will be converted to function's return type</a:t>
            </a:r>
          </a:p>
          <a:p>
            <a:pPr lvl="1" eaLnBrk="1" hangingPunct="1"/>
            <a:r>
              <a:rPr lang="en-US" altLang="nl-BE"/>
              <a:t>can be empty if return type is </a:t>
            </a:r>
            <a:r>
              <a:rPr lang="en-US" altLang="nl-BE">
                <a:latin typeface="Times New Roman" panose="02020603050405020304" pitchFamily="18" charset="0"/>
              </a:rPr>
              <a:t>void</a:t>
            </a:r>
          </a:p>
          <a:p>
            <a:pPr lvl="1" eaLnBrk="1" hangingPunct="1"/>
            <a:r>
              <a:rPr lang="en-US" altLang="nl-BE"/>
              <a:t>result can be ignored by calling function</a:t>
            </a:r>
          </a:p>
          <a:p>
            <a:pPr eaLnBrk="1" hangingPunct="1"/>
            <a:r>
              <a:rPr lang="en-US" altLang="nl-BE"/>
              <a:t>semantics:</a:t>
            </a:r>
          </a:p>
          <a:p>
            <a:pPr lvl="1" eaLnBrk="1" hangingPunct="1"/>
            <a:r>
              <a:rPr lang="en-US" altLang="nl-BE"/>
              <a:t>returns value</a:t>
            </a:r>
          </a:p>
          <a:p>
            <a:pPr lvl="1" eaLnBrk="1" hangingPunct="1"/>
            <a:r>
              <a:rPr lang="en-US" altLang="nl-BE"/>
              <a:t>returns control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64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 bldLvl="2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programs: list of variable &amp; function definitions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information passing between functions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via parameters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out via return values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via external variables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function definitions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arbitrary order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multiple files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declare before first use!!!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003800" y="3233738"/>
            <a:ext cx="3482975" cy="2835275"/>
            <a:chOff x="3152" y="2037"/>
            <a:chExt cx="2194" cy="1786"/>
          </a:xfrm>
        </p:grpSpPr>
        <p:sp>
          <p:nvSpPr>
            <p:cNvPr id="9245" name="Text Box 4"/>
            <p:cNvSpPr txBox="1">
              <a:spLocks noChangeArrowheads="1"/>
            </p:cNvSpPr>
            <p:nvPr/>
          </p:nvSpPr>
          <p:spPr bwMode="auto">
            <a:xfrm>
              <a:off x="3152" y="2037"/>
              <a:ext cx="1568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int x = f(3, 5) + f(1, -3);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9246" name="Text Box 5"/>
            <p:cNvSpPr txBox="1">
              <a:spLocks noChangeArrowheads="1"/>
            </p:cNvSpPr>
            <p:nvPr/>
          </p:nvSpPr>
          <p:spPr bwMode="auto">
            <a:xfrm>
              <a:off x="4195" y="3067"/>
              <a:ext cx="1151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f(int x, int y)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return z;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084888" y="3860800"/>
            <a:ext cx="1800225" cy="936625"/>
            <a:chOff x="3833" y="2432"/>
            <a:chExt cx="1134" cy="590"/>
          </a:xfrm>
        </p:grpSpPr>
        <p:grpSp>
          <p:nvGrpSpPr>
            <p:cNvPr id="9237" name="Group 16"/>
            <p:cNvGrpSpPr>
              <a:grpSpLocks/>
            </p:cNvGrpSpPr>
            <p:nvPr/>
          </p:nvGrpSpPr>
          <p:grpSpPr bwMode="auto">
            <a:xfrm>
              <a:off x="3833" y="2432"/>
              <a:ext cx="725" cy="590"/>
              <a:chOff x="3833" y="2432"/>
              <a:chExt cx="725" cy="590"/>
            </a:xfrm>
          </p:grpSpPr>
          <p:sp>
            <p:nvSpPr>
              <p:cNvPr id="9242" name="Line 6"/>
              <p:cNvSpPr>
                <a:spLocks noChangeShapeType="1"/>
              </p:cNvSpPr>
              <p:nvPr/>
            </p:nvSpPr>
            <p:spPr bwMode="auto">
              <a:xfrm>
                <a:off x="3833" y="2432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3" name="Line 7"/>
              <p:cNvSpPr>
                <a:spLocks noChangeShapeType="1"/>
              </p:cNvSpPr>
              <p:nvPr/>
            </p:nvSpPr>
            <p:spPr bwMode="auto">
              <a:xfrm>
                <a:off x="3833" y="2750"/>
                <a:ext cx="725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4" name="Line 8"/>
              <p:cNvSpPr>
                <a:spLocks noChangeShapeType="1"/>
              </p:cNvSpPr>
              <p:nvPr/>
            </p:nvSpPr>
            <p:spPr bwMode="auto">
              <a:xfrm>
                <a:off x="4558" y="2750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38" name="Group 17"/>
            <p:cNvGrpSpPr>
              <a:grpSpLocks/>
            </p:cNvGrpSpPr>
            <p:nvPr/>
          </p:nvGrpSpPr>
          <p:grpSpPr bwMode="auto">
            <a:xfrm>
              <a:off x="3969" y="2432"/>
              <a:ext cx="998" cy="590"/>
              <a:chOff x="3969" y="2432"/>
              <a:chExt cx="998" cy="590"/>
            </a:xfrm>
          </p:grpSpPr>
          <p:sp>
            <p:nvSpPr>
              <p:cNvPr id="9239" name="Line 9"/>
              <p:cNvSpPr>
                <a:spLocks noChangeShapeType="1"/>
              </p:cNvSpPr>
              <p:nvPr/>
            </p:nvSpPr>
            <p:spPr bwMode="auto">
              <a:xfrm>
                <a:off x="3969" y="2432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0" name="Line 10"/>
              <p:cNvSpPr>
                <a:spLocks noChangeShapeType="1"/>
              </p:cNvSpPr>
              <p:nvPr/>
            </p:nvSpPr>
            <p:spPr bwMode="auto">
              <a:xfrm>
                <a:off x="3969" y="2704"/>
                <a:ext cx="998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1" name="Line 11"/>
              <p:cNvSpPr>
                <a:spLocks noChangeShapeType="1"/>
              </p:cNvSpPr>
              <p:nvPr/>
            </p:nvSpPr>
            <p:spPr bwMode="auto">
              <a:xfrm>
                <a:off x="4967" y="2704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5972175" y="4508500"/>
            <a:ext cx="831850" cy="1152525"/>
            <a:chOff x="3762" y="2840"/>
            <a:chExt cx="524" cy="726"/>
          </a:xfrm>
        </p:grpSpPr>
        <p:sp>
          <p:nvSpPr>
            <p:cNvPr id="9235" name="Line 13"/>
            <p:cNvSpPr>
              <a:spLocks noChangeShapeType="1"/>
            </p:cNvSpPr>
            <p:nvPr/>
          </p:nvSpPr>
          <p:spPr bwMode="auto">
            <a:xfrm flipH="1">
              <a:off x="3762" y="3566"/>
              <a:ext cx="524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6" name="Line 14"/>
            <p:cNvSpPr>
              <a:spLocks noChangeShapeType="1"/>
            </p:cNvSpPr>
            <p:nvPr/>
          </p:nvSpPr>
          <p:spPr bwMode="auto">
            <a:xfrm flipV="1">
              <a:off x="3762" y="2840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0"/>
          <p:cNvGrpSpPr>
            <a:grpSpLocks/>
          </p:cNvGrpSpPr>
          <p:nvPr/>
        </p:nvGrpSpPr>
        <p:grpSpPr bwMode="auto">
          <a:xfrm>
            <a:off x="6877050" y="3860800"/>
            <a:ext cx="1150938" cy="936625"/>
            <a:chOff x="4332" y="2432"/>
            <a:chExt cx="725" cy="590"/>
          </a:xfrm>
        </p:grpSpPr>
        <p:grpSp>
          <p:nvGrpSpPr>
            <p:cNvPr id="9227" name="Group 25"/>
            <p:cNvGrpSpPr>
              <a:grpSpLocks/>
            </p:cNvGrpSpPr>
            <p:nvPr/>
          </p:nvGrpSpPr>
          <p:grpSpPr bwMode="auto">
            <a:xfrm>
              <a:off x="4332" y="2432"/>
              <a:ext cx="317" cy="590"/>
              <a:chOff x="4332" y="2432"/>
              <a:chExt cx="317" cy="590"/>
            </a:xfrm>
          </p:grpSpPr>
          <p:sp>
            <p:nvSpPr>
              <p:cNvPr id="9232" name="Line 18"/>
              <p:cNvSpPr>
                <a:spLocks noChangeShapeType="1"/>
              </p:cNvSpPr>
              <p:nvPr/>
            </p:nvSpPr>
            <p:spPr bwMode="auto">
              <a:xfrm>
                <a:off x="4332" y="2432"/>
                <a:ext cx="0" cy="227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3" name="Line 19"/>
              <p:cNvSpPr>
                <a:spLocks noChangeShapeType="1"/>
              </p:cNvSpPr>
              <p:nvPr/>
            </p:nvSpPr>
            <p:spPr bwMode="auto">
              <a:xfrm>
                <a:off x="4332" y="2659"/>
                <a:ext cx="317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4" name="Line 20"/>
              <p:cNvSpPr>
                <a:spLocks noChangeShapeType="1"/>
              </p:cNvSpPr>
              <p:nvPr/>
            </p:nvSpPr>
            <p:spPr bwMode="auto">
              <a:xfrm>
                <a:off x="4649" y="2659"/>
                <a:ext cx="0" cy="363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28" name="Group 24"/>
            <p:cNvGrpSpPr>
              <a:grpSpLocks/>
            </p:cNvGrpSpPr>
            <p:nvPr/>
          </p:nvGrpSpPr>
          <p:grpSpPr bwMode="auto">
            <a:xfrm>
              <a:off x="4558" y="2432"/>
              <a:ext cx="499" cy="590"/>
              <a:chOff x="4558" y="2432"/>
              <a:chExt cx="499" cy="590"/>
            </a:xfrm>
          </p:grpSpPr>
          <p:sp>
            <p:nvSpPr>
              <p:cNvPr id="9229" name="Line 21"/>
              <p:cNvSpPr>
                <a:spLocks noChangeShapeType="1"/>
              </p:cNvSpPr>
              <p:nvPr/>
            </p:nvSpPr>
            <p:spPr bwMode="auto">
              <a:xfrm>
                <a:off x="4558" y="2432"/>
                <a:ext cx="0" cy="182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0" name="Line 22"/>
              <p:cNvSpPr>
                <a:spLocks noChangeShapeType="1"/>
              </p:cNvSpPr>
              <p:nvPr/>
            </p:nvSpPr>
            <p:spPr bwMode="auto">
              <a:xfrm>
                <a:off x="4558" y="2614"/>
                <a:ext cx="499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1" name="Line 23"/>
              <p:cNvSpPr>
                <a:spLocks noChangeShapeType="1"/>
              </p:cNvSpPr>
              <p:nvPr/>
            </p:nvSpPr>
            <p:spPr bwMode="auto">
              <a:xfrm>
                <a:off x="5057" y="2614"/>
                <a:ext cx="0" cy="408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28"/>
          <p:cNvGrpSpPr>
            <a:grpSpLocks/>
          </p:cNvGrpSpPr>
          <p:nvPr/>
        </p:nvGrpSpPr>
        <p:grpSpPr bwMode="auto">
          <a:xfrm>
            <a:off x="6732588" y="4508500"/>
            <a:ext cx="71437" cy="1081088"/>
            <a:chOff x="4241" y="2840"/>
            <a:chExt cx="45" cy="681"/>
          </a:xfrm>
        </p:grpSpPr>
        <p:sp>
          <p:nvSpPr>
            <p:cNvPr id="9225" name="Line 26"/>
            <p:cNvSpPr>
              <a:spLocks noChangeShapeType="1"/>
            </p:cNvSpPr>
            <p:nvPr/>
          </p:nvSpPr>
          <p:spPr bwMode="auto">
            <a:xfrm flipH="1">
              <a:off x="4241" y="3521"/>
              <a:ext cx="45" cy="0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27"/>
            <p:cNvSpPr>
              <a:spLocks noChangeShapeType="1"/>
            </p:cNvSpPr>
            <p:nvPr/>
          </p:nvSpPr>
          <p:spPr bwMode="auto">
            <a:xfrm flipV="1">
              <a:off x="4241" y="2840"/>
              <a:ext cx="0" cy="68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17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flow: example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447675" y="1323975"/>
            <a:ext cx="3927475" cy="311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s1[] = "hello", s2[] = "at";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c = 'l';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pos = index(c, s1);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'%c'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pos = index(c, s2);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%c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5532438" y="4452938"/>
            <a:ext cx="29273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&lt;string.h&gt;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5" name="Line 6"/>
          <p:cNvSpPr>
            <a:spLocks noChangeShapeType="1"/>
          </p:cNvSpPr>
          <p:nvPr/>
        </p:nvSpPr>
        <p:spPr bwMode="auto">
          <a:xfrm>
            <a:off x="252413" y="4460875"/>
            <a:ext cx="8640762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833438" y="4797425"/>
            <a:ext cx="3306762" cy="368300"/>
            <a:chOff x="525" y="3022"/>
            <a:chExt cx="2083" cy="232"/>
          </a:xfrm>
        </p:grpSpPr>
        <p:sp>
          <p:nvSpPr>
            <p:cNvPr id="10280" name="Text Box 8"/>
            <p:cNvSpPr txBox="1">
              <a:spLocks noChangeArrowheads="1"/>
            </p:cNvSpPr>
            <p:nvPr/>
          </p:nvSpPr>
          <p:spPr bwMode="auto">
            <a:xfrm>
              <a:off x="525" y="302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81" name="Rectangle 9"/>
            <p:cNvSpPr>
              <a:spLocks noChangeArrowheads="1"/>
            </p:cNvSpPr>
            <p:nvPr/>
          </p:nvSpPr>
          <p:spPr bwMode="auto">
            <a:xfrm>
              <a:off x="719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2" name="Rectangle 10"/>
            <p:cNvSpPr>
              <a:spLocks noChangeArrowheads="1"/>
            </p:cNvSpPr>
            <p:nvPr/>
          </p:nvSpPr>
          <p:spPr bwMode="auto">
            <a:xfrm>
              <a:off x="1035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3" name="Rectangle 11"/>
            <p:cNvSpPr>
              <a:spLocks noChangeArrowheads="1"/>
            </p:cNvSpPr>
            <p:nvPr/>
          </p:nvSpPr>
          <p:spPr bwMode="auto">
            <a:xfrm>
              <a:off x="1346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4" name="Rectangle 12"/>
            <p:cNvSpPr>
              <a:spLocks noChangeArrowheads="1"/>
            </p:cNvSpPr>
            <p:nvPr/>
          </p:nvSpPr>
          <p:spPr bwMode="auto">
            <a:xfrm>
              <a:off x="1664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Rectangle 13"/>
            <p:cNvSpPr>
              <a:spLocks noChangeArrowheads="1"/>
            </p:cNvSpPr>
            <p:nvPr/>
          </p:nvSpPr>
          <p:spPr bwMode="auto">
            <a:xfrm>
              <a:off x="1980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6" name="Rectangle 14"/>
            <p:cNvSpPr>
              <a:spLocks noChangeArrowheads="1"/>
            </p:cNvSpPr>
            <p:nvPr/>
          </p:nvSpPr>
          <p:spPr bwMode="auto">
            <a:xfrm>
              <a:off x="2291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7" name="Text Box 15"/>
            <p:cNvSpPr txBox="1">
              <a:spLocks noChangeArrowheads="1"/>
            </p:cNvSpPr>
            <p:nvPr/>
          </p:nvSpPr>
          <p:spPr bwMode="auto">
            <a:xfrm>
              <a:off x="785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0288" name="Text Box 16"/>
            <p:cNvSpPr txBox="1">
              <a:spLocks noChangeArrowheads="1"/>
            </p:cNvSpPr>
            <p:nvPr/>
          </p:nvSpPr>
          <p:spPr bwMode="auto">
            <a:xfrm>
              <a:off x="1108" y="3023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289" name="Text Box 17"/>
            <p:cNvSpPr txBox="1">
              <a:spLocks noChangeArrowheads="1"/>
            </p:cNvSpPr>
            <p:nvPr/>
          </p:nvSpPr>
          <p:spPr bwMode="auto">
            <a:xfrm>
              <a:off x="1429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0" name="Text Box 18"/>
            <p:cNvSpPr txBox="1">
              <a:spLocks noChangeArrowheads="1"/>
            </p:cNvSpPr>
            <p:nvPr/>
          </p:nvSpPr>
          <p:spPr bwMode="auto">
            <a:xfrm>
              <a:off x="1740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1" name="Text Box 19"/>
            <p:cNvSpPr txBox="1">
              <a:spLocks noChangeArrowheads="1"/>
            </p:cNvSpPr>
            <p:nvPr/>
          </p:nvSpPr>
          <p:spPr bwMode="auto">
            <a:xfrm>
              <a:off x="2047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o</a:t>
              </a:r>
            </a:p>
          </p:txBody>
        </p:sp>
        <p:sp>
          <p:nvSpPr>
            <p:cNvPr id="10292" name="Text Box 20"/>
            <p:cNvSpPr txBox="1">
              <a:spLocks noChangeArrowheads="1"/>
            </p:cNvSpPr>
            <p:nvPr/>
          </p:nvSpPr>
          <p:spPr bwMode="auto">
            <a:xfrm>
              <a:off x="2339" y="3023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833438" y="4797425"/>
            <a:ext cx="1806575" cy="368300"/>
            <a:chOff x="525" y="3334"/>
            <a:chExt cx="1138" cy="232"/>
          </a:xfrm>
        </p:grpSpPr>
        <p:sp>
          <p:nvSpPr>
            <p:cNvPr id="10273" name="Text Box 21"/>
            <p:cNvSpPr txBox="1">
              <a:spLocks noChangeArrowheads="1"/>
            </p:cNvSpPr>
            <p:nvPr/>
          </p:nvSpPr>
          <p:spPr bwMode="auto">
            <a:xfrm>
              <a:off x="525" y="333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4" name="Rectangle 22"/>
            <p:cNvSpPr>
              <a:spLocks noChangeArrowheads="1"/>
            </p:cNvSpPr>
            <p:nvPr/>
          </p:nvSpPr>
          <p:spPr bwMode="auto">
            <a:xfrm>
              <a:off x="719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5" name="Rectangle 23"/>
            <p:cNvSpPr>
              <a:spLocks noChangeArrowheads="1"/>
            </p:cNvSpPr>
            <p:nvPr/>
          </p:nvSpPr>
          <p:spPr bwMode="auto">
            <a:xfrm>
              <a:off x="1035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6" name="Rectangle 24"/>
            <p:cNvSpPr>
              <a:spLocks noChangeArrowheads="1"/>
            </p:cNvSpPr>
            <p:nvPr/>
          </p:nvSpPr>
          <p:spPr bwMode="auto">
            <a:xfrm>
              <a:off x="1346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785" y="3335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278" name="Text Box 29"/>
            <p:cNvSpPr txBox="1">
              <a:spLocks noChangeArrowheads="1"/>
            </p:cNvSpPr>
            <p:nvPr/>
          </p:nvSpPr>
          <p:spPr bwMode="auto">
            <a:xfrm>
              <a:off x="1108" y="3335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0279" name="Text Box 30"/>
            <p:cNvSpPr txBox="1">
              <a:spLocks noChangeArrowheads="1"/>
            </p:cNvSpPr>
            <p:nvPr/>
          </p:nvSpPr>
          <p:spPr bwMode="auto">
            <a:xfrm>
              <a:off x="1394" y="3335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4" name="Group 42"/>
          <p:cNvGrpSpPr>
            <a:grpSpLocks/>
          </p:cNvGrpSpPr>
          <p:nvPr/>
        </p:nvGrpSpPr>
        <p:grpSpPr bwMode="auto">
          <a:xfrm>
            <a:off x="833438" y="5300663"/>
            <a:ext cx="811212" cy="368300"/>
            <a:chOff x="525" y="3652"/>
            <a:chExt cx="511" cy="232"/>
          </a:xfrm>
        </p:grpSpPr>
        <p:sp>
          <p:nvSpPr>
            <p:cNvPr id="10270" name="Text Box 34"/>
            <p:cNvSpPr txBox="1">
              <a:spLocks noChangeArrowheads="1"/>
            </p:cNvSpPr>
            <p:nvPr/>
          </p:nvSpPr>
          <p:spPr bwMode="auto">
            <a:xfrm>
              <a:off x="525" y="365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1" name="Rectangle 35"/>
            <p:cNvSpPr>
              <a:spLocks noChangeArrowheads="1"/>
            </p:cNvSpPr>
            <p:nvPr/>
          </p:nvSpPr>
          <p:spPr bwMode="auto">
            <a:xfrm>
              <a:off x="719" y="368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2" name="Text Box 36"/>
            <p:cNvSpPr txBox="1">
              <a:spLocks noChangeArrowheads="1"/>
            </p:cNvSpPr>
            <p:nvPr/>
          </p:nvSpPr>
          <p:spPr bwMode="auto">
            <a:xfrm>
              <a:off x="785" y="365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866775" y="5803900"/>
            <a:ext cx="777875" cy="366713"/>
            <a:chOff x="546" y="3969"/>
            <a:chExt cx="490" cy="231"/>
          </a:xfrm>
        </p:grpSpPr>
        <p:sp>
          <p:nvSpPr>
            <p:cNvPr id="10268" name="Text Box 37"/>
            <p:cNvSpPr txBox="1">
              <a:spLocks noChangeArrowheads="1"/>
            </p:cNvSpPr>
            <p:nvPr/>
          </p:nvSpPr>
          <p:spPr bwMode="auto">
            <a:xfrm>
              <a:off x="546" y="39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69" name="Rectangle 38"/>
            <p:cNvSpPr>
              <a:spLocks noChangeArrowheads="1"/>
            </p:cNvSpPr>
            <p:nvPr/>
          </p:nvSpPr>
          <p:spPr bwMode="auto">
            <a:xfrm>
              <a:off x="719" y="4004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61479" name="Text Box 39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1484" name="Text Box 44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485" name="Text Box 45"/>
          <p:cNvSpPr txBox="1">
            <a:spLocks noChangeArrowheads="1"/>
          </p:cNvSpPr>
          <p:nvPr/>
        </p:nvSpPr>
        <p:spPr bwMode="auto">
          <a:xfrm>
            <a:off x="1243013" y="5805488"/>
            <a:ext cx="360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1487" name="Line 47"/>
          <p:cNvSpPr>
            <a:spLocks noChangeShapeType="1"/>
          </p:cNvSpPr>
          <p:nvPr/>
        </p:nvSpPr>
        <p:spPr bwMode="auto">
          <a:xfrm>
            <a:off x="107950" y="2636838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8" name="Line 48"/>
          <p:cNvSpPr>
            <a:spLocks noChangeShapeType="1"/>
          </p:cNvSpPr>
          <p:nvPr/>
        </p:nvSpPr>
        <p:spPr bwMode="auto">
          <a:xfrm>
            <a:off x="107950" y="292417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9" name="Line 49"/>
          <p:cNvSpPr>
            <a:spLocks noChangeShapeType="1"/>
          </p:cNvSpPr>
          <p:nvPr/>
        </p:nvSpPr>
        <p:spPr bwMode="auto">
          <a:xfrm>
            <a:off x="107950" y="32131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0" name="Line 50"/>
          <p:cNvSpPr>
            <a:spLocks noChangeShapeType="1"/>
          </p:cNvSpPr>
          <p:nvPr/>
        </p:nvSpPr>
        <p:spPr bwMode="auto">
          <a:xfrm>
            <a:off x="107950" y="347662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1" name="Line 51"/>
          <p:cNvSpPr>
            <a:spLocks noChangeShapeType="1"/>
          </p:cNvSpPr>
          <p:nvPr/>
        </p:nvSpPr>
        <p:spPr bwMode="auto">
          <a:xfrm>
            <a:off x="107950" y="3732213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2" name="Line 52"/>
          <p:cNvSpPr>
            <a:spLocks noChangeShapeType="1"/>
          </p:cNvSpPr>
          <p:nvPr/>
        </p:nvSpPr>
        <p:spPr bwMode="auto">
          <a:xfrm>
            <a:off x="107950" y="42926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3" name="Line 53"/>
          <p:cNvSpPr>
            <a:spLocks noChangeShapeType="1"/>
          </p:cNvSpPr>
          <p:nvPr/>
        </p:nvSpPr>
        <p:spPr bwMode="auto">
          <a:xfrm>
            <a:off x="5148263" y="494188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4" name="Line 54"/>
          <p:cNvSpPr>
            <a:spLocks noChangeShapeType="1"/>
          </p:cNvSpPr>
          <p:nvPr/>
        </p:nvSpPr>
        <p:spPr bwMode="auto">
          <a:xfrm>
            <a:off x="5148263" y="52292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5" name="Line 55"/>
          <p:cNvSpPr>
            <a:spLocks noChangeShapeType="1"/>
          </p:cNvSpPr>
          <p:nvPr/>
        </p:nvSpPr>
        <p:spPr bwMode="auto">
          <a:xfrm>
            <a:off x="5148263" y="5484813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6" name="Line 56"/>
          <p:cNvSpPr>
            <a:spLocks noChangeShapeType="1"/>
          </p:cNvSpPr>
          <p:nvPr/>
        </p:nvSpPr>
        <p:spPr bwMode="auto">
          <a:xfrm>
            <a:off x="5148263" y="57737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7" name="Line 57"/>
          <p:cNvSpPr>
            <a:spLocks noChangeShapeType="1"/>
          </p:cNvSpPr>
          <p:nvPr/>
        </p:nvSpPr>
        <p:spPr bwMode="auto">
          <a:xfrm>
            <a:off x="5148263" y="60531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8" name="Line 58"/>
          <p:cNvSpPr>
            <a:spLocks noChangeShapeType="1"/>
          </p:cNvSpPr>
          <p:nvPr/>
        </p:nvSpPr>
        <p:spPr bwMode="auto">
          <a:xfrm>
            <a:off x="5148263" y="63087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9" name="Line 59"/>
          <p:cNvSpPr>
            <a:spLocks noChangeShapeType="1"/>
          </p:cNvSpPr>
          <p:nvPr/>
        </p:nvSpPr>
        <p:spPr bwMode="auto">
          <a:xfrm>
            <a:off x="5148263" y="6597650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1" name="Text Box 61"/>
          <p:cNvSpPr txBox="1">
            <a:spLocks noChangeArrowheads="1"/>
          </p:cNvSpPr>
          <p:nvPr/>
        </p:nvSpPr>
        <p:spPr bwMode="auto">
          <a:xfrm>
            <a:off x="6064250" y="2984500"/>
            <a:ext cx="14001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found 'l' at 2</a:t>
            </a:r>
          </a:p>
        </p:txBody>
      </p:sp>
      <p:sp>
        <p:nvSpPr>
          <p:cNvPr id="61502" name="Line 62"/>
          <p:cNvSpPr>
            <a:spLocks noChangeShapeType="1"/>
          </p:cNvSpPr>
          <p:nvPr/>
        </p:nvSpPr>
        <p:spPr bwMode="auto">
          <a:xfrm>
            <a:off x="4716463" y="3189288"/>
            <a:ext cx="935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167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 nodeType="clickPar">
                      <p:stCondLst>
                        <p:cond delay="indefinite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 nodeType="clickPar">
                      <p:stCondLst>
                        <p:cond delay="indefinite"/>
                      </p:stCondLst>
                      <p:childTnLst>
                        <p:par>
                          <p:cTn id="1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9" grpId="0"/>
      <p:bldP spid="61479" grpId="1"/>
      <p:bldP spid="61479" grpId="2"/>
      <p:bldP spid="61479" grpId="3"/>
      <p:bldP spid="61484" grpId="0"/>
      <p:bldP spid="61484" grpId="1"/>
      <p:bldP spid="61484" grpId="2"/>
      <p:bldP spid="61484" grpId="3"/>
      <p:bldP spid="61485" grpId="0"/>
      <p:bldP spid="61485" grpId="1"/>
      <p:bldP spid="61485" grpId="2"/>
      <p:bldP spid="61485" grpId="3"/>
      <p:bldP spid="61487" grpId="0" animBg="1"/>
      <p:bldP spid="61487" grpId="1" animBg="1"/>
      <p:bldP spid="61488" grpId="0" animBg="1"/>
      <p:bldP spid="61488" grpId="1" animBg="1"/>
      <p:bldP spid="61489" grpId="0" animBg="1"/>
      <p:bldP spid="61489" grpId="1" animBg="1"/>
      <p:bldP spid="61490" grpId="0" animBg="1"/>
      <p:bldP spid="61490" grpId="1" animBg="1"/>
      <p:bldP spid="61491" grpId="0" animBg="1"/>
      <p:bldP spid="61491" grpId="1" animBg="1"/>
      <p:bldP spid="61492" grpId="0" animBg="1"/>
      <p:bldP spid="61493" grpId="0" animBg="1"/>
      <p:bldP spid="61493" grpId="1" animBg="1"/>
      <p:bldP spid="61493" grpId="2" animBg="1"/>
      <p:bldP spid="61493" grpId="3" animBg="1"/>
      <p:bldP spid="61494" grpId="0" animBg="1"/>
      <p:bldP spid="61494" grpId="1" animBg="1"/>
      <p:bldP spid="61494" grpId="2" animBg="1"/>
      <p:bldP spid="61494" grpId="3" animBg="1"/>
      <p:bldP spid="61495" grpId="0" animBg="1"/>
      <p:bldP spid="61495" grpId="1" animBg="1"/>
      <p:bldP spid="61495" grpId="2" animBg="1"/>
      <p:bldP spid="61495" grpId="3" animBg="1"/>
      <p:bldP spid="61495" grpId="4" animBg="1"/>
      <p:bldP spid="61495" grpId="5" animBg="1"/>
      <p:bldP spid="61495" grpId="6" animBg="1"/>
      <p:bldP spid="61495" grpId="7" animBg="1"/>
      <p:bldP spid="61495" grpId="8" animBg="1"/>
      <p:bldP spid="61495" grpId="9" animBg="1"/>
      <p:bldP spid="61495" grpId="10" animBg="1"/>
      <p:bldP spid="61495" grpId="11" animBg="1"/>
      <p:bldP spid="61496" grpId="0" animBg="1"/>
      <p:bldP spid="61496" grpId="1" animBg="1"/>
      <p:bldP spid="61496" grpId="2" animBg="1"/>
      <p:bldP spid="61496" grpId="3" animBg="1"/>
      <p:bldP spid="61496" grpId="4" animBg="1"/>
      <p:bldP spid="61496" grpId="5" animBg="1"/>
      <p:bldP spid="61496" grpId="6" animBg="1"/>
      <p:bldP spid="61496" grpId="7" animBg="1"/>
      <p:bldP spid="61496" grpId="8" animBg="1"/>
      <p:bldP spid="61496" grpId="9" animBg="1"/>
      <p:bldP spid="61497" grpId="0" animBg="1"/>
      <p:bldP spid="61497" grpId="1" animBg="1"/>
      <p:bldP spid="61498" grpId="0" animBg="1"/>
      <p:bldP spid="61498" grpId="1" animBg="1"/>
      <p:bldP spid="61499" grpId="0" animBg="1"/>
      <p:bldP spid="61499" grpId="1" animBg="1"/>
      <p:bldP spid="61499" grpId="2" animBg="1"/>
      <p:bldP spid="61499" grpId="3" animBg="1"/>
      <p:bldP spid="61501" grpId="0"/>
      <p:bldP spid="6150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Single versus multiple </a:t>
            </a:r>
            <a:r>
              <a:rPr lang="en-US" altLang="nl-BE">
                <a:latin typeface="Times New Roman" panose="02020603050405020304" pitchFamily="18" charset="0"/>
              </a:rPr>
              <a:t>return</a:t>
            </a:r>
            <a:r>
              <a:rPr lang="en-US" altLang="nl-BE"/>
              <a:t>s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611188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4079875" y="2092325"/>
            <a:ext cx="42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0" name="Text Box 8"/>
          <p:cNvSpPr txBox="1">
            <a:spLocks noChangeArrowheads="1"/>
          </p:cNvSpPr>
          <p:nvPr/>
        </p:nvSpPr>
        <p:spPr bwMode="auto">
          <a:xfrm>
            <a:off x="4864100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 &lt; strlen(s) ? i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1" name="Text Box 9"/>
          <p:cNvSpPr txBox="1">
            <a:spLocks noChangeArrowheads="1"/>
          </p:cNvSpPr>
          <p:nvPr/>
        </p:nvSpPr>
        <p:spPr bwMode="auto">
          <a:xfrm>
            <a:off x="4075113" y="4381500"/>
            <a:ext cx="420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2" name="Text Box 10"/>
          <p:cNvSpPr txBox="1">
            <a:spLocks noChangeArrowheads="1"/>
          </p:cNvSpPr>
          <p:nvPr/>
        </p:nvSpPr>
        <p:spPr bwMode="auto">
          <a:xfrm>
            <a:off x="4859338" y="3830638"/>
            <a:ext cx="4006850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i, pos;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found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 &amp;&amp; !found;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pos =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found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found ? pos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3" name="Text Box 11"/>
          <p:cNvSpPr txBox="1">
            <a:spLocks noChangeArrowheads="1"/>
          </p:cNvSpPr>
          <p:nvPr/>
        </p:nvSpPr>
        <p:spPr bwMode="auto">
          <a:xfrm>
            <a:off x="7667625" y="2708275"/>
            <a:ext cx="11969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purists</a:t>
            </a:r>
          </a:p>
        </p:txBody>
      </p:sp>
      <p:sp>
        <p:nvSpPr>
          <p:cNvPr id="64524" name="Text Box 12"/>
          <p:cNvSpPr txBox="1">
            <a:spLocks noChangeArrowheads="1"/>
          </p:cNvSpPr>
          <p:nvPr/>
        </p:nvSpPr>
        <p:spPr bwMode="auto">
          <a:xfrm>
            <a:off x="7731125" y="5681663"/>
            <a:ext cx="11334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fundis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/>
        </p:nvSpPr>
        <p:spPr bwMode="auto">
          <a:xfrm>
            <a:off x="539750" y="5397500"/>
            <a:ext cx="2895600" cy="98425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Do whatever you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understand best!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9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539750" y="2411413"/>
            <a:ext cx="3744913" cy="42576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39750" y="1295400"/>
            <a:ext cx="7656513" cy="5319713"/>
            <a:chOff x="340" y="816"/>
            <a:chExt cx="4823" cy="3351"/>
          </a:xfrm>
        </p:grpSpPr>
        <p:sp>
          <p:nvSpPr>
            <p:cNvPr id="12293" name="Text Box 5"/>
            <p:cNvSpPr txBox="1">
              <a:spLocks noChangeArrowheads="1"/>
            </p:cNvSpPr>
            <p:nvPr/>
          </p:nvSpPr>
          <p:spPr bwMode="auto">
            <a:xfrm>
              <a:off x="340" y="816"/>
              <a:ext cx="2359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= -1;</a:t>
              </a:r>
            </a:p>
          </p:txBody>
        </p:sp>
        <p:sp>
          <p:nvSpPr>
            <p:cNvPr id="12294" name="Text Box 6"/>
            <p:cNvSpPr txBox="1">
              <a:spLocks noChangeArrowheads="1"/>
            </p:cNvSpPr>
            <p:nvPr/>
          </p:nvSpPr>
          <p:spPr bwMode="auto">
            <a:xfrm>
              <a:off x="3016" y="816"/>
              <a:ext cx="2147" cy="335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(stackTop + 1 &lt; MaxSize)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/>
                <a:t>++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full");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(!isEmpty())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--];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empty");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583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variables: properties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internal variables are local to function</a:t>
            </a:r>
          </a:p>
          <a:p>
            <a:pPr lvl="1" eaLnBrk="1" hangingPunct="1"/>
            <a:r>
              <a:rPr lang="en-US" altLang="nl-BE"/>
              <a:t>only exist during function call</a:t>
            </a:r>
          </a:p>
          <a:p>
            <a:pPr eaLnBrk="1" hangingPunct="1"/>
            <a:r>
              <a:rPr lang="en-US" altLang="nl-BE"/>
              <a:t>external variables are global</a:t>
            </a:r>
          </a:p>
          <a:p>
            <a:pPr lvl="1" eaLnBrk="1" hangingPunct="1"/>
            <a:r>
              <a:rPr lang="en-US" altLang="nl-BE"/>
              <a:t>(usually) bad alternative for function arguments</a:t>
            </a:r>
          </a:p>
          <a:p>
            <a:pPr lvl="1" eaLnBrk="1" hangingPunct="1"/>
            <a:r>
              <a:rPr lang="en-US" altLang="nl-BE"/>
              <a:t>can be used by multiple functions</a:t>
            </a:r>
          </a:p>
          <a:p>
            <a:pPr lvl="1" eaLnBrk="1" hangingPunct="1"/>
            <a:r>
              <a:rPr lang="en-US" altLang="nl-BE"/>
              <a:t>keep values between calls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250825" y="5734050"/>
            <a:ext cx="8641655" cy="46166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/>
              <a:t>There's almost always a better alternative to external variables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604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 or function</a:t>
            </a:r>
          </a:p>
          <a:p>
            <a:pPr lvl="1" eaLnBrk="1" hangingPunct="1"/>
            <a:r>
              <a:rPr lang="en-US" altLang="nl-BE"/>
              <a:t>can be used from declaration till end of file</a:t>
            </a:r>
          </a:p>
          <a:p>
            <a:pPr eaLnBrk="1" hangingPunct="1"/>
            <a:r>
              <a:rPr lang="en-US" altLang="nl-BE"/>
              <a:t>internal variables</a:t>
            </a:r>
          </a:p>
          <a:p>
            <a:pPr lvl="1" eaLnBrk="1" hangingPunct="1"/>
            <a:r>
              <a:rPr lang="en-US" altLang="nl-BE"/>
              <a:t>can be used from definition till end of block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2719388" y="3860800"/>
            <a:ext cx="142398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    int i</a:t>
            </a:r>
            <a:r>
              <a:rPr lang="en-US" altLang="nl-BE" sz="1800">
                <a:latin typeface="Times New Roman" panose="02020603050405020304" pitchFamily="18" charset="0"/>
              </a:rPr>
              <a:t> = 3;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int i</a:t>
            </a:r>
            <a:r>
              <a:rPr lang="en-US" altLang="nl-BE" sz="1800">
                <a:latin typeface="Times New Roman" panose="02020603050405020304" pitchFamily="18" charset="0"/>
              </a:rPr>
              <a:t> = 5;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4341" name="Group 5"/>
          <p:cNvGrpSpPr>
            <a:grpSpLocks/>
          </p:cNvGrpSpPr>
          <p:nvPr/>
        </p:nvGrpSpPr>
        <p:grpSpPr bwMode="auto">
          <a:xfrm>
            <a:off x="1547813" y="4294188"/>
            <a:ext cx="955675" cy="503237"/>
            <a:chOff x="1507" y="2705"/>
            <a:chExt cx="602" cy="317"/>
          </a:xfrm>
        </p:grpSpPr>
        <p:sp>
          <p:nvSpPr>
            <p:cNvPr id="14349" name="AutoShape 6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50" name="Text Box 7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2" name="Group 8"/>
          <p:cNvGrpSpPr>
            <a:grpSpLocks/>
          </p:cNvGrpSpPr>
          <p:nvPr/>
        </p:nvGrpSpPr>
        <p:grpSpPr bwMode="auto">
          <a:xfrm>
            <a:off x="1547813" y="5949950"/>
            <a:ext cx="955675" cy="503238"/>
            <a:chOff x="1507" y="2705"/>
            <a:chExt cx="602" cy="317"/>
          </a:xfrm>
        </p:grpSpPr>
        <p:sp>
          <p:nvSpPr>
            <p:cNvPr id="14347" name="AutoShape 9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8" name="Text Box 10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3" name="Group 11"/>
          <p:cNvGrpSpPr>
            <a:grpSpLocks/>
          </p:cNvGrpSpPr>
          <p:nvPr/>
        </p:nvGrpSpPr>
        <p:grpSpPr bwMode="auto">
          <a:xfrm>
            <a:off x="4519613" y="5013325"/>
            <a:ext cx="1012825" cy="576263"/>
            <a:chOff x="3379" y="3158"/>
            <a:chExt cx="638" cy="363"/>
          </a:xfrm>
        </p:grpSpPr>
        <p:sp>
          <p:nvSpPr>
            <p:cNvPr id="14345" name="AutoShape 12"/>
            <p:cNvSpPr>
              <a:spLocks/>
            </p:cNvSpPr>
            <p:nvPr/>
          </p:nvSpPr>
          <p:spPr bwMode="auto">
            <a:xfrm>
              <a:off x="3379" y="3158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3555" y="3219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5</a:t>
              </a:r>
            </a:p>
          </p:txBody>
        </p:sp>
      </p:grpSp>
      <p:sp>
        <p:nvSpPr>
          <p:cNvPr id="14344" name="Text Box 14"/>
          <p:cNvSpPr txBox="1">
            <a:spLocks noChangeArrowheads="1"/>
          </p:cNvSpPr>
          <p:nvPr/>
        </p:nvSpPr>
        <p:spPr bwMode="auto">
          <a:xfrm>
            <a:off x="6084888" y="5661025"/>
            <a:ext cx="2551112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don't tempt fate!!!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698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  <p:bldP spid="14340" grpId="0"/>
      <p:bldP spid="1434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external variables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468313" y="1625600"/>
            <a:ext cx="3168650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double stack[80];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int stackTop = -1;</a:t>
            </a: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468313" y="2997200"/>
            <a:ext cx="3170237" cy="2847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isEmpty(void)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stackTop &lt;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push(double element)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double stack[];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    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stack[++stackTop] = element;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5365" name="Line 6"/>
          <p:cNvSpPr>
            <a:spLocks noChangeShapeType="1"/>
          </p:cNvSpPr>
          <p:nvPr/>
        </p:nvSpPr>
        <p:spPr bwMode="auto">
          <a:xfrm flipH="1" flipV="1">
            <a:off x="2843213" y="3573463"/>
            <a:ext cx="1657350" cy="5048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6" name="Line 7"/>
          <p:cNvSpPr>
            <a:spLocks noChangeShapeType="1"/>
          </p:cNvSpPr>
          <p:nvPr/>
        </p:nvSpPr>
        <p:spPr bwMode="auto">
          <a:xfrm flipH="1">
            <a:off x="2987675" y="4365625"/>
            <a:ext cx="1584325" cy="6477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7" name="Line 8"/>
          <p:cNvSpPr>
            <a:spLocks noChangeShapeType="1"/>
          </p:cNvSpPr>
          <p:nvPr/>
        </p:nvSpPr>
        <p:spPr bwMode="auto">
          <a:xfrm flipH="1">
            <a:off x="2627313" y="2057400"/>
            <a:ext cx="1800225" cy="0"/>
          </a:xfrm>
          <a:prstGeom prst="line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8" name="Text Box 9"/>
          <p:cNvSpPr txBox="1">
            <a:spLocks noChangeArrowheads="1"/>
          </p:cNvSpPr>
          <p:nvPr/>
        </p:nvSpPr>
        <p:spPr bwMode="auto">
          <a:xfrm>
            <a:off x="4767263" y="3952875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5369" name="Text Box 10"/>
          <p:cNvSpPr txBox="1">
            <a:spLocks noChangeArrowheads="1"/>
          </p:cNvSpPr>
          <p:nvPr/>
        </p:nvSpPr>
        <p:spPr bwMode="auto">
          <a:xfrm>
            <a:off x="4716463" y="1835150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</a:rPr>
              <a:t>definitions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05995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multiple files</a:t>
            </a:r>
          </a:p>
        </p:txBody>
      </p:sp>
      <p:grpSp>
        <p:nvGrpSpPr>
          <p:cNvPr id="16387" name="Group 16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6398" name="Text Box 5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6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could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(),  op1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399" name="Text Box 8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8" name="Group 12"/>
          <p:cNvGrpSpPr>
            <a:grpSpLocks/>
          </p:cNvGrpSpPr>
          <p:nvPr/>
        </p:nvGrpSpPr>
        <p:grpSpPr bwMode="auto">
          <a:xfrm>
            <a:off x="5865813" y="1308100"/>
            <a:ext cx="3168650" cy="1363663"/>
            <a:chOff x="3106" y="795"/>
            <a:chExt cx="1996" cy="859"/>
          </a:xfrm>
        </p:grpSpPr>
        <p:sp>
          <p:nvSpPr>
            <p:cNvPr id="16396" name="Text Box 6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6397" name="Text Box 9"/>
            <p:cNvSpPr txBox="1">
              <a:spLocks noChangeArrowheads="1"/>
            </p:cNvSpPr>
            <p:nvPr/>
          </p:nvSpPr>
          <p:spPr bwMode="auto">
            <a:xfrm>
              <a:off x="3107" y="795"/>
              <a:ext cx="7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9" name="Group 13"/>
          <p:cNvGrpSpPr>
            <a:grpSpLocks/>
          </p:cNvGrpSpPr>
          <p:nvPr/>
        </p:nvGrpSpPr>
        <p:grpSpPr bwMode="auto">
          <a:xfrm>
            <a:off x="5846763" y="3141663"/>
            <a:ext cx="3189287" cy="3541712"/>
            <a:chOff x="3094" y="1752"/>
            <a:chExt cx="2009" cy="2231"/>
          </a:xfrm>
        </p:grpSpPr>
        <p:sp>
          <p:nvSpPr>
            <p:cNvPr id="16394" name="Text Box 7"/>
            <p:cNvSpPr txBox="1">
              <a:spLocks noChangeArrowheads="1"/>
            </p:cNvSpPr>
            <p:nvPr/>
          </p:nvSpPr>
          <p:spPr bwMode="auto">
            <a:xfrm>
              <a:off x="3106" y="2016"/>
              <a:ext cx="199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8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stack[MaxSize];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6395" name="Text Box 10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6390" name="Text Box 14"/>
          <p:cNvSpPr txBox="1">
            <a:spLocks noChangeArrowheads="1"/>
          </p:cNvSpPr>
          <p:nvPr/>
        </p:nvSpPr>
        <p:spPr bwMode="auto">
          <a:xfrm>
            <a:off x="4140200" y="2997200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6391" name="Line 17"/>
          <p:cNvSpPr>
            <a:spLocks noChangeShapeType="1"/>
          </p:cNvSpPr>
          <p:nvPr/>
        </p:nvSpPr>
        <p:spPr bwMode="auto">
          <a:xfrm flipH="1" flipV="1">
            <a:off x="1908175" y="2060575"/>
            <a:ext cx="2159000" cy="10795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18"/>
          <p:cNvSpPr>
            <a:spLocks noChangeShapeType="1"/>
          </p:cNvSpPr>
          <p:nvPr/>
        </p:nvSpPr>
        <p:spPr bwMode="auto">
          <a:xfrm>
            <a:off x="5508625" y="3357563"/>
            <a:ext cx="1511300" cy="287337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19"/>
          <p:cNvSpPr>
            <a:spLocks noChangeShapeType="1"/>
          </p:cNvSpPr>
          <p:nvPr/>
        </p:nvSpPr>
        <p:spPr bwMode="auto">
          <a:xfrm flipV="1">
            <a:off x="5364163" y="2420938"/>
            <a:ext cx="431800" cy="5762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738529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exactly one definition</a:t>
            </a:r>
          </a:p>
          <a:p>
            <a:pPr eaLnBrk="1" hangingPunct="1"/>
            <a:r>
              <a:rPr lang="en-US" altLang="nl-BE"/>
              <a:t>possibly many declarations</a:t>
            </a:r>
          </a:p>
          <a:p>
            <a:pPr eaLnBrk="1" hangingPunct="1"/>
            <a:r>
              <a:rPr lang="en-US" altLang="nl-BE"/>
              <a:t>array size is</a:t>
            </a:r>
          </a:p>
          <a:p>
            <a:pPr lvl="1" eaLnBrk="1" hangingPunct="1"/>
            <a:r>
              <a:rPr lang="en-US" altLang="nl-BE"/>
              <a:t>optional in declaration</a:t>
            </a:r>
          </a:p>
          <a:p>
            <a:pPr lvl="1" eaLnBrk="1" hangingPunct="1"/>
            <a:r>
              <a:rPr lang="en-US" altLang="nl-BE"/>
              <a:t>mandatory in definition</a:t>
            </a:r>
          </a:p>
          <a:p>
            <a:pPr eaLnBrk="1" hangingPunct="1"/>
            <a:r>
              <a:rPr lang="en-US" altLang="nl-BE"/>
              <a:t>variable initialization only in definition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446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external variables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8444" name="Text Box 4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can't</a:t>
              </a:r>
              <a:r>
                <a:rPr lang="en-US" altLang="nl-BE" sz="1600">
                  <a:latin typeface="Times New Roman" panose="02020603050405020304" pitchFamily="18" charset="0"/>
                </a:rPr>
                <a:t>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push(x);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pop(),  op1 = pop();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push(result);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45" name="Text Box 5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6" name="Group 6"/>
          <p:cNvGrpSpPr>
            <a:grpSpLocks/>
          </p:cNvGrpSpPr>
          <p:nvPr/>
        </p:nvGrpSpPr>
        <p:grpSpPr bwMode="auto">
          <a:xfrm>
            <a:off x="5580063" y="1308100"/>
            <a:ext cx="3455987" cy="1363663"/>
            <a:chOff x="3106" y="795"/>
            <a:chExt cx="1996" cy="859"/>
          </a:xfrm>
        </p:grpSpPr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8443" name="Text Box 8"/>
            <p:cNvSpPr txBox="1">
              <a:spLocks noChangeArrowheads="1"/>
            </p:cNvSpPr>
            <p:nvPr/>
          </p:nvSpPr>
          <p:spPr bwMode="auto">
            <a:xfrm>
              <a:off x="3107" y="795"/>
              <a:ext cx="71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7" name="Group 9"/>
          <p:cNvGrpSpPr>
            <a:grpSpLocks/>
          </p:cNvGrpSpPr>
          <p:nvPr/>
        </p:nvGrpSpPr>
        <p:grpSpPr bwMode="auto">
          <a:xfrm>
            <a:off x="5513388" y="2982913"/>
            <a:ext cx="3522662" cy="3541712"/>
            <a:chOff x="3094" y="1752"/>
            <a:chExt cx="2219" cy="2231"/>
          </a:xfrm>
        </p:grpSpPr>
        <p:sp>
          <p:nvSpPr>
            <p:cNvPr id="18440" name="Text Box 10"/>
            <p:cNvSpPr txBox="1">
              <a:spLocks noChangeArrowheads="1"/>
            </p:cNvSpPr>
            <p:nvPr/>
          </p:nvSpPr>
          <p:spPr bwMode="auto">
            <a:xfrm>
              <a:off x="3106" y="2016"/>
              <a:ext cx="220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static 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double stack[80];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8441" name="Text Box 11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8438" name="Text Box 12"/>
          <p:cNvSpPr txBox="1">
            <a:spLocks noChangeArrowheads="1"/>
          </p:cNvSpPr>
          <p:nvPr/>
        </p:nvSpPr>
        <p:spPr bwMode="auto">
          <a:xfrm>
            <a:off x="4105275" y="4365625"/>
            <a:ext cx="1403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solidFill>
                  <a:srgbClr val="FF3300"/>
                </a:solidFill>
              </a:rPr>
              <a:t> </a:t>
            </a:r>
            <a:r>
              <a:rPr lang="en-US" altLang="nl-BE" sz="1800"/>
              <a:t>limits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scope to file</a:t>
            </a:r>
          </a:p>
        </p:txBody>
      </p:sp>
      <p:sp>
        <p:nvSpPr>
          <p:cNvPr id="18439" name="Text Box 16"/>
          <p:cNvSpPr txBox="1">
            <a:spLocks noChangeArrowheads="1"/>
          </p:cNvSpPr>
          <p:nvPr/>
        </p:nvSpPr>
        <p:spPr bwMode="auto">
          <a:xfrm>
            <a:off x="4178300" y="5537200"/>
            <a:ext cx="11112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too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23957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 keep value between calls to function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1331913" y="2959100"/>
            <a:ext cx="285908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uniqueIdentifier()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latin typeface="Times New Roman" panose="02020603050405020304" pitchFamily="18" charset="0"/>
              </a:rPr>
              <a:t> unsigned id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id++;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076825" y="2924175"/>
            <a:ext cx="2139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first call:		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second call:	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third call:	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093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initialization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internal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each time the block is entered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static internal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first time function is called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once at start of execution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330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recursion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functions can call themselves, e.g.,</a:t>
            </a:r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note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automatic variables are created each time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not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generally, more memory consumption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often more compact, elegant, closer to mathematics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95513" y="2276475"/>
            <a:ext cx="358933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long fac(unsigned long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 == 0 || n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n*fac(n-1);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50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&lt;</a:t>
            </a:r>
            <a:r>
              <a:rPr lang="en-US" altLang="nl-BE" i="1">
                <a:latin typeface="Times New Roman" panose="02020603050405020304" pitchFamily="18" charset="0"/>
              </a:rPr>
              <a:t>file-name</a:t>
            </a:r>
            <a:r>
              <a:rPr lang="en-US" altLang="nl-BE">
                <a:latin typeface="Times New Roman" panose="02020603050405020304" pitchFamily="18" charset="0"/>
              </a:rPr>
              <a:t>&gt;</a:t>
            </a:r>
          </a:p>
          <a:p>
            <a:pPr lvl="1" eaLnBrk="1" hangingPunct="1"/>
            <a:r>
              <a:rPr lang="en-US" altLang="nl-BE"/>
              <a:t>literally insert file from standard include location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"</a:t>
            </a:r>
            <a:r>
              <a:rPr lang="en-US" altLang="nl-BE" i="1">
                <a:latin typeface="Times New Roman" panose="02020603050405020304" pitchFamily="18" charset="0"/>
              </a:rPr>
              <a:t>path-name</a:t>
            </a:r>
            <a:r>
              <a:rPr lang="en-US" altLang="nl-BE">
                <a:latin typeface="Times New Roman" panose="02020603050405020304" pitchFamily="18" charset="0"/>
              </a:rPr>
              <a:t>"</a:t>
            </a:r>
          </a:p>
          <a:p>
            <a:pPr lvl="1" eaLnBrk="1" hangingPunct="1"/>
            <a:r>
              <a:rPr lang="en-US" altLang="nl-BE"/>
              <a:t>literally insert specified file</a:t>
            </a:r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#define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  <a:p>
            <a:pPr lvl="1" eaLnBrk="1" hangingPunct="1"/>
            <a:r>
              <a:rPr lang="en-US" altLang="nl-BE"/>
              <a:t>replace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/>
              <a:t> everywhere in file with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22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preprocessor: </a:t>
            </a:r>
            <a:r>
              <a:rPr lang="en-US" altLang="nl-BE">
                <a:latin typeface="Times New Roman" panose="02020603050405020304" pitchFamily="18" charset="0"/>
              </a:rPr>
              <a:t>#define</a:t>
            </a:r>
          </a:p>
        </p:txBody>
      </p:sp>
      <p:sp>
        <p:nvSpPr>
          <p:cNvPr id="23555" name="Text Box 4"/>
          <p:cNvSpPr txBox="1">
            <a:spLocks noChangeArrowheads="1"/>
          </p:cNvSpPr>
          <p:nvPr/>
        </p:nvSpPr>
        <p:spPr bwMode="auto">
          <a:xfrm>
            <a:off x="971550" y="1484313"/>
            <a:ext cx="4491038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ADD '+'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SUBSTRACT '-'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PI 3.14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calculate(char op,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–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5301" name="Text Box 5"/>
          <p:cNvSpPr txBox="1">
            <a:spLocks noChangeArrowheads="1"/>
          </p:cNvSpPr>
          <p:nvPr/>
        </p:nvSpPr>
        <p:spPr bwMode="auto">
          <a:xfrm>
            <a:off x="2314575" y="5734050"/>
            <a:ext cx="5670550" cy="4048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usually can be done more elegantly with </a:t>
            </a:r>
            <a:r>
              <a:rPr lang="en-US" altLang="nl-BE" sz="1800">
                <a:latin typeface="Times New Roman" panose="02020603050405020304" pitchFamily="18" charset="0"/>
              </a:rPr>
              <a:t>const</a:t>
            </a:r>
            <a:r>
              <a:rPr lang="en-US" altLang="nl-BE" sz="1800"/>
              <a:t> or </a:t>
            </a:r>
            <a:r>
              <a:rPr lang="en-US" altLang="nl-BE" sz="1800">
                <a:latin typeface="Times New Roman" panose="02020603050405020304" pitchFamily="18" charset="0"/>
              </a:rPr>
              <a:t>enum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816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Building</a:t>
            </a:r>
          </a:p>
        </p:txBody>
      </p:sp>
      <p:grpSp>
        <p:nvGrpSpPr>
          <p:cNvPr id="24579" name="Group 31"/>
          <p:cNvGrpSpPr>
            <a:grpSpLocks/>
          </p:cNvGrpSpPr>
          <p:nvPr/>
        </p:nvGrpSpPr>
        <p:grpSpPr bwMode="auto">
          <a:xfrm>
            <a:off x="1331913" y="1052513"/>
            <a:ext cx="1171575" cy="1447800"/>
            <a:chOff x="612" y="948"/>
            <a:chExt cx="738" cy="912"/>
          </a:xfrm>
        </p:grpSpPr>
        <p:sp>
          <p:nvSpPr>
            <p:cNvPr id="24634" name="Text Box 9"/>
            <p:cNvSpPr txBox="1">
              <a:spLocks noChangeArrowheads="1"/>
            </p:cNvSpPr>
            <p:nvPr/>
          </p:nvSpPr>
          <p:spPr bwMode="auto">
            <a:xfrm>
              <a:off x="645" y="948"/>
              <a:ext cx="4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</a:t>
              </a:r>
            </a:p>
          </p:txBody>
        </p:sp>
        <p:grpSp>
          <p:nvGrpSpPr>
            <p:cNvPr id="24635" name="Group 14"/>
            <p:cNvGrpSpPr>
              <a:grpSpLocks/>
            </p:cNvGrpSpPr>
            <p:nvPr/>
          </p:nvGrpSpPr>
          <p:grpSpPr bwMode="auto">
            <a:xfrm>
              <a:off x="612" y="1200"/>
              <a:ext cx="738" cy="660"/>
              <a:chOff x="645" y="1203"/>
              <a:chExt cx="738" cy="938"/>
            </a:xfrm>
          </p:grpSpPr>
          <p:sp>
            <p:nvSpPr>
              <p:cNvPr id="24636" name="AutoShape 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7" name="Text Box 13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42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grpSp>
        <p:nvGrpSpPr>
          <p:cNvPr id="24580" name="Group 25"/>
          <p:cNvGrpSpPr>
            <a:grpSpLocks/>
          </p:cNvGrpSpPr>
          <p:nvPr/>
        </p:nvGrpSpPr>
        <p:grpSpPr bwMode="auto">
          <a:xfrm>
            <a:off x="6659563" y="1060450"/>
            <a:ext cx="1104900" cy="1439863"/>
            <a:chOff x="1598" y="935"/>
            <a:chExt cx="696" cy="907"/>
          </a:xfrm>
        </p:grpSpPr>
        <p:sp>
          <p:nvSpPr>
            <p:cNvPr id="24630" name="Text Box 10"/>
            <p:cNvSpPr txBox="1">
              <a:spLocks noChangeArrowheads="1"/>
            </p:cNvSpPr>
            <p:nvPr/>
          </p:nvSpPr>
          <p:spPr bwMode="auto">
            <a:xfrm>
              <a:off x="1625" y="935"/>
              <a:ext cx="5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</a:t>
              </a:r>
            </a:p>
          </p:txBody>
        </p:sp>
        <p:grpSp>
          <p:nvGrpSpPr>
            <p:cNvPr id="24631" name="Group 15"/>
            <p:cNvGrpSpPr>
              <a:grpSpLocks/>
            </p:cNvGrpSpPr>
            <p:nvPr/>
          </p:nvGrpSpPr>
          <p:grpSpPr bwMode="auto">
            <a:xfrm>
              <a:off x="1598" y="1200"/>
              <a:ext cx="696" cy="642"/>
              <a:chOff x="645" y="1203"/>
              <a:chExt cx="743" cy="912"/>
            </a:xfrm>
          </p:grpSpPr>
          <p:sp>
            <p:nvSpPr>
              <p:cNvPr id="24632" name="AutoShape 1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3" name="Text Box 17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43" cy="8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sp>
        <p:nvSpPr>
          <p:cNvPr id="24581" name="AutoShape 18"/>
          <p:cNvSpPr>
            <a:spLocks noChangeArrowheads="1"/>
          </p:cNvSpPr>
          <p:nvPr/>
        </p:nvSpPr>
        <p:spPr bwMode="auto">
          <a:xfrm>
            <a:off x="248285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grpSp>
        <p:nvGrpSpPr>
          <p:cNvPr id="24582" name="Group 59"/>
          <p:cNvGrpSpPr>
            <a:grpSpLocks/>
          </p:cNvGrpSpPr>
          <p:nvPr/>
        </p:nvGrpSpPr>
        <p:grpSpPr bwMode="auto">
          <a:xfrm>
            <a:off x="3938588" y="1060450"/>
            <a:ext cx="1136650" cy="1439863"/>
            <a:chOff x="1973" y="754"/>
            <a:chExt cx="716" cy="907"/>
          </a:xfrm>
        </p:grpSpPr>
        <p:sp>
          <p:nvSpPr>
            <p:cNvPr id="24626" name="Text Box 11"/>
            <p:cNvSpPr txBox="1">
              <a:spLocks noChangeArrowheads="1"/>
            </p:cNvSpPr>
            <p:nvPr/>
          </p:nvSpPr>
          <p:spPr bwMode="auto">
            <a:xfrm>
              <a:off x="2018" y="754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stack.h</a:t>
              </a:r>
            </a:p>
          </p:txBody>
        </p:sp>
        <p:grpSp>
          <p:nvGrpSpPr>
            <p:cNvPr id="24627" name="Group 22"/>
            <p:cNvGrpSpPr>
              <a:grpSpLocks/>
            </p:cNvGrpSpPr>
            <p:nvPr/>
          </p:nvGrpSpPr>
          <p:grpSpPr bwMode="auto">
            <a:xfrm>
              <a:off x="1973" y="1026"/>
              <a:ext cx="716" cy="635"/>
              <a:chOff x="3666" y="1207"/>
              <a:chExt cx="716" cy="635"/>
            </a:xfrm>
          </p:grpSpPr>
          <p:sp>
            <p:nvSpPr>
              <p:cNvPr id="24628" name="AutoShape 8"/>
              <p:cNvSpPr>
                <a:spLocks noChangeArrowheads="1"/>
              </p:cNvSpPr>
              <p:nvPr/>
            </p:nvSpPr>
            <p:spPr bwMode="auto">
              <a:xfrm>
                <a:off x="3696" y="1207"/>
                <a:ext cx="636" cy="635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9" name="Text Box 21"/>
              <p:cNvSpPr txBox="1">
                <a:spLocks noChangeArrowheads="1"/>
              </p:cNvSpPr>
              <p:nvPr/>
            </p:nvSpPr>
            <p:spPr bwMode="auto">
              <a:xfrm>
                <a:off x="3666" y="1211"/>
                <a:ext cx="716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</p:txBody>
          </p:sp>
        </p:grpSp>
      </p:grpSp>
      <p:cxnSp>
        <p:nvCxnSpPr>
          <p:cNvPr id="24583" name="AutoShape 23"/>
          <p:cNvCxnSpPr>
            <a:cxnSpLocks noChangeShapeType="1"/>
            <a:stCxn id="24633" idx="1"/>
            <a:endCxn id="24590" idx="3"/>
          </p:cNvCxnSpPr>
          <p:nvPr/>
        </p:nvCxnSpPr>
        <p:spPr bwMode="auto">
          <a:xfrm rot="10800000" flipV="1">
            <a:off x="5940425" y="1936750"/>
            <a:ext cx="719138" cy="706438"/>
          </a:xfrm>
          <a:prstGeom prst="bentConnector2">
            <a:avLst/>
          </a:prstGeom>
          <a:noFill/>
          <a:ln w="9525">
            <a:solidFill>
              <a:srgbClr val="FF33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4" name="AutoShape 24"/>
          <p:cNvCxnSpPr>
            <a:cxnSpLocks noChangeShapeType="1"/>
            <a:stCxn id="24628" idx="1"/>
            <a:endCxn id="24581" idx="0"/>
          </p:cNvCxnSpPr>
          <p:nvPr/>
        </p:nvCxnSpPr>
        <p:spPr bwMode="auto">
          <a:xfrm rot="10800000" flipV="1">
            <a:off x="3365500" y="1997075"/>
            <a:ext cx="620713" cy="935038"/>
          </a:xfrm>
          <a:prstGeom prst="bentConnector3">
            <a:avLst>
              <a:gd name="adj1" fmla="val 39898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85" name="Group 26"/>
          <p:cNvGrpSpPr>
            <a:grpSpLocks/>
          </p:cNvGrpSpPr>
          <p:nvPr/>
        </p:nvGrpSpPr>
        <p:grpSpPr bwMode="auto">
          <a:xfrm>
            <a:off x="6891338" y="2716213"/>
            <a:ext cx="1136650" cy="1468437"/>
            <a:chOff x="1598" y="935"/>
            <a:chExt cx="716" cy="925"/>
          </a:xfrm>
        </p:grpSpPr>
        <p:sp>
          <p:nvSpPr>
            <p:cNvPr id="24622" name="Text Box 27"/>
            <p:cNvSpPr txBox="1">
              <a:spLocks noChangeArrowheads="1"/>
            </p:cNvSpPr>
            <p:nvPr/>
          </p:nvSpPr>
          <p:spPr bwMode="auto">
            <a:xfrm>
              <a:off x="1625" y="935"/>
              <a:ext cx="5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stack.c'</a:t>
              </a:r>
            </a:p>
          </p:txBody>
        </p:sp>
        <p:grpSp>
          <p:nvGrpSpPr>
            <p:cNvPr id="24623" name="Group 28"/>
            <p:cNvGrpSpPr>
              <a:grpSpLocks/>
            </p:cNvGrpSpPr>
            <p:nvPr/>
          </p:nvGrpSpPr>
          <p:grpSpPr bwMode="auto">
            <a:xfrm>
              <a:off x="1598" y="1200"/>
              <a:ext cx="716" cy="660"/>
              <a:chOff x="645" y="1203"/>
              <a:chExt cx="763" cy="938"/>
            </a:xfrm>
          </p:grpSpPr>
          <p:sp>
            <p:nvSpPr>
              <p:cNvPr id="24624" name="AutoShape 29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5" name="Text Box 30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63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4586" name="Group 32"/>
          <p:cNvGrpSpPr>
            <a:grpSpLocks/>
          </p:cNvGrpSpPr>
          <p:nvPr/>
        </p:nvGrpSpPr>
        <p:grpSpPr bwMode="auto">
          <a:xfrm>
            <a:off x="827088" y="2716213"/>
            <a:ext cx="1171575" cy="1584325"/>
            <a:chOff x="612" y="948"/>
            <a:chExt cx="738" cy="998"/>
          </a:xfrm>
        </p:grpSpPr>
        <p:sp>
          <p:nvSpPr>
            <p:cNvPr id="24618" name="Text Box 33"/>
            <p:cNvSpPr txBox="1">
              <a:spLocks noChangeArrowheads="1"/>
            </p:cNvSpPr>
            <p:nvPr/>
          </p:nvSpPr>
          <p:spPr bwMode="auto">
            <a:xfrm>
              <a:off x="645" y="948"/>
              <a:ext cx="51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calc.c'</a:t>
              </a:r>
            </a:p>
          </p:txBody>
        </p:sp>
        <p:grpSp>
          <p:nvGrpSpPr>
            <p:cNvPr id="24619" name="Group 34"/>
            <p:cNvGrpSpPr>
              <a:grpSpLocks/>
            </p:cNvGrpSpPr>
            <p:nvPr/>
          </p:nvGrpSpPr>
          <p:grpSpPr bwMode="auto">
            <a:xfrm>
              <a:off x="612" y="1200"/>
              <a:ext cx="738" cy="746"/>
              <a:chOff x="645" y="1203"/>
              <a:chExt cx="738" cy="1059"/>
            </a:xfrm>
          </p:grpSpPr>
          <p:sp>
            <p:nvSpPr>
              <p:cNvPr id="24620" name="AutoShape 3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1" name="Text Box 36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62" cy="10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24587" name="AutoShape 37"/>
          <p:cNvCxnSpPr>
            <a:cxnSpLocks noChangeShapeType="1"/>
            <a:stCxn id="24636" idx="3"/>
            <a:endCxn id="24581" idx="3"/>
          </p:cNvCxnSpPr>
          <p:nvPr/>
        </p:nvCxnSpPr>
        <p:spPr bwMode="auto">
          <a:xfrm>
            <a:off x="2503488" y="1965325"/>
            <a:ext cx="484187" cy="677863"/>
          </a:xfrm>
          <a:prstGeom prst="bentConnector2">
            <a:avLst/>
          </a:prstGeom>
          <a:noFill/>
          <a:ln w="9525">
            <a:solidFill>
              <a:srgbClr val="0066FF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8" name="AutoShape 38"/>
          <p:cNvCxnSpPr>
            <a:cxnSpLocks noChangeShapeType="1"/>
            <a:stCxn id="24581" idx="2"/>
            <a:endCxn id="24621" idx="0"/>
          </p:cNvCxnSpPr>
          <p:nvPr/>
        </p:nvCxnSpPr>
        <p:spPr bwMode="auto">
          <a:xfrm flipH="1">
            <a:off x="1352550" y="2932113"/>
            <a:ext cx="1255713" cy="1841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9" name="AutoShape 39"/>
          <p:cNvCxnSpPr>
            <a:cxnSpLocks noChangeShapeType="1"/>
            <a:stCxn id="24590" idx="0"/>
            <a:endCxn id="24625" idx="0"/>
          </p:cNvCxnSpPr>
          <p:nvPr/>
        </p:nvCxnSpPr>
        <p:spPr bwMode="auto">
          <a:xfrm>
            <a:off x="6318250" y="2932113"/>
            <a:ext cx="1141413" cy="204787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0" name="AutoShape 40"/>
          <p:cNvSpPr>
            <a:spLocks noChangeArrowheads="1"/>
          </p:cNvSpPr>
          <p:nvPr/>
        </p:nvSpPr>
        <p:spPr bwMode="auto">
          <a:xfrm>
            <a:off x="543560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cxnSp>
        <p:nvCxnSpPr>
          <p:cNvPr id="24591" name="AutoShape 41"/>
          <p:cNvCxnSpPr>
            <a:cxnSpLocks noChangeShapeType="1"/>
            <a:stCxn id="24628" idx="3"/>
            <a:endCxn id="24590" idx="2"/>
          </p:cNvCxnSpPr>
          <p:nvPr/>
        </p:nvCxnSpPr>
        <p:spPr bwMode="auto">
          <a:xfrm>
            <a:off x="4995863" y="1997075"/>
            <a:ext cx="565150" cy="935038"/>
          </a:xfrm>
          <a:prstGeom prst="bentConnector3">
            <a:avLst>
              <a:gd name="adj1" fmla="val 3876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AutoShape 42"/>
          <p:cNvSpPr>
            <a:spLocks noChangeArrowheads="1"/>
          </p:cNvSpPr>
          <p:nvPr/>
        </p:nvSpPr>
        <p:spPr bwMode="auto">
          <a:xfrm>
            <a:off x="2505075" y="336391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sp>
        <p:nvSpPr>
          <p:cNvPr id="24593" name="AutoShape 44"/>
          <p:cNvSpPr>
            <a:spLocks noChangeArrowheads="1"/>
          </p:cNvSpPr>
          <p:nvPr/>
        </p:nvSpPr>
        <p:spPr bwMode="auto">
          <a:xfrm>
            <a:off x="5867400" y="339566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cxnSp>
        <p:nvCxnSpPr>
          <p:cNvPr id="24594" name="AutoShape 45"/>
          <p:cNvCxnSpPr>
            <a:cxnSpLocks noChangeShapeType="1"/>
            <a:stCxn id="24620" idx="3"/>
            <a:endCxn id="24592" idx="2"/>
          </p:cNvCxnSpPr>
          <p:nvPr/>
        </p:nvCxnSpPr>
        <p:spPr bwMode="auto">
          <a:xfrm flipV="1">
            <a:off x="1998663" y="3616325"/>
            <a:ext cx="506412" cy="1270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AutoShape 46"/>
          <p:cNvCxnSpPr>
            <a:cxnSpLocks noChangeShapeType="1"/>
            <a:stCxn id="24624" idx="1"/>
            <a:endCxn id="24593" idx="2"/>
          </p:cNvCxnSpPr>
          <p:nvPr/>
        </p:nvCxnSpPr>
        <p:spPr bwMode="auto">
          <a:xfrm flipH="1" flipV="1">
            <a:off x="6443663" y="3648075"/>
            <a:ext cx="465137" cy="1588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96" name="Group 47"/>
          <p:cNvGrpSpPr>
            <a:grpSpLocks/>
          </p:cNvGrpSpPr>
          <p:nvPr/>
        </p:nvGrpSpPr>
        <p:grpSpPr bwMode="auto">
          <a:xfrm>
            <a:off x="2270125" y="4032250"/>
            <a:ext cx="1171575" cy="1419225"/>
            <a:chOff x="612" y="948"/>
            <a:chExt cx="738" cy="894"/>
          </a:xfrm>
        </p:grpSpPr>
        <p:sp>
          <p:nvSpPr>
            <p:cNvPr id="24614" name="Text Box 48"/>
            <p:cNvSpPr txBox="1">
              <a:spLocks noChangeArrowheads="1"/>
            </p:cNvSpPr>
            <p:nvPr/>
          </p:nvSpPr>
          <p:spPr bwMode="auto">
            <a:xfrm>
              <a:off x="645" y="948"/>
              <a:ext cx="4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calc.o</a:t>
              </a:r>
            </a:p>
          </p:txBody>
        </p:sp>
        <p:grpSp>
          <p:nvGrpSpPr>
            <p:cNvPr id="24615" name="Group 49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6" name="AutoShape 50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7" name="Text Box 51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grpSp>
        <p:nvGrpSpPr>
          <p:cNvPr id="24597" name="Group 52"/>
          <p:cNvGrpSpPr>
            <a:grpSpLocks/>
          </p:cNvGrpSpPr>
          <p:nvPr/>
        </p:nvGrpSpPr>
        <p:grpSpPr bwMode="auto">
          <a:xfrm>
            <a:off x="5632450" y="4032250"/>
            <a:ext cx="1171575" cy="1419225"/>
            <a:chOff x="612" y="948"/>
            <a:chExt cx="738" cy="894"/>
          </a:xfrm>
        </p:grpSpPr>
        <p:sp>
          <p:nvSpPr>
            <p:cNvPr id="24610" name="Text Box 53"/>
            <p:cNvSpPr txBox="1">
              <a:spLocks noChangeArrowheads="1"/>
            </p:cNvSpPr>
            <p:nvPr/>
          </p:nvSpPr>
          <p:spPr bwMode="auto">
            <a:xfrm>
              <a:off x="645" y="948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stack.o</a:t>
              </a:r>
            </a:p>
          </p:txBody>
        </p:sp>
        <p:grpSp>
          <p:nvGrpSpPr>
            <p:cNvPr id="24611" name="Group 54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2" name="AutoShape 5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3" name="Text Box 56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598" name="AutoShape 57"/>
          <p:cNvCxnSpPr>
            <a:cxnSpLocks noChangeShapeType="1"/>
            <a:stCxn id="24592" idx="2"/>
            <a:endCxn id="24617" idx="0"/>
          </p:cNvCxnSpPr>
          <p:nvPr/>
        </p:nvCxnSpPr>
        <p:spPr bwMode="auto">
          <a:xfrm>
            <a:off x="2794000" y="3867150"/>
            <a:ext cx="12700" cy="5524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9" name="AutoShape 58"/>
          <p:cNvCxnSpPr>
            <a:cxnSpLocks noChangeShapeType="1"/>
            <a:stCxn id="24593" idx="2"/>
            <a:endCxn id="24613" idx="0"/>
          </p:cNvCxnSpPr>
          <p:nvPr/>
        </p:nvCxnSpPr>
        <p:spPr bwMode="auto">
          <a:xfrm>
            <a:off x="6156325" y="3898900"/>
            <a:ext cx="12700" cy="520700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0" name="AutoShape 60"/>
          <p:cNvSpPr>
            <a:spLocks noChangeArrowheads="1"/>
          </p:cNvSpPr>
          <p:nvPr/>
        </p:nvSpPr>
        <p:spPr bwMode="auto">
          <a:xfrm>
            <a:off x="4067175" y="4587875"/>
            <a:ext cx="720725" cy="720725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ld</a:t>
            </a:r>
          </a:p>
        </p:txBody>
      </p:sp>
      <p:cxnSp>
        <p:nvCxnSpPr>
          <p:cNvPr id="24601" name="AutoShape 62"/>
          <p:cNvCxnSpPr>
            <a:cxnSpLocks noChangeShapeType="1"/>
            <a:stCxn id="24616" idx="3"/>
            <a:endCxn id="24600" idx="1"/>
          </p:cNvCxnSpPr>
          <p:nvPr/>
        </p:nvCxnSpPr>
        <p:spPr bwMode="auto">
          <a:xfrm>
            <a:off x="3441700" y="4945063"/>
            <a:ext cx="625475" cy="3175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602" name="AutoShape 63"/>
          <p:cNvCxnSpPr>
            <a:cxnSpLocks noChangeShapeType="1"/>
            <a:stCxn id="24612" idx="1"/>
            <a:endCxn id="24600" idx="3"/>
          </p:cNvCxnSpPr>
          <p:nvPr/>
        </p:nvCxnSpPr>
        <p:spPr bwMode="auto">
          <a:xfrm flipH="1">
            <a:off x="4787900" y="4945063"/>
            <a:ext cx="863600" cy="3175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603" name="Group 70"/>
          <p:cNvGrpSpPr>
            <a:grpSpLocks/>
          </p:cNvGrpSpPr>
          <p:nvPr/>
        </p:nvGrpSpPr>
        <p:grpSpPr bwMode="auto">
          <a:xfrm>
            <a:off x="3881438" y="5300663"/>
            <a:ext cx="1171575" cy="936625"/>
            <a:chOff x="2445" y="3339"/>
            <a:chExt cx="738" cy="590"/>
          </a:xfrm>
        </p:grpSpPr>
        <p:sp>
          <p:nvSpPr>
            <p:cNvPr id="24606" name="Text Box 65"/>
            <p:cNvSpPr txBox="1">
              <a:spLocks noChangeArrowheads="1"/>
            </p:cNvSpPr>
            <p:nvPr/>
          </p:nvSpPr>
          <p:spPr bwMode="auto">
            <a:xfrm>
              <a:off x="2478" y="3339"/>
              <a:ext cx="64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calc.exe</a:t>
              </a:r>
            </a:p>
          </p:txBody>
        </p:sp>
        <p:grpSp>
          <p:nvGrpSpPr>
            <p:cNvPr id="24607" name="Group 66"/>
            <p:cNvGrpSpPr>
              <a:grpSpLocks/>
            </p:cNvGrpSpPr>
            <p:nvPr/>
          </p:nvGrpSpPr>
          <p:grpSpPr bwMode="auto">
            <a:xfrm>
              <a:off x="2445" y="3583"/>
              <a:ext cx="738" cy="346"/>
              <a:chOff x="645" y="1192"/>
              <a:chExt cx="738" cy="923"/>
            </a:xfrm>
          </p:grpSpPr>
          <p:sp>
            <p:nvSpPr>
              <p:cNvPr id="24608" name="AutoShape 67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09" name="Text Box 68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604" name="AutoShape 69"/>
          <p:cNvCxnSpPr>
            <a:cxnSpLocks noChangeShapeType="1"/>
            <a:stCxn id="24600" idx="2"/>
            <a:endCxn id="24609" idx="0"/>
          </p:cNvCxnSpPr>
          <p:nvPr/>
        </p:nvCxnSpPr>
        <p:spPr bwMode="auto">
          <a:xfrm flipH="1">
            <a:off x="4418013" y="5308600"/>
            <a:ext cx="9525" cy="379413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5" name="TextBox 1"/>
          <p:cNvSpPr txBox="1">
            <a:spLocks noChangeArrowheads="1"/>
          </p:cNvSpPr>
          <p:nvPr/>
        </p:nvSpPr>
        <p:spPr bwMode="auto">
          <a:xfrm>
            <a:off x="149225" y="5805488"/>
            <a:ext cx="2262188" cy="922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cpp: C preprocessor</a:t>
            </a:r>
            <a:br>
              <a:rPr lang="en-US" altLang="en-US"/>
            </a:br>
            <a:r>
              <a:rPr lang="en-US" altLang="en-US"/>
              <a:t>cc: C compiler</a:t>
            </a:r>
            <a:br>
              <a:rPr lang="en-US" altLang="en-US"/>
            </a:br>
            <a:r>
              <a:rPr lang="en-US" altLang="en-US"/>
              <a:t>ld: loader or linker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3722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Testing &amp; contracts: </a:t>
            </a:r>
            <a:r>
              <a:rPr lang="en-US" altLang="nl-BE">
                <a:latin typeface="Times New Roman" panose="02020603050405020304" pitchFamily="18" charset="0"/>
              </a:rPr>
              <a:t>assert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323850" y="2027238"/>
            <a:ext cx="4157663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assert.h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input[] = {0, 1, 2, 3, 4, 5};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output[] = {1, 1, 2, 6, 24, 120};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for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= 0;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&lt; 6;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(fac(input[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 == output[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(n &gt;=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824163" y="5680075"/>
            <a:ext cx="1450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use </a:t>
            </a:r>
            <a:r>
              <a:rPr lang="en-US" altLang="nl-BE" sz="1800" dirty="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for contracts</a:t>
            </a:r>
          </a:p>
        </p:txBody>
      </p:sp>
      <p:sp>
        <p:nvSpPr>
          <p:cNvPr id="67589" name="Line 5"/>
          <p:cNvSpPr>
            <a:spLocks noChangeShapeType="1"/>
          </p:cNvSpPr>
          <p:nvPr/>
        </p:nvSpPr>
        <p:spPr bwMode="auto">
          <a:xfrm flipH="1" flipV="1">
            <a:off x="2244725" y="5661025"/>
            <a:ext cx="574675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5416550" y="3213100"/>
            <a:ext cx="1196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testing</a:t>
            </a:r>
          </a:p>
        </p:txBody>
      </p:sp>
      <p:sp>
        <p:nvSpPr>
          <p:cNvPr id="67591" name="Line 7"/>
          <p:cNvSpPr>
            <a:spLocks noChangeShapeType="1"/>
          </p:cNvSpPr>
          <p:nvPr/>
        </p:nvSpPr>
        <p:spPr bwMode="auto">
          <a:xfrm flipH="1">
            <a:off x="4116388" y="3552825"/>
            <a:ext cx="129540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4643438" y="1268413"/>
            <a:ext cx="4237037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semantics: if assertion is true,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 nothing, otherwise, abort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program with feedback</a:t>
            </a:r>
          </a:p>
        </p:txBody>
      </p:sp>
      <p:sp>
        <p:nvSpPr>
          <p:cNvPr id="67593" name="Text Box 9"/>
          <p:cNvSpPr txBox="1">
            <a:spLocks noChangeArrowheads="1"/>
          </p:cNvSpPr>
          <p:nvPr/>
        </p:nvSpPr>
        <p:spPr bwMode="auto">
          <a:xfrm>
            <a:off x="4500563" y="5805488"/>
            <a:ext cx="4410075" cy="8604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assert</a:t>
            </a:r>
            <a:r>
              <a:rPr lang="en-US" altLang="nl-BE" sz="2400"/>
              <a:t> only during development,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b="1" i="1"/>
              <a:t>never</a:t>
            </a:r>
            <a:r>
              <a:rPr lang="en-US" altLang="nl-BE" sz="2400"/>
              <a:t> in production code!!!</a:t>
            </a:r>
          </a:p>
        </p:txBody>
      </p:sp>
      <p:sp>
        <p:nvSpPr>
          <p:cNvPr id="67594" name="Text Box 10"/>
          <p:cNvSpPr txBox="1">
            <a:spLocks noChangeArrowheads="1"/>
          </p:cNvSpPr>
          <p:nvPr/>
        </p:nvSpPr>
        <p:spPr bwMode="auto">
          <a:xfrm>
            <a:off x="323850" y="1485900"/>
            <a:ext cx="187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NDEBUG</a:t>
            </a:r>
          </a:p>
        </p:txBody>
      </p:sp>
      <p:sp>
        <p:nvSpPr>
          <p:cNvPr id="67595" name="Rectangle 11"/>
          <p:cNvSpPr>
            <a:spLocks noChangeArrowheads="1"/>
          </p:cNvSpPr>
          <p:nvPr/>
        </p:nvSpPr>
        <p:spPr bwMode="auto">
          <a:xfrm>
            <a:off x="803275" y="4005263"/>
            <a:ext cx="3024188" cy="28733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assert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(input[i]) == output[i], "factorial");</a:t>
            </a:r>
          </a:p>
        </p:txBody>
      </p:sp>
      <p:sp>
        <p:nvSpPr>
          <p:cNvPr id="67596" name="Rectangle 12"/>
          <p:cNvSpPr>
            <a:spLocks noChangeArrowheads="1"/>
          </p:cNvSpPr>
          <p:nvPr/>
        </p:nvSpPr>
        <p:spPr bwMode="auto">
          <a:xfrm>
            <a:off x="611188" y="5437188"/>
            <a:ext cx="1296987" cy="2159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648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nimBg="1"/>
      <p:bldP spid="67589" grpId="0" animBg="1"/>
      <p:bldP spid="67590" grpId="0" animBg="1"/>
      <p:bldP spid="67591" grpId="0" animBg="1"/>
      <p:bldP spid="67593" grpId="0" animBg="1"/>
      <p:bldP spid="67594" grpId="0"/>
      <p:bldP spid="67595" grpId="0" animBg="1"/>
      <p:bldP spid="6759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F104-72C9-34EB-2E1E-C8A773E9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functions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6C308-E982-D4AE-58A7-CB3E62EA5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declared in </a:t>
            </a:r>
            <a:r>
              <a:rPr lang="en-US" dirty="0" err="1"/>
              <a:t>math.h</a:t>
            </a:r>
            <a:endParaRPr lang="en-US" dirty="0"/>
          </a:p>
          <a:p>
            <a:r>
              <a:rPr lang="en-US" dirty="0"/>
              <a:t>many functions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sqrtf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for </a:t>
            </a:r>
            <a:r>
              <a:rPr lang="en-US" dirty="0" err="1">
                <a:sym typeface="Symbol" panose="05050102010706020507" pitchFamily="18" charset="2"/>
              </a:rPr>
              <a:t>gcc</a:t>
            </a:r>
            <a:r>
              <a:rPr lang="en-US" dirty="0">
                <a:sym typeface="Symbol" panose="05050102010706020507" pitchFamily="18" charset="2"/>
              </a:rPr>
              <a:t>, link with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lm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BBF7A-290E-5303-C372-EE08B8B6B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72452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Pointers and arrays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5, Pointers &amp; arrays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901269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5561013" y="1341438"/>
            <a:ext cx="2827337" cy="2017712"/>
            <a:chOff x="3107" y="1570"/>
            <a:chExt cx="1781" cy="1271"/>
          </a:xfrm>
        </p:grpSpPr>
        <p:sp>
          <p:nvSpPr>
            <p:cNvPr id="4120" name="Text Box 1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4121" name="Oval 23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40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1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755650" y="5772150"/>
            <a:ext cx="1490663" cy="641350"/>
            <a:chOff x="657" y="2704"/>
            <a:chExt cx="939" cy="404"/>
          </a:xfrm>
        </p:grpSpPr>
        <p:sp>
          <p:nvSpPr>
            <p:cNvPr id="4118" name="Text Box 7"/>
            <p:cNvSpPr txBox="1">
              <a:spLocks noChangeArrowheads="1"/>
            </p:cNvSpPr>
            <p:nvPr/>
          </p:nvSpPr>
          <p:spPr bwMode="auto">
            <a:xfrm>
              <a:off x="657" y="2704"/>
              <a:ext cx="55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output: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7 5</a:t>
              </a:r>
            </a:p>
          </p:txBody>
        </p:sp>
        <p:sp>
          <p:nvSpPr>
            <p:cNvPr id="4119" name="Text Box 8"/>
            <p:cNvSpPr txBox="1">
              <a:spLocks noChangeArrowheads="1"/>
            </p:cNvSpPr>
            <p:nvPr/>
          </p:nvSpPr>
          <p:spPr bwMode="auto">
            <a:xfrm>
              <a:off x="1338" y="2704"/>
              <a:ext cx="258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/>
                <a:t>?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468313" y="5516563"/>
            <a:ext cx="2303462" cy="1152525"/>
            <a:chOff x="476" y="2523"/>
            <a:chExt cx="1451" cy="726"/>
          </a:xfrm>
        </p:grpSpPr>
        <p:sp>
          <p:nvSpPr>
            <p:cNvPr id="4116" name="Line 10"/>
            <p:cNvSpPr>
              <a:spLocks noChangeShapeType="1"/>
            </p:cNvSpPr>
            <p:nvPr/>
          </p:nvSpPr>
          <p:spPr bwMode="auto">
            <a:xfrm>
              <a:off x="567" y="2523"/>
              <a:ext cx="1134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11"/>
            <p:cNvSpPr>
              <a:spLocks noChangeShapeType="1"/>
            </p:cNvSpPr>
            <p:nvPr/>
          </p:nvSpPr>
          <p:spPr bwMode="auto">
            <a:xfrm flipV="1">
              <a:off x="476" y="2523"/>
              <a:ext cx="1451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0" name="Text Box 14"/>
          <p:cNvSpPr txBox="1">
            <a:spLocks noChangeArrowheads="1"/>
          </p:cNvSpPr>
          <p:nvPr/>
        </p:nvSpPr>
        <p:spPr bwMode="auto">
          <a:xfrm>
            <a:off x="2843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7526338" y="2462213"/>
            <a:ext cx="576262" cy="360362"/>
            <a:chOff x="1610" y="1570"/>
            <a:chExt cx="363" cy="227"/>
          </a:xfrm>
        </p:grpSpPr>
        <p:sp>
          <p:nvSpPr>
            <p:cNvPr id="4114" name="Line 18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5" name="Oval 21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9241" name="Text Box 25"/>
          <p:cNvSpPr txBox="1">
            <a:spLocks noChangeArrowheads="1"/>
          </p:cNvSpPr>
          <p:nvPr/>
        </p:nvSpPr>
        <p:spPr bwMode="auto">
          <a:xfrm>
            <a:off x="1331913" y="5167313"/>
            <a:ext cx="2686050" cy="40481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Call by value semantics!</a:t>
            </a:r>
            <a:endParaRPr lang="en-US" altLang="nl-BE" sz="1400"/>
          </a:p>
        </p:txBody>
      </p:sp>
      <p:sp>
        <p:nvSpPr>
          <p:cNvPr id="9242" name="Text Box 26"/>
          <p:cNvSpPr txBox="1">
            <a:spLocks noChangeArrowheads="1"/>
          </p:cNvSpPr>
          <p:nvPr/>
        </p:nvSpPr>
        <p:spPr bwMode="auto">
          <a:xfrm>
            <a:off x="5219700" y="3429000"/>
            <a:ext cx="3409950" cy="404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 dynamic memory allocation!</a:t>
            </a:r>
          </a:p>
        </p:txBody>
      </p:sp>
      <p:sp>
        <p:nvSpPr>
          <p:cNvPr id="9243" name="Text Box 27"/>
          <p:cNvSpPr txBox="1">
            <a:spLocks noChangeArrowheads="1"/>
          </p:cNvSpPr>
          <p:nvPr/>
        </p:nvSpPr>
        <p:spPr bwMode="auto">
          <a:xfrm>
            <a:off x="4846638" y="4222750"/>
            <a:ext cx="36131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double[]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double vector[n];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</a:t>
            </a: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4271963" y="400526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9245" name="Text Box 29"/>
          <p:cNvSpPr txBox="1">
            <a:spLocks noChangeArrowheads="1"/>
          </p:cNvSpPr>
          <p:nvPr/>
        </p:nvSpPr>
        <p:spPr bwMode="auto">
          <a:xfrm>
            <a:off x="6011863" y="6165850"/>
            <a:ext cx="2622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to return an array?</a:t>
            </a:r>
          </a:p>
        </p:txBody>
      </p:sp>
      <p:grpSp>
        <p:nvGrpSpPr>
          <p:cNvPr id="6" name="Group 30"/>
          <p:cNvGrpSpPr>
            <a:grpSpLocks/>
          </p:cNvGrpSpPr>
          <p:nvPr/>
        </p:nvGrpSpPr>
        <p:grpSpPr bwMode="auto">
          <a:xfrm>
            <a:off x="5292725" y="4221163"/>
            <a:ext cx="576263" cy="360362"/>
            <a:chOff x="1610" y="1570"/>
            <a:chExt cx="363" cy="227"/>
          </a:xfrm>
        </p:grpSpPr>
        <p:sp>
          <p:nvSpPr>
            <p:cNvPr id="4112" name="Line 31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3" name="Line 32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121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0" grpId="0"/>
      <p:bldP spid="9241" grpId="0" animBg="1"/>
      <p:bldP spid="9242" grpId="0" animBg="1"/>
      <p:bldP spid="9243" grpId="0"/>
      <p:bldP spid="9244" grpId="0" animBg="1"/>
      <p:bldP spid="924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2</a:t>
            </a:r>
          </a:p>
        </p:txBody>
      </p:sp>
      <p:sp>
        <p:nvSpPr>
          <p:cNvPr id="5123" name="Text Box 8"/>
          <p:cNvSpPr txBox="1">
            <a:spLocks noChangeArrowheads="1"/>
          </p:cNvSpPr>
          <p:nvPr/>
        </p:nvSpPr>
        <p:spPr bwMode="auto">
          <a:xfrm>
            <a:off x="1093788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Rectangle 9"/>
          <p:cNvSpPr>
            <a:spLocks noChangeArrowheads="1"/>
          </p:cNvSpPr>
          <p:nvPr/>
        </p:nvSpPr>
        <p:spPr bwMode="auto">
          <a:xfrm>
            <a:off x="4933950" y="1628775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&amp;v.size);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6394" name="Text Box 10"/>
          <p:cNvSpPr txBox="1">
            <a:spLocks noChangeArrowheads="1"/>
          </p:cNvSpPr>
          <p:nvPr/>
        </p:nvSpPr>
        <p:spPr bwMode="auto">
          <a:xfrm>
            <a:off x="638175" y="5886450"/>
            <a:ext cx="2781300" cy="4953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copied!</a:t>
            </a:r>
          </a:p>
        </p:txBody>
      </p:sp>
      <p:sp>
        <p:nvSpPr>
          <p:cNvPr id="5126" name="Oval 11"/>
          <p:cNvSpPr>
            <a:spLocks noChangeArrowheads="1"/>
          </p:cNvSpPr>
          <p:nvPr/>
        </p:nvSpPr>
        <p:spPr bwMode="auto">
          <a:xfrm>
            <a:off x="468313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603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Von Neumann architecture</a:t>
            </a: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463800" y="3789363"/>
            <a:ext cx="13398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control unit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4456113" y="3789363"/>
            <a:ext cx="21780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arithmetic/logic unit</a:t>
            </a:r>
          </a:p>
        </p:txBody>
      </p:sp>
      <p:grpSp>
        <p:nvGrpSpPr>
          <p:cNvPr id="6149" name="Group 5"/>
          <p:cNvGrpSpPr>
            <a:grpSpLocks/>
          </p:cNvGrpSpPr>
          <p:nvPr/>
        </p:nvGrpSpPr>
        <p:grpSpPr bwMode="auto">
          <a:xfrm>
            <a:off x="2628900" y="1916113"/>
            <a:ext cx="3455988" cy="1328737"/>
            <a:chOff x="884" y="1207"/>
            <a:chExt cx="2177" cy="837"/>
          </a:xfrm>
        </p:grpSpPr>
        <p:sp>
          <p:nvSpPr>
            <p:cNvPr id="6176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7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0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1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2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3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4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5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6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7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8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9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0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1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2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6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7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8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9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0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4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5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6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7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8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9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0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1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2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3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4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8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9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0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1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2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3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4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5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6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7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8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0" name="Line 59"/>
          <p:cNvSpPr>
            <a:spLocks noChangeShapeType="1"/>
          </p:cNvSpPr>
          <p:nvPr/>
        </p:nvSpPr>
        <p:spPr bwMode="auto">
          <a:xfrm flipV="1">
            <a:off x="30003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60"/>
          <p:cNvSpPr>
            <a:spLocks noChangeShapeType="1"/>
          </p:cNvSpPr>
          <p:nvPr/>
        </p:nvSpPr>
        <p:spPr bwMode="auto">
          <a:xfrm flipV="1">
            <a:off x="5448300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61"/>
          <p:cNvSpPr>
            <a:spLocks noChangeShapeType="1"/>
          </p:cNvSpPr>
          <p:nvPr/>
        </p:nvSpPr>
        <p:spPr bwMode="auto">
          <a:xfrm>
            <a:off x="32162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62"/>
          <p:cNvSpPr>
            <a:spLocks noChangeShapeType="1"/>
          </p:cNvSpPr>
          <p:nvPr/>
        </p:nvSpPr>
        <p:spPr bwMode="auto">
          <a:xfrm>
            <a:off x="5656263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63"/>
          <p:cNvSpPr>
            <a:spLocks noChangeShapeType="1"/>
          </p:cNvSpPr>
          <p:nvPr/>
        </p:nvSpPr>
        <p:spPr bwMode="auto">
          <a:xfrm>
            <a:off x="3792538" y="3900488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64"/>
          <p:cNvSpPr>
            <a:spLocks noChangeShapeType="1"/>
          </p:cNvSpPr>
          <p:nvPr/>
        </p:nvSpPr>
        <p:spPr bwMode="auto">
          <a:xfrm flipH="1">
            <a:off x="3792538" y="4076700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Text Box 65"/>
          <p:cNvSpPr txBox="1">
            <a:spLocks noChangeArrowheads="1"/>
          </p:cNvSpPr>
          <p:nvPr/>
        </p:nvSpPr>
        <p:spPr bwMode="auto">
          <a:xfrm>
            <a:off x="3851275" y="2365375"/>
            <a:ext cx="10096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memory</a:t>
            </a:r>
          </a:p>
        </p:txBody>
      </p:sp>
      <p:sp>
        <p:nvSpPr>
          <p:cNvPr id="6157" name="Text Box 66"/>
          <p:cNvSpPr txBox="1">
            <a:spLocks noChangeArrowheads="1"/>
          </p:cNvSpPr>
          <p:nvPr/>
        </p:nvSpPr>
        <p:spPr bwMode="auto">
          <a:xfrm>
            <a:off x="4451350" y="4752975"/>
            <a:ext cx="717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</p:txBody>
      </p:sp>
      <p:sp>
        <p:nvSpPr>
          <p:cNvPr id="6158" name="Text Box 67"/>
          <p:cNvSpPr txBox="1">
            <a:spLocks noChangeArrowheads="1"/>
          </p:cNvSpPr>
          <p:nvPr/>
        </p:nvSpPr>
        <p:spPr bwMode="auto">
          <a:xfrm>
            <a:off x="5775325" y="4752975"/>
            <a:ext cx="8572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</p:txBody>
      </p:sp>
      <p:sp>
        <p:nvSpPr>
          <p:cNvPr id="6159" name="Line 68"/>
          <p:cNvSpPr>
            <a:spLocks noChangeShapeType="1"/>
          </p:cNvSpPr>
          <p:nvPr/>
        </p:nvSpPr>
        <p:spPr bwMode="auto">
          <a:xfrm>
            <a:off x="56642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69"/>
          <p:cNvSpPr>
            <a:spLocks noChangeShapeType="1"/>
          </p:cNvSpPr>
          <p:nvPr/>
        </p:nvSpPr>
        <p:spPr bwMode="auto">
          <a:xfrm flipV="1">
            <a:off x="48006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70"/>
          <p:cNvSpPr>
            <a:spLocks noChangeArrowheads="1"/>
          </p:cNvSpPr>
          <p:nvPr/>
        </p:nvSpPr>
        <p:spPr bwMode="auto">
          <a:xfrm>
            <a:off x="6661150" y="2997200"/>
            <a:ext cx="2232025" cy="576263"/>
          </a:xfrm>
          <a:prstGeom prst="cloudCallout">
            <a:avLst>
              <a:gd name="adj1" fmla="val -43528"/>
              <a:gd name="adj2" fmla="val 10757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17*x + y</a:t>
            </a:r>
          </a:p>
        </p:txBody>
      </p:sp>
      <p:grpSp>
        <p:nvGrpSpPr>
          <p:cNvPr id="6162" name="Group 71"/>
          <p:cNvGrpSpPr>
            <a:grpSpLocks/>
          </p:cNvGrpSpPr>
          <p:nvPr/>
        </p:nvGrpSpPr>
        <p:grpSpPr bwMode="auto">
          <a:xfrm>
            <a:off x="2844800" y="5445125"/>
            <a:ext cx="2016125" cy="1008063"/>
            <a:chOff x="657" y="3339"/>
            <a:chExt cx="1270" cy="635"/>
          </a:xfrm>
        </p:grpSpPr>
        <p:sp>
          <p:nvSpPr>
            <p:cNvPr id="6174" name="AutoShape 72"/>
            <p:cNvSpPr>
              <a:spLocks noChangeArrowheads="1"/>
            </p:cNvSpPr>
            <p:nvPr/>
          </p:nvSpPr>
          <p:spPr bwMode="auto">
            <a:xfrm>
              <a:off x="657" y="3339"/>
              <a:ext cx="1270" cy="635"/>
            </a:xfrm>
            <a:prstGeom prst="cloudCallout">
              <a:avLst>
                <a:gd name="adj1" fmla="val 47324"/>
                <a:gd name="adj2" fmla="val -6385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5" name="Picture 7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" y="3490"/>
              <a:ext cx="9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163" name="Group 74"/>
          <p:cNvGrpSpPr>
            <a:grpSpLocks/>
          </p:cNvGrpSpPr>
          <p:nvPr/>
        </p:nvGrpSpPr>
        <p:grpSpPr bwMode="auto">
          <a:xfrm>
            <a:off x="6157913" y="5229225"/>
            <a:ext cx="2519362" cy="1512888"/>
            <a:chOff x="3107" y="3294"/>
            <a:chExt cx="1587" cy="953"/>
          </a:xfrm>
        </p:grpSpPr>
        <p:sp>
          <p:nvSpPr>
            <p:cNvPr id="6172" name="AutoShape 75"/>
            <p:cNvSpPr>
              <a:spLocks noChangeArrowheads="1"/>
            </p:cNvSpPr>
            <p:nvPr/>
          </p:nvSpPr>
          <p:spPr bwMode="auto">
            <a:xfrm>
              <a:off x="3107" y="3294"/>
              <a:ext cx="1587" cy="953"/>
            </a:xfrm>
            <a:prstGeom prst="cloudCallout">
              <a:avLst>
                <a:gd name="adj1" fmla="val -43069"/>
                <a:gd name="adj2" fmla="val -43389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3" name="Picture 76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" y="3450"/>
              <a:ext cx="900" cy="6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164" name="AutoShape 77"/>
          <p:cNvSpPr>
            <a:spLocks noChangeArrowheads="1"/>
          </p:cNvSpPr>
          <p:nvPr/>
        </p:nvSpPr>
        <p:spPr bwMode="auto">
          <a:xfrm>
            <a:off x="1476375" y="4581525"/>
            <a:ext cx="1944688" cy="719138"/>
          </a:xfrm>
          <a:prstGeom prst="cloudCallout">
            <a:avLst>
              <a:gd name="adj1" fmla="val 25509"/>
              <a:gd name="adj2" fmla="val -8819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if (…) …</a:t>
            </a:r>
          </a:p>
        </p:txBody>
      </p:sp>
      <p:sp>
        <p:nvSpPr>
          <p:cNvPr id="6165" name="Rectangle 79"/>
          <p:cNvSpPr>
            <a:spLocks noChangeArrowheads="1"/>
          </p:cNvSpPr>
          <p:nvPr/>
        </p:nvSpPr>
        <p:spPr bwMode="auto">
          <a:xfrm>
            <a:off x="3205163" y="2133600"/>
            <a:ext cx="576262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6" name="AutoShape 80"/>
          <p:cNvSpPr>
            <a:spLocks noChangeArrowheads="1"/>
          </p:cNvSpPr>
          <p:nvPr/>
        </p:nvSpPr>
        <p:spPr bwMode="auto">
          <a:xfrm>
            <a:off x="1979613" y="1341438"/>
            <a:ext cx="1441450" cy="503237"/>
          </a:xfrm>
          <a:prstGeom prst="cloudCallout">
            <a:avLst>
              <a:gd name="adj1" fmla="val 50773"/>
              <a:gd name="adj2" fmla="val 8848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x == 3</a:t>
            </a:r>
          </a:p>
        </p:txBody>
      </p:sp>
      <p:grpSp>
        <p:nvGrpSpPr>
          <p:cNvPr id="6167" name="Group 81"/>
          <p:cNvGrpSpPr>
            <a:grpSpLocks/>
          </p:cNvGrpSpPr>
          <p:nvPr/>
        </p:nvGrpSpPr>
        <p:grpSpPr bwMode="auto">
          <a:xfrm>
            <a:off x="4933950" y="1268413"/>
            <a:ext cx="1943100" cy="1296987"/>
            <a:chOff x="2336" y="799"/>
            <a:chExt cx="1224" cy="817"/>
          </a:xfrm>
        </p:grpSpPr>
        <p:sp>
          <p:nvSpPr>
            <p:cNvPr id="6170" name="Rectangle 82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1" name="AutoShape 83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6168" name="Rectangle 84"/>
          <p:cNvSpPr>
            <a:spLocks noChangeArrowheads="1"/>
          </p:cNvSpPr>
          <p:nvPr/>
        </p:nvSpPr>
        <p:spPr bwMode="auto">
          <a:xfrm>
            <a:off x="2628900" y="2781300"/>
            <a:ext cx="576263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9" name="AutoShape 85"/>
          <p:cNvSpPr>
            <a:spLocks noChangeArrowheads="1"/>
          </p:cNvSpPr>
          <p:nvPr/>
        </p:nvSpPr>
        <p:spPr bwMode="auto">
          <a:xfrm>
            <a:off x="179388" y="3141663"/>
            <a:ext cx="2449512" cy="792162"/>
          </a:xfrm>
          <a:prstGeom prst="cloudCallout">
            <a:avLst>
              <a:gd name="adj1" fmla="val 45398"/>
              <a:gd name="adj2" fmla="val -80861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(…;…;..) 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6393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Memory addresses</a:t>
            </a:r>
          </a:p>
        </p:txBody>
      </p:sp>
      <p:grpSp>
        <p:nvGrpSpPr>
          <p:cNvPr id="7171" name="Group 5"/>
          <p:cNvGrpSpPr>
            <a:grpSpLocks/>
          </p:cNvGrpSpPr>
          <p:nvPr/>
        </p:nvGrpSpPr>
        <p:grpSpPr bwMode="auto">
          <a:xfrm>
            <a:off x="682625" y="2276475"/>
            <a:ext cx="3455988" cy="1328738"/>
            <a:chOff x="884" y="1207"/>
            <a:chExt cx="2177" cy="837"/>
          </a:xfrm>
        </p:grpSpPr>
        <p:sp>
          <p:nvSpPr>
            <p:cNvPr id="7281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2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3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4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5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6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7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8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9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0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1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2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3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4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5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6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7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8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9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0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1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2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3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4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5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6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7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8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9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0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1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2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3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4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5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6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7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8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9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0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1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2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3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4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5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6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7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8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9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0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1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2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3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2" name="Group 59"/>
          <p:cNvGrpSpPr>
            <a:grpSpLocks/>
          </p:cNvGrpSpPr>
          <p:nvPr/>
        </p:nvGrpSpPr>
        <p:grpSpPr bwMode="auto">
          <a:xfrm>
            <a:off x="179388" y="1701800"/>
            <a:ext cx="1655762" cy="1008063"/>
            <a:chOff x="567" y="845"/>
            <a:chExt cx="1043" cy="635"/>
          </a:xfrm>
        </p:grpSpPr>
        <p:sp>
          <p:nvSpPr>
            <p:cNvPr id="7279" name="Rectangle 60"/>
            <p:cNvSpPr>
              <a:spLocks noChangeArrowheads="1"/>
            </p:cNvSpPr>
            <p:nvPr/>
          </p:nvSpPr>
          <p:spPr bwMode="auto">
            <a:xfrm>
              <a:off x="1247" y="1344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0" name="AutoShape 61"/>
            <p:cNvSpPr>
              <a:spLocks noChangeArrowheads="1"/>
            </p:cNvSpPr>
            <p:nvPr/>
          </p:nvSpPr>
          <p:spPr bwMode="auto">
            <a:xfrm>
              <a:off x="567" y="845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grpSp>
        <p:nvGrpSpPr>
          <p:cNvPr id="7173" name="Group 62"/>
          <p:cNvGrpSpPr>
            <a:grpSpLocks/>
          </p:cNvGrpSpPr>
          <p:nvPr/>
        </p:nvGrpSpPr>
        <p:grpSpPr bwMode="auto">
          <a:xfrm>
            <a:off x="2987675" y="1628775"/>
            <a:ext cx="1943100" cy="1296988"/>
            <a:chOff x="2336" y="799"/>
            <a:chExt cx="1224" cy="817"/>
          </a:xfrm>
        </p:grpSpPr>
        <p:sp>
          <p:nvSpPr>
            <p:cNvPr id="7277" name="Rectangle 63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78" name="AutoShape 64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7174" name="Rectangle 66"/>
          <p:cNvSpPr>
            <a:spLocks noChangeArrowheads="1"/>
          </p:cNvSpPr>
          <p:nvPr/>
        </p:nvSpPr>
        <p:spPr bwMode="auto">
          <a:xfrm>
            <a:off x="898525" y="4979988"/>
            <a:ext cx="5978525" cy="249237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175" name="Line 72"/>
          <p:cNvSpPr>
            <a:spLocks noChangeShapeType="1"/>
          </p:cNvSpPr>
          <p:nvPr/>
        </p:nvSpPr>
        <p:spPr bwMode="auto">
          <a:xfrm>
            <a:off x="1484313" y="497998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73"/>
          <p:cNvSpPr>
            <a:spLocks noChangeShapeType="1"/>
          </p:cNvSpPr>
          <p:nvPr/>
        </p:nvSpPr>
        <p:spPr bwMode="auto">
          <a:xfrm>
            <a:off x="1412875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74"/>
          <p:cNvSpPr>
            <a:spLocks noChangeShapeType="1"/>
          </p:cNvSpPr>
          <p:nvPr/>
        </p:nvSpPr>
        <p:spPr bwMode="auto">
          <a:xfrm>
            <a:off x="13319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75"/>
          <p:cNvSpPr>
            <a:spLocks noChangeShapeType="1"/>
          </p:cNvSpPr>
          <p:nvPr/>
        </p:nvSpPr>
        <p:spPr bwMode="auto">
          <a:xfrm>
            <a:off x="12684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76"/>
          <p:cNvSpPr>
            <a:spLocks noChangeShapeType="1"/>
          </p:cNvSpPr>
          <p:nvPr/>
        </p:nvSpPr>
        <p:spPr bwMode="auto">
          <a:xfrm>
            <a:off x="11953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77"/>
          <p:cNvSpPr>
            <a:spLocks noChangeShapeType="1"/>
          </p:cNvSpPr>
          <p:nvPr/>
        </p:nvSpPr>
        <p:spPr bwMode="auto">
          <a:xfrm>
            <a:off x="1123950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78"/>
          <p:cNvSpPr>
            <a:spLocks noChangeShapeType="1"/>
          </p:cNvSpPr>
          <p:nvPr/>
        </p:nvSpPr>
        <p:spPr bwMode="auto">
          <a:xfrm>
            <a:off x="10525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79"/>
          <p:cNvSpPr>
            <a:spLocks noChangeShapeType="1"/>
          </p:cNvSpPr>
          <p:nvPr/>
        </p:nvSpPr>
        <p:spPr bwMode="auto">
          <a:xfrm>
            <a:off x="9794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Line 119"/>
          <p:cNvSpPr>
            <a:spLocks noChangeShapeType="1"/>
          </p:cNvSpPr>
          <p:nvPr/>
        </p:nvSpPr>
        <p:spPr bwMode="auto">
          <a:xfrm>
            <a:off x="2058988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4" name="Line 120"/>
          <p:cNvSpPr>
            <a:spLocks noChangeShapeType="1"/>
          </p:cNvSpPr>
          <p:nvPr/>
        </p:nvSpPr>
        <p:spPr bwMode="auto">
          <a:xfrm>
            <a:off x="19875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21"/>
          <p:cNvSpPr>
            <a:spLocks noChangeShapeType="1"/>
          </p:cNvSpPr>
          <p:nvPr/>
        </p:nvSpPr>
        <p:spPr bwMode="auto">
          <a:xfrm>
            <a:off x="19065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22"/>
          <p:cNvSpPr>
            <a:spLocks noChangeShapeType="1"/>
          </p:cNvSpPr>
          <p:nvPr/>
        </p:nvSpPr>
        <p:spPr bwMode="auto">
          <a:xfrm>
            <a:off x="18430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23"/>
          <p:cNvSpPr>
            <a:spLocks noChangeShapeType="1"/>
          </p:cNvSpPr>
          <p:nvPr/>
        </p:nvSpPr>
        <p:spPr bwMode="auto">
          <a:xfrm>
            <a:off x="17700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124"/>
          <p:cNvSpPr>
            <a:spLocks noChangeShapeType="1"/>
          </p:cNvSpPr>
          <p:nvPr/>
        </p:nvSpPr>
        <p:spPr bwMode="auto">
          <a:xfrm>
            <a:off x="16986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125"/>
          <p:cNvSpPr>
            <a:spLocks noChangeShapeType="1"/>
          </p:cNvSpPr>
          <p:nvPr/>
        </p:nvSpPr>
        <p:spPr bwMode="auto">
          <a:xfrm>
            <a:off x="162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126"/>
          <p:cNvSpPr>
            <a:spLocks noChangeShapeType="1"/>
          </p:cNvSpPr>
          <p:nvPr/>
        </p:nvSpPr>
        <p:spPr bwMode="auto">
          <a:xfrm>
            <a:off x="15541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127"/>
          <p:cNvSpPr>
            <a:spLocks noChangeShapeType="1"/>
          </p:cNvSpPr>
          <p:nvPr/>
        </p:nvSpPr>
        <p:spPr bwMode="auto">
          <a:xfrm>
            <a:off x="262731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128"/>
          <p:cNvSpPr>
            <a:spLocks noChangeShapeType="1"/>
          </p:cNvSpPr>
          <p:nvPr/>
        </p:nvSpPr>
        <p:spPr bwMode="auto">
          <a:xfrm>
            <a:off x="25558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129"/>
          <p:cNvSpPr>
            <a:spLocks noChangeShapeType="1"/>
          </p:cNvSpPr>
          <p:nvPr/>
        </p:nvSpPr>
        <p:spPr bwMode="auto">
          <a:xfrm>
            <a:off x="24749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130"/>
          <p:cNvSpPr>
            <a:spLocks noChangeShapeType="1"/>
          </p:cNvSpPr>
          <p:nvPr/>
        </p:nvSpPr>
        <p:spPr bwMode="auto">
          <a:xfrm>
            <a:off x="24114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131"/>
          <p:cNvSpPr>
            <a:spLocks noChangeShapeType="1"/>
          </p:cNvSpPr>
          <p:nvPr/>
        </p:nvSpPr>
        <p:spPr bwMode="auto">
          <a:xfrm>
            <a:off x="23383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132"/>
          <p:cNvSpPr>
            <a:spLocks noChangeShapeType="1"/>
          </p:cNvSpPr>
          <p:nvPr/>
        </p:nvSpPr>
        <p:spPr bwMode="auto">
          <a:xfrm>
            <a:off x="22669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133"/>
          <p:cNvSpPr>
            <a:spLocks noChangeShapeType="1"/>
          </p:cNvSpPr>
          <p:nvPr/>
        </p:nvSpPr>
        <p:spPr bwMode="auto">
          <a:xfrm>
            <a:off x="21955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134"/>
          <p:cNvSpPr>
            <a:spLocks noChangeShapeType="1"/>
          </p:cNvSpPr>
          <p:nvPr/>
        </p:nvSpPr>
        <p:spPr bwMode="auto">
          <a:xfrm>
            <a:off x="21224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135"/>
          <p:cNvSpPr>
            <a:spLocks noChangeShapeType="1"/>
          </p:cNvSpPr>
          <p:nvPr/>
        </p:nvSpPr>
        <p:spPr bwMode="auto">
          <a:xfrm>
            <a:off x="3203575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136"/>
          <p:cNvSpPr>
            <a:spLocks noChangeShapeType="1"/>
          </p:cNvSpPr>
          <p:nvPr/>
        </p:nvSpPr>
        <p:spPr bwMode="auto">
          <a:xfrm>
            <a:off x="31321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Line 137"/>
          <p:cNvSpPr>
            <a:spLocks noChangeShapeType="1"/>
          </p:cNvSpPr>
          <p:nvPr/>
        </p:nvSpPr>
        <p:spPr bwMode="auto">
          <a:xfrm>
            <a:off x="30511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2" name="Line 138"/>
          <p:cNvSpPr>
            <a:spLocks noChangeShapeType="1"/>
          </p:cNvSpPr>
          <p:nvPr/>
        </p:nvSpPr>
        <p:spPr bwMode="auto">
          <a:xfrm>
            <a:off x="29876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139"/>
          <p:cNvSpPr>
            <a:spLocks noChangeShapeType="1"/>
          </p:cNvSpPr>
          <p:nvPr/>
        </p:nvSpPr>
        <p:spPr bwMode="auto">
          <a:xfrm>
            <a:off x="29146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140"/>
          <p:cNvSpPr>
            <a:spLocks noChangeShapeType="1"/>
          </p:cNvSpPr>
          <p:nvPr/>
        </p:nvSpPr>
        <p:spPr bwMode="auto">
          <a:xfrm>
            <a:off x="28432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141"/>
          <p:cNvSpPr>
            <a:spLocks noChangeShapeType="1"/>
          </p:cNvSpPr>
          <p:nvPr/>
        </p:nvSpPr>
        <p:spPr bwMode="auto">
          <a:xfrm>
            <a:off x="27717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142"/>
          <p:cNvSpPr>
            <a:spLocks noChangeShapeType="1"/>
          </p:cNvSpPr>
          <p:nvPr/>
        </p:nvSpPr>
        <p:spPr bwMode="auto">
          <a:xfrm>
            <a:off x="26987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143"/>
          <p:cNvSpPr>
            <a:spLocks noChangeShapeType="1"/>
          </p:cNvSpPr>
          <p:nvPr/>
        </p:nvSpPr>
        <p:spPr bwMode="auto">
          <a:xfrm>
            <a:off x="377983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144"/>
          <p:cNvSpPr>
            <a:spLocks noChangeShapeType="1"/>
          </p:cNvSpPr>
          <p:nvPr/>
        </p:nvSpPr>
        <p:spPr bwMode="auto">
          <a:xfrm>
            <a:off x="37084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145"/>
          <p:cNvSpPr>
            <a:spLocks noChangeShapeType="1"/>
          </p:cNvSpPr>
          <p:nvPr/>
        </p:nvSpPr>
        <p:spPr bwMode="auto">
          <a:xfrm>
            <a:off x="36274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146"/>
          <p:cNvSpPr>
            <a:spLocks noChangeShapeType="1"/>
          </p:cNvSpPr>
          <p:nvPr/>
        </p:nvSpPr>
        <p:spPr bwMode="auto">
          <a:xfrm>
            <a:off x="35639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147"/>
          <p:cNvSpPr>
            <a:spLocks noChangeShapeType="1"/>
          </p:cNvSpPr>
          <p:nvPr/>
        </p:nvSpPr>
        <p:spPr bwMode="auto">
          <a:xfrm>
            <a:off x="34909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148"/>
          <p:cNvSpPr>
            <a:spLocks noChangeShapeType="1"/>
          </p:cNvSpPr>
          <p:nvPr/>
        </p:nvSpPr>
        <p:spPr bwMode="auto">
          <a:xfrm>
            <a:off x="34194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149"/>
          <p:cNvSpPr>
            <a:spLocks noChangeShapeType="1"/>
          </p:cNvSpPr>
          <p:nvPr/>
        </p:nvSpPr>
        <p:spPr bwMode="auto">
          <a:xfrm>
            <a:off x="33480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150"/>
          <p:cNvSpPr>
            <a:spLocks noChangeShapeType="1"/>
          </p:cNvSpPr>
          <p:nvPr/>
        </p:nvSpPr>
        <p:spPr bwMode="auto">
          <a:xfrm>
            <a:off x="32750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151"/>
          <p:cNvSpPr>
            <a:spLocks noChangeShapeType="1"/>
          </p:cNvSpPr>
          <p:nvPr/>
        </p:nvSpPr>
        <p:spPr bwMode="auto">
          <a:xfrm>
            <a:off x="4356100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152"/>
          <p:cNvSpPr>
            <a:spLocks noChangeShapeType="1"/>
          </p:cNvSpPr>
          <p:nvPr/>
        </p:nvSpPr>
        <p:spPr bwMode="auto">
          <a:xfrm>
            <a:off x="42846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153"/>
          <p:cNvSpPr>
            <a:spLocks noChangeShapeType="1"/>
          </p:cNvSpPr>
          <p:nvPr/>
        </p:nvSpPr>
        <p:spPr bwMode="auto">
          <a:xfrm>
            <a:off x="4203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154"/>
          <p:cNvSpPr>
            <a:spLocks noChangeShapeType="1"/>
          </p:cNvSpPr>
          <p:nvPr/>
        </p:nvSpPr>
        <p:spPr bwMode="auto">
          <a:xfrm>
            <a:off x="41402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155"/>
          <p:cNvSpPr>
            <a:spLocks noChangeShapeType="1"/>
          </p:cNvSpPr>
          <p:nvPr/>
        </p:nvSpPr>
        <p:spPr bwMode="auto">
          <a:xfrm>
            <a:off x="40671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156"/>
          <p:cNvSpPr>
            <a:spLocks noChangeShapeType="1"/>
          </p:cNvSpPr>
          <p:nvPr/>
        </p:nvSpPr>
        <p:spPr bwMode="auto">
          <a:xfrm>
            <a:off x="39957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157"/>
          <p:cNvSpPr>
            <a:spLocks noChangeShapeType="1"/>
          </p:cNvSpPr>
          <p:nvPr/>
        </p:nvSpPr>
        <p:spPr bwMode="auto">
          <a:xfrm>
            <a:off x="39243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158"/>
          <p:cNvSpPr>
            <a:spLocks noChangeShapeType="1"/>
          </p:cNvSpPr>
          <p:nvPr/>
        </p:nvSpPr>
        <p:spPr bwMode="auto">
          <a:xfrm>
            <a:off x="38512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Line 159"/>
          <p:cNvSpPr>
            <a:spLocks noChangeShapeType="1"/>
          </p:cNvSpPr>
          <p:nvPr/>
        </p:nvSpPr>
        <p:spPr bwMode="auto">
          <a:xfrm>
            <a:off x="493236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4" name="Line 160"/>
          <p:cNvSpPr>
            <a:spLocks noChangeShapeType="1"/>
          </p:cNvSpPr>
          <p:nvPr/>
        </p:nvSpPr>
        <p:spPr bwMode="auto">
          <a:xfrm>
            <a:off x="48609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5" name="Line 161"/>
          <p:cNvSpPr>
            <a:spLocks noChangeShapeType="1"/>
          </p:cNvSpPr>
          <p:nvPr/>
        </p:nvSpPr>
        <p:spPr bwMode="auto">
          <a:xfrm>
            <a:off x="47799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6" name="Line 162"/>
          <p:cNvSpPr>
            <a:spLocks noChangeShapeType="1"/>
          </p:cNvSpPr>
          <p:nvPr/>
        </p:nvSpPr>
        <p:spPr bwMode="auto">
          <a:xfrm>
            <a:off x="47164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7" name="Line 163"/>
          <p:cNvSpPr>
            <a:spLocks noChangeShapeType="1"/>
          </p:cNvSpPr>
          <p:nvPr/>
        </p:nvSpPr>
        <p:spPr bwMode="auto">
          <a:xfrm>
            <a:off x="46434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8" name="Line 164"/>
          <p:cNvSpPr>
            <a:spLocks noChangeShapeType="1"/>
          </p:cNvSpPr>
          <p:nvPr/>
        </p:nvSpPr>
        <p:spPr bwMode="auto">
          <a:xfrm>
            <a:off x="45720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9" name="Line 165"/>
          <p:cNvSpPr>
            <a:spLocks noChangeShapeType="1"/>
          </p:cNvSpPr>
          <p:nvPr/>
        </p:nvSpPr>
        <p:spPr bwMode="auto">
          <a:xfrm>
            <a:off x="45005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0" name="Line 166"/>
          <p:cNvSpPr>
            <a:spLocks noChangeShapeType="1"/>
          </p:cNvSpPr>
          <p:nvPr/>
        </p:nvSpPr>
        <p:spPr bwMode="auto">
          <a:xfrm>
            <a:off x="44275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1" name="Line 167"/>
          <p:cNvSpPr>
            <a:spLocks noChangeShapeType="1"/>
          </p:cNvSpPr>
          <p:nvPr/>
        </p:nvSpPr>
        <p:spPr bwMode="auto">
          <a:xfrm>
            <a:off x="5508625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2" name="Line 168"/>
          <p:cNvSpPr>
            <a:spLocks noChangeShapeType="1"/>
          </p:cNvSpPr>
          <p:nvPr/>
        </p:nvSpPr>
        <p:spPr bwMode="auto">
          <a:xfrm>
            <a:off x="543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3" name="Line 169"/>
          <p:cNvSpPr>
            <a:spLocks noChangeShapeType="1"/>
          </p:cNvSpPr>
          <p:nvPr/>
        </p:nvSpPr>
        <p:spPr bwMode="auto">
          <a:xfrm>
            <a:off x="53562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4" name="Line 170"/>
          <p:cNvSpPr>
            <a:spLocks noChangeShapeType="1"/>
          </p:cNvSpPr>
          <p:nvPr/>
        </p:nvSpPr>
        <p:spPr bwMode="auto">
          <a:xfrm>
            <a:off x="52927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5" name="Line 171"/>
          <p:cNvSpPr>
            <a:spLocks noChangeShapeType="1"/>
          </p:cNvSpPr>
          <p:nvPr/>
        </p:nvSpPr>
        <p:spPr bwMode="auto">
          <a:xfrm>
            <a:off x="5219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6" name="Line 172"/>
          <p:cNvSpPr>
            <a:spLocks noChangeShapeType="1"/>
          </p:cNvSpPr>
          <p:nvPr/>
        </p:nvSpPr>
        <p:spPr bwMode="auto">
          <a:xfrm>
            <a:off x="51482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7" name="Line 173"/>
          <p:cNvSpPr>
            <a:spLocks noChangeShapeType="1"/>
          </p:cNvSpPr>
          <p:nvPr/>
        </p:nvSpPr>
        <p:spPr bwMode="auto">
          <a:xfrm>
            <a:off x="50768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8" name="Line 174"/>
          <p:cNvSpPr>
            <a:spLocks noChangeShapeType="1"/>
          </p:cNvSpPr>
          <p:nvPr/>
        </p:nvSpPr>
        <p:spPr bwMode="auto">
          <a:xfrm>
            <a:off x="50038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9" name="Line 175"/>
          <p:cNvSpPr>
            <a:spLocks noChangeShapeType="1"/>
          </p:cNvSpPr>
          <p:nvPr/>
        </p:nvSpPr>
        <p:spPr bwMode="auto">
          <a:xfrm>
            <a:off x="608488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0" name="Line 176"/>
          <p:cNvSpPr>
            <a:spLocks noChangeShapeType="1"/>
          </p:cNvSpPr>
          <p:nvPr/>
        </p:nvSpPr>
        <p:spPr bwMode="auto">
          <a:xfrm>
            <a:off x="60134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1" name="Line 177"/>
          <p:cNvSpPr>
            <a:spLocks noChangeShapeType="1"/>
          </p:cNvSpPr>
          <p:nvPr/>
        </p:nvSpPr>
        <p:spPr bwMode="auto">
          <a:xfrm>
            <a:off x="59324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2" name="Line 178"/>
          <p:cNvSpPr>
            <a:spLocks noChangeShapeType="1"/>
          </p:cNvSpPr>
          <p:nvPr/>
        </p:nvSpPr>
        <p:spPr bwMode="auto">
          <a:xfrm>
            <a:off x="58689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3" name="Line 179"/>
          <p:cNvSpPr>
            <a:spLocks noChangeShapeType="1"/>
          </p:cNvSpPr>
          <p:nvPr/>
        </p:nvSpPr>
        <p:spPr bwMode="auto">
          <a:xfrm>
            <a:off x="57959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4" name="Line 180"/>
          <p:cNvSpPr>
            <a:spLocks noChangeShapeType="1"/>
          </p:cNvSpPr>
          <p:nvPr/>
        </p:nvSpPr>
        <p:spPr bwMode="auto">
          <a:xfrm>
            <a:off x="57245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5" name="Line 181"/>
          <p:cNvSpPr>
            <a:spLocks noChangeShapeType="1"/>
          </p:cNvSpPr>
          <p:nvPr/>
        </p:nvSpPr>
        <p:spPr bwMode="auto">
          <a:xfrm>
            <a:off x="56530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6" name="Line 182"/>
          <p:cNvSpPr>
            <a:spLocks noChangeShapeType="1"/>
          </p:cNvSpPr>
          <p:nvPr/>
        </p:nvSpPr>
        <p:spPr bwMode="auto">
          <a:xfrm>
            <a:off x="55800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7" name="Line 183"/>
          <p:cNvSpPr>
            <a:spLocks noChangeShapeType="1"/>
          </p:cNvSpPr>
          <p:nvPr/>
        </p:nvSpPr>
        <p:spPr bwMode="auto">
          <a:xfrm>
            <a:off x="6659563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8" name="Line 184"/>
          <p:cNvSpPr>
            <a:spLocks noChangeShapeType="1"/>
          </p:cNvSpPr>
          <p:nvPr/>
        </p:nvSpPr>
        <p:spPr bwMode="auto">
          <a:xfrm>
            <a:off x="65881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9" name="Line 185"/>
          <p:cNvSpPr>
            <a:spLocks noChangeShapeType="1"/>
          </p:cNvSpPr>
          <p:nvPr/>
        </p:nvSpPr>
        <p:spPr bwMode="auto">
          <a:xfrm>
            <a:off x="65071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0" name="Line 186"/>
          <p:cNvSpPr>
            <a:spLocks noChangeShapeType="1"/>
          </p:cNvSpPr>
          <p:nvPr/>
        </p:nvSpPr>
        <p:spPr bwMode="auto">
          <a:xfrm>
            <a:off x="64436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1" name="Line 187"/>
          <p:cNvSpPr>
            <a:spLocks noChangeShapeType="1"/>
          </p:cNvSpPr>
          <p:nvPr/>
        </p:nvSpPr>
        <p:spPr bwMode="auto">
          <a:xfrm>
            <a:off x="63706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2" name="Line 188"/>
          <p:cNvSpPr>
            <a:spLocks noChangeShapeType="1"/>
          </p:cNvSpPr>
          <p:nvPr/>
        </p:nvSpPr>
        <p:spPr bwMode="auto">
          <a:xfrm>
            <a:off x="62992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3" name="Line 189"/>
          <p:cNvSpPr>
            <a:spLocks noChangeShapeType="1"/>
          </p:cNvSpPr>
          <p:nvPr/>
        </p:nvSpPr>
        <p:spPr bwMode="auto">
          <a:xfrm>
            <a:off x="62277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4" name="Line 190"/>
          <p:cNvSpPr>
            <a:spLocks noChangeShapeType="1"/>
          </p:cNvSpPr>
          <p:nvPr/>
        </p:nvSpPr>
        <p:spPr bwMode="auto">
          <a:xfrm>
            <a:off x="61547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5" name="Rectangle 191"/>
          <p:cNvSpPr>
            <a:spLocks noChangeArrowheads="1"/>
          </p:cNvSpPr>
          <p:nvPr/>
        </p:nvSpPr>
        <p:spPr bwMode="auto">
          <a:xfrm>
            <a:off x="6732588" y="5005388"/>
            <a:ext cx="287337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256" name="Text Box 193"/>
          <p:cNvSpPr txBox="1">
            <a:spLocks noChangeArrowheads="1"/>
          </p:cNvSpPr>
          <p:nvPr/>
        </p:nvSpPr>
        <p:spPr bwMode="auto">
          <a:xfrm>
            <a:off x="80803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x01</a:t>
            </a:r>
          </a:p>
        </p:txBody>
      </p:sp>
      <p:sp>
        <p:nvSpPr>
          <p:cNvPr id="7257" name="Text Box 194"/>
          <p:cNvSpPr txBox="1">
            <a:spLocks noChangeArrowheads="1"/>
          </p:cNvSpPr>
          <p:nvPr/>
        </p:nvSpPr>
        <p:spPr bwMode="auto">
          <a:xfrm>
            <a:off x="138112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x02</a:t>
            </a:r>
          </a:p>
        </p:txBody>
      </p:sp>
      <p:sp>
        <p:nvSpPr>
          <p:cNvPr id="7258" name="Text Box 195"/>
          <p:cNvSpPr txBox="1">
            <a:spLocks noChangeArrowheads="1"/>
          </p:cNvSpPr>
          <p:nvPr/>
        </p:nvSpPr>
        <p:spPr bwMode="auto">
          <a:xfrm>
            <a:off x="315595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x05</a:t>
            </a:r>
          </a:p>
        </p:txBody>
      </p:sp>
      <p:sp>
        <p:nvSpPr>
          <p:cNvPr id="7259" name="Text Box 196"/>
          <p:cNvSpPr txBox="1">
            <a:spLocks noChangeArrowheads="1"/>
          </p:cNvSpPr>
          <p:nvPr/>
        </p:nvSpPr>
        <p:spPr bwMode="auto">
          <a:xfrm>
            <a:off x="19796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x03</a:t>
            </a:r>
          </a:p>
        </p:txBody>
      </p:sp>
      <p:sp>
        <p:nvSpPr>
          <p:cNvPr id="7260" name="Text Box 197"/>
          <p:cNvSpPr txBox="1">
            <a:spLocks noChangeArrowheads="1"/>
          </p:cNvSpPr>
          <p:nvPr/>
        </p:nvSpPr>
        <p:spPr bwMode="auto">
          <a:xfrm>
            <a:off x="25527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x04</a:t>
            </a:r>
          </a:p>
        </p:txBody>
      </p:sp>
      <p:sp>
        <p:nvSpPr>
          <p:cNvPr id="7261" name="Text Box 198"/>
          <p:cNvSpPr txBox="1">
            <a:spLocks noChangeArrowheads="1"/>
          </p:cNvSpPr>
          <p:nvPr/>
        </p:nvSpPr>
        <p:spPr bwMode="auto">
          <a:xfrm>
            <a:off x="37084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x06</a:t>
            </a:r>
          </a:p>
        </p:txBody>
      </p:sp>
      <p:sp>
        <p:nvSpPr>
          <p:cNvPr id="7262" name="Text Box 199"/>
          <p:cNvSpPr txBox="1">
            <a:spLocks noChangeArrowheads="1"/>
          </p:cNvSpPr>
          <p:nvPr/>
        </p:nvSpPr>
        <p:spPr bwMode="auto">
          <a:xfrm>
            <a:off x="428148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x07</a:t>
            </a:r>
          </a:p>
        </p:txBody>
      </p:sp>
      <p:sp>
        <p:nvSpPr>
          <p:cNvPr id="7263" name="Text Box 200"/>
          <p:cNvSpPr txBox="1">
            <a:spLocks noChangeArrowheads="1"/>
          </p:cNvSpPr>
          <p:nvPr/>
        </p:nvSpPr>
        <p:spPr bwMode="auto">
          <a:xfrm>
            <a:off x="60563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x10</a:t>
            </a:r>
          </a:p>
        </p:txBody>
      </p:sp>
      <p:sp>
        <p:nvSpPr>
          <p:cNvPr id="7264" name="Text Box 201"/>
          <p:cNvSpPr txBox="1">
            <a:spLocks noChangeArrowheads="1"/>
          </p:cNvSpPr>
          <p:nvPr/>
        </p:nvSpPr>
        <p:spPr bwMode="auto">
          <a:xfrm>
            <a:off x="487997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x08</a:t>
            </a:r>
          </a:p>
        </p:txBody>
      </p:sp>
      <p:sp>
        <p:nvSpPr>
          <p:cNvPr id="7265" name="Text Box 202"/>
          <p:cNvSpPr txBox="1">
            <a:spLocks noChangeArrowheads="1"/>
          </p:cNvSpPr>
          <p:nvPr/>
        </p:nvSpPr>
        <p:spPr bwMode="auto">
          <a:xfrm>
            <a:off x="545306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x09</a:t>
            </a:r>
          </a:p>
        </p:txBody>
      </p:sp>
      <p:grpSp>
        <p:nvGrpSpPr>
          <p:cNvPr id="5" name="Group 213"/>
          <p:cNvGrpSpPr>
            <a:grpSpLocks/>
          </p:cNvGrpSpPr>
          <p:nvPr/>
        </p:nvGrpSpPr>
        <p:grpSpPr bwMode="auto">
          <a:xfrm>
            <a:off x="1484313" y="4005263"/>
            <a:ext cx="2224087" cy="1208087"/>
            <a:chOff x="935" y="2523"/>
            <a:chExt cx="1401" cy="761"/>
          </a:xfrm>
        </p:grpSpPr>
        <p:sp>
          <p:nvSpPr>
            <p:cNvPr id="7275" name="Rectangle 203"/>
            <p:cNvSpPr>
              <a:spLocks noChangeArrowheads="1"/>
            </p:cNvSpPr>
            <p:nvPr/>
          </p:nvSpPr>
          <p:spPr bwMode="auto">
            <a:xfrm>
              <a:off x="935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-1</a:t>
              </a:r>
            </a:p>
          </p:txBody>
        </p:sp>
        <p:sp>
          <p:nvSpPr>
            <p:cNvPr id="7276" name="AutoShape 209"/>
            <p:cNvSpPr>
              <a:spLocks noChangeArrowheads="1"/>
            </p:cNvSpPr>
            <p:nvPr/>
          </p:nvSpPr>
          <p:spPr bwMode="auto">
            <a:xfrm>
              <a:off x="1384" y="2523"/>
              <a:ext cx="952" cy="317"/>
            </a:xfrm>
            <a:prstGeom prst="cloudCallout">
              <a:avLst>
                <a:gd name="adj1" fmla="val -52940"/>
                <a:gd name="adj2" fmla="val 12918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grpSp>
        <p:nvGrpSpPr>
          <p:cNvPr id="6" name="Group 214"/>
          <p:cNvGrpSpPr>
            <a:grpSpLocks/>
          </p:cNvGrpSpPr>
          <p:nvPr/>
        </p:nvGrpSpPr>
        <p:grpSpPr bwMode="auto">
          <a:xfrm>
            <a:off x="4211638" y="4221163"/>
            <a:ext cx="1873250" cy="992187"/>
            <a:chOff x="2653" y="2659"/>
            <a:chExt cx="1180" cy="625"/>
          </a:xfrm>
        </p:grpSpPr>
        <p:sp>
          <p:nvSpPr>
            <p:cNvPr id="7273" name="Rectangle 204"/>
            <p:cNvSpPr>
              <a:spLocks noChangeArrowheads="1"/>
            </p:cNvSpPr>
            <p:nvPr/>
          </p:nvSpPr>
          <p:spPr bwMode="auto">
            <a:xfrm>
              <a:off x="3113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3</a:t>
              </a:r>
            </a:p>
          </p:txBody>
        </p:sp>
        <p:sp>
          <p:nvSpPr>
            <p:cNvPr id="7274" name="AutoShape 212"/>
            <p:cNvSpPr>
              <a:spLocks noChangeArrowheads="1"/>
            </p:cNvSpPr>
            <p:nvPr/>
          </p:nvSpPr>
          <p:spPr bwMode="auto">
            <a:xfrm>
              <a:off x="2653" y="2659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sp>
        <p:nvSpPr>
          <p:cNvPr id="21719" name="Text Box 215"/>
          <p:cNvSpPr txBox="1">
            <a:spLocks noChangeArrowheads="1"/>
          </p:cNvSpPr>
          <p:nvPr/>
        </p:nvSpPr>
        <p:spPr bwMode="auto">
          <a:xfrm>
            <a:off x="2935288" y="5734050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x08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x02</a:t>
            </a:r>
          </a:p>
        </p:txBody>
      </p:sp>
      <p:sp>
        <p:nvSpPr>
          <p:cNvPr id="21720" name="Text Box 216"/>
          <p:cNvSpPr txBox="1">
            <a:spLocks noChangeArrowheads="1"/>
          </p:cNvSpPr>
          <p:nvPr/>
        </p:nvSpPr>
        <p:spPr bwMode="auto">
          <a:xfrm>
            <a:off x="971550" y="5734050"/>
            <a:ext cx="1492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-1</a:t>
            </a:r>
          </a:p>
        </p:txBody>
      </p:sp>
      <p:sp>
        <p:nvSpPr>
          <p:cNvPr id="21721" name="Text Box 217"/>
          <p:cNvSpPr txBox="1">
            <a:spLocks noChangeArrowheads="1"/>
          </p:cNvSpPr>
          <p:nvPr/>
        </p:nvSpPr>
        <p:spPr bwMode="auto">
          <a:xfrm>
            <a:off x="5311775" y="5734050"/>
            <a:ext cx="262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x02: -1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x08:  3</a:t>
            </a:r>
          </a:p>
        </p:txBody>
      </p:sp>
      <p:sp>
        <p:nvSpPr>
          <p:cNvPr id="7271" name="Line 218"/>
          <p:cNvSpPr>
            <a:spLocks noChangeShapeType="1"/>
          </p:cNvSpPr>
          <p:nvPr/>
        </p:nvSpPr>
        <p:spPr bwMode="auto">
          <a:xfrm>
            <a:off x="1331913" y="3860800"/>
            <a:ext cx="0" cy="8636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72" name="Text Box 192"/>
          <p:cNvSpPr txBox="1">
            <a:spLocks noChangeArrowheads="1"/>
          </p:cNvSpPr>
          <p:nvPr/>
        </p:nvSpPr>
        <p:spPr bwMode="auto">
          <a:xfrm>
            <a:off x="6700838" y="4779963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378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719" grpId="0"/>
      <p:bldP spid="21720" grpId="0"/>
      <p:bldP spid="217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addresses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1368425" y="1412875"/>
            <a:ext cx="6156325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 pointer is a variable that holds an address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735013" y="2360613"/>
            <a:ext cx="6375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Pointer types and variable declaration: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*p1;</a:t>
            </a:r>
            <a:r>
              <a:rPr lang="en-US" altLang="nl-BE" sz="1800"/>
              <a:t>                 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int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char *p2;</a:t>
            </a:r>
            <a:r>
              <a:rPr lang="en-US" altLang="nl-BE" sz="1800"/>
              <a:t>              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char*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*p3;</a:t>
            </a:r>
            <a:r>
              <a:rPr lang="en-US" altLang="nl-BE" sz="1800"/>
              <a:t>          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double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double*</a:t>
            </a: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179388" y="4965700"/>
            <a:ext cx="6211887" cy="527050"/>
            <a:chOff x="113" y="3128"/>
            <a:chExt cx="3913" cy="332"/>
          </a:xfrm>
        </p:grpSpPr>
        <p:sp>
          <p:nvSpPr>
            <p:cNvPr id="8211" name="Rectangle 7"/>
            <p:cNvSpPr>
              <a:spLocks noChangeArrowheads="1"/>
            </p:cNvSpPr>
            <p:nvPr/>
          </p:nvSpPr>
          <p:spPr bwMode="auto">
            <a:xfrm>
              <a:off x="170" y="3132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>
              <a:off x="539" y="3132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3" name="Line 9"/>
            <p:cNvSpPr>
              <a:spLocks noChangeShapeType="1"/>
            </p:cNvSpPr>
            <p:nvPr/>
          </p:nvSpPr>
          <p:spPr bwMode="auto">
            <a:xfrm>
              <a:off x="494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4" name="Line 10"/>
            <p:cNvSpPr>
              <a:spLocks noChangeShapeType="1"/>
            </p:cNvSpPr>
            <p:nvPr/>
          </p:nvSpPr>
          <p:spPr bwMode="auto">
            <a:xfrm>
              <a:off x="44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11"/>
            <p:cNvSpPr>
              <a:spLocks noChangeShapeType="1"/>
            </p:cNvSpPr>
            <p:nvPr/>
          </p:nvSpPr>
          <p:spPr bwMode="auto">
            <a:xfrm>
              <a:off x="40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12"/>
            <p:cNvSpPr>
              <a:spLocks noChangeShapeType="1"/>
            </p:cNvSpPr>
            <p:nvPr/>
          </p:nvSpPr>
          <p:spPr bwMode="auto">
            <a:xfrm>
              <a:off x="35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13"/>
            <p:cNvSpPr>
              <a:spLocks noChangeShapeType="1"/>
            </p:cNvSpPr>
            <p:nvPr/>
          </p:nvSpPr>
          <p:spPr bwMode="auto">
            <a:xfrm>
              <a:off x="312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26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221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16"/>
            <p:cNvSpPr>
              <a:spLocks noChangeShapeType="1"/>
            </p:cNvSpPr>
            <p:nvPr/>
          </p:nvSpPr>
          <p:spPr bwMode="auto">
            <a:xfrm>
              <a:off x="90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17"/>
            <p:cNvSpPr>
              <a:spLocks noChangeShapeType="1"/>
            </p:cNvSpPr>
            <p:nvPr/>
          </p:nvSpPr>
          <p:spPr bwMode="auto">
            <a:xfrm>
              <a:off x="8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18"/>
            <p:cNvSpPr>
              <a:spLocks noChangeShapeType="1"/>
            </p:cNvSpPr>
            <p:nvPr/>
          </p:nvSpPr>
          <p:spPr bwMode="auto">
            <a:xfrm>
              <a:off x="80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19"/>
            <p:cNvSpPr>
              <a:spLocks noChangeShapeType="1"/>
            </p:cNvSpPr>
            <p:nvPr/>
          </p:nvSpPr>
          <p:spPr bwMode="auto">
            <a:xfrm>
              <a:off x="76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20"/>
            <p:cNvSpPr>
              <a:spLocks noChangeShapeType="1"/>
            </p:cNvSpPr>
            <p:nvPr/>
          </p:nvSpPr>
          <p:spPr bwMode="auto">
            <a:xfrm>
              <a:off x="71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21"/>
            <p:cNvSpPr>
              <a:spLocks noChangeShapeType="1"/>
            </p:cNvSpPr>
            <p:nvPr/>
          </p:nvSpPr>
          <p:spPr bwMode="auto">
            <a:xfrm>
              <a:off x="67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22"/>
            <p:cNvSpPr>
              <a:spLocks noChangeShapeType="1"/>
            </p:cNvSpPr>
            <p:nvPr/>
          </p:nvSpPr>
          <p:spPr bwMode="auto">
            <a:xfrm>
              <a:off x="6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23"/>
            <p:cNvSpPr>
              <a:spLocks noChangeShapeType="1"/>
            </p:cNvSpPr>
            <p:nvPr/>
          </p:nvSpPr>
          <p:spPr bwMode="auto">
            <a:xfrm>
              <a:off x="58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8" name="Line 24"/>
            <p:cNvSpPr>
              <a:spLocks noChangeShapeType="1"/>
            </p:cNvSpPr>
            <p:nvPr/>
          </p:nvSpPr>
          <p:spPr bwMode="auto">
            <a:xfrm>
              <a:off x="1259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9" name="Line 25"/>
            <p:cNvSpPr>
              <a:spLocks noChangeShapeType="1"/>
            </p:cNvSpPr>
            <p:nvPr/>
          </p:nvSpPr>
          <p:spPr bwMode="auto">
            <a:xfrm>
              <a:off x="121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0" name="Line 26"/>
            <p:cNvSpPr>
              <a:spLocks noChangeShapeType="1"/>
            </p:cNvSpPr>
            <p:nvPr/>
          </p:nvSpPr>
          <p:spPr bwMode="auto">
            <a:xfrm>
              <a:off x="116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1" name="Line 27"/>
            <p:cNvSpPr>
              <a:spLocks noChangeShapeType="1"/>
            </p:cNvSpPr>
            <p:nvPr/>
          </p:nvSpPr>
          <p:spPr bwMode="auto">
            <a:xfrm>
              <a:off x="112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2" name="Line 28"/>
            <p:cNvSpPr>
              <a:spLocks noChangeShapeType="1"/>
            </p:cNvSpPr>
            <p:nvPr/>
          </p:nvSpPr>
          <p:spPr bwMode="auto">
            <a:xfrm>
              <a:off x="107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29"/>
            <p:cNvSpPr>
              <a:spLocks noChangeShapeType="1"/>
            </p:cNvSpPr>
            <p:nvPr/>
          </p:nvSpPr>
          <p:spPr bwMode="auto">
            <a:xfrm>
              <a:off x="103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30"/>
            <p:cNvSpPr>
              <a:spLocks noChangeShapeType="1"/>
            </p:cNvSpPr>
            <p:nvPr/>
          </p:nvSpPr>
          <p:spPr bwMode="auto">
            <a:xfrm>
              <a:off x="98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31"/>
            <p:cNvSpPr>
              <a:spLocks noChangeShapeType="1"/>
            </p:cNvSpPr>
            <p:nvPr/>
          </p:nvSpPr>
          <p:spPr bwMode="auto">
            <a:xfrm>
              <a:off x="94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6" name="Line 32"/>
            <p:cNvSpPr>
              <a:spLocks noChangeShapeType="1"/>
            </p:cNvSpPr>
            <p:nvPr/>
          </p:nvSpPr>
          <p:spPr bwMode="auto">
            <a:xfrm>
              <a:off x="1622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7" name="Line 33"/>
            <p:cNvSpPr>
              <a:spLocks noChangeShapeType="1"/>
            </p:cNvSpPr>
            <p:nvPr/>
          </p:nvSpPr>
          <p:spPr bwMode="auto">
            <a:xfrm>
              <a:off x="157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8" name="Line 34"/>
            <p:cNvSpPr>
              <a:spLocks noChangeShapeType="1"/>
            </p:cNvSpPr>
            <p:nvPr/>
          </p:nvSpPr>
          <p:spPr bwMode="auto">
            <a:xfrm>
              <a:off x="152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9" name="Line 35"/>
            <p:cNvSpPr>
              <a:spLocks noChangeShapeType="1"/>
            </p:cNvSpPr>
            <p:nvPr/>
          </p:nvSpPr>
          <p:spPr bwMode="auto">
            <a:xfrm>
              <a:off x="148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0" name="Line 36"/>
            <p:cNvSpPr>
              <a:spLocks noChangeShapeType="1"/>
            </p:cNvSpPr>
            <p:nvPr/>
          </p:nvSpPr>
          <p:spPr bwMode="auto">
            <a:xfrm>
              <a:off x="14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1" name="Line 37"/>
            <p:cNvSpPr>
              <a:spLocks noChangeShapeType="1"/>
            </p:cNvSpPr>
            <p:nvPr/>
          </p:nvSpPr>
          <p:spPr bwMode="auto">
            <a:xfrm>
              <a:off x="139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2" name="Line 38"/>
            <p:cNvSpPr>
              <a:spLocks noChangeShapeType="1"/>
            </p:cNvSpPr>
            <p:nvPr/>
          </p:nvSpPr>
          <p:spPr bwMode="auto">
            <a:xfrm>
              <a:off x="135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3" name="Line 39"/>
            <p:cNvSpPr>
              <a:spLocks noChangeShapeType="1"/>
            </p:cNvSpPr>
            <p:nvPr/>
          </p:nvSpPr>
          <p:spPr bwMode="auto">
            <a:xfrm>
              <a:off x="130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4" name="Line 40"/>
            <p:cNvSpPr>
              <a:spLocks noChangeShapeType="1"/>
            </p:cNvSpPr>
            <p:nvPr/>
          </p:nvSpPr>
          <p:spPr bwMode="auto">
            <a:xfrm>
              <a:off x="1985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5" name="Line 41"/>
            <p:cNvSpPr>
              <a:spLocks noChangeShapeType="1"/>
            </p:cNvSpPr>
            <p:nvPr/>
          </p:nvSpPr>
          <p:spPr bwMode="auto">
            <a:xfrm>
              <a:off x="19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6" name="Line 42"/>
            <p:cNvSpPr>
              <a:spLocks noChangeShapeType="1"/>
            </p:cNvSpPr>
            <p:nvPr/>
          </p:nvSpPr>
          <p:spPr bwMode="auto">
            <a:xfrm>
              <a:off x="188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7" name="Line 43"/>
            <p:cNvSpPr>
              <a:spLocks noChangeShapeType="1"/>
            </p:cNvSpPr>
            <p:nvPr/>
          </p:nvSpPr>
          <p:spPr bwMode="auto">
            <a:xfrm>
              <a:off x="184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8" name="Line 44"/>
            <p:cNvSpPr>
              <a:spLocks noChangeShapeType="1"/>
            </p:cNvSpPr>
            <p:nvPr/>
          </p:nvSpPr>
          <p:spPr bwMode="auto">
            <a:xfrm>
              <a:off x="18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9" name="Line 45"/>
            <p:cNvSpPr>
              <a:spLocks noChangeShapeType="1"/>
            </p:cNvSpPr>
            <p:nvPr/>
          </p:nvSpPr>
          <p:spPr bwMode="auto">
            <a:xfrm>
              <a:off x="1758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0" name="Line 46"/>
            <p:cNvSpPr>
              <a:spLocks noChangeShapeType="1"/>
            </p:cNvSpPr>
            <p:nvPr/>
          </p:nvSpPr>
          <p:spPr bwMode="auto">
            <a:xfrm>
              <a:off x="171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1" name="Line 47"/>
            <p:cNvSpPr>
              <a:spLocks noChangeShapeType="1"/>
            </p:cNvSpPr>
            <p:nvPr/>
          </p:nvSpPr>
          <p:spPr bwMode="auto">
            <a:xfrm>
              <a:off x="166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2" name="Line 48"/>
            <p:cNvSpPr>
              <a:spLocks noChangeShapeType="1"/>
            </p:cNvSpPr>
            <p:nvPr/>
          </p:nvSpPr>
          <p:spPr bwMode="auto">
            <a:xfrm>
              <a:off x="2348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3" name="Line 49"/>
            <p:cNvSpPr>
              <a:spLocks noChangeShapeType="1"/>
            </p:cNvSpPr>
            <p:nvPr/>
          </p:nvSpPr>
          <p:spPr bwMode="auto">
            <a:xfrm>
              <a:off x="230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4" name="Line 50"/>
            <p:cNvSpPr>
              <a:spLocks noChangeShapeType="1"/>
            </p:cNvSpPr>
            <p:nvPr/>
          </p:nvSpPr>
          <p:spPr bwMode="auto">
            <a:xfrm>
              <a:off x="225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5" name="Line 51"/>
            <p:cNvSpPr>
              <a:spLocks noChangeShapeType="1"/>
            </p:cNvSpPr>
            <p:nvPr/>
          </p:nvSpPr>
          <p:spPr bwMode="auto">
            <a:xfrm>
              <a:off x="221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6" name="Line 52"/>
            <p:cNvSpPr>
              <a:spLocks noChangeShapeType="1"/>
            </p:cNvSpPr>
            <p:nvPr/>
          </p:nvSpPr>
          <p:spPr bwMode="auto">
            <a:xfrm>
              <a:off x="21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7" name="Line 53"/>
            <p:cNvSpPr>
              <a:spLocks noChangeShapeType="1"/>
            </p:cNvSpPr>
            <p:nvPr/>
          </p:nvSpPr>
          <p:spPr bwMode="auto">
            <a:xfrm>
              <a:off x="212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8" name="Line 54"/>
            <p:cNvSpPr>
              <a:spLocks noChangeShapeType="1"/>
            </p:cNvSpPr>
            <p:nvPr/>
          </p:nvSpPr>
          <p:spPr bwMode="auto">
            <a:xfrm>
              <a:off x="207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9" name="Line 55"/>
            <p:cNvSpPr>
              <a:spLocks noChangeShapeType="1"/>
            </p:cNvSpPr>
            <p:nvPr/>
          </p:nvSpPr>
          <p:spPr bwMode="auto">
            <a:xfrm>
              <a:off x="2030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0" name="Line 56"/>
            <p:cNvSpPr>
              <a:spLocks noChangeShapeType="1"/>
            </p:cNvSpPr>
            <p:nvPr/>
          </p:nvSpPr>
          <p:spPr bwMode="auto">
            <a:xfrm>
              <a:off x="271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1" name="Line 57"/>
            <p:cNvSpPr>
              <a:spLocks noChangeShapeType="1"/>
            </p:cNvSpPr>
            <p:nvPr/>
          </p:nvSpPr>
          <p:spPr bwMode="auto">
            <a:xfrm>
              <a:off x="26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2" name="Line 58"/>
            <p:cNvSpPr>
              <a:spLocks noChangeShapeType="1"/>
            </p:cNvSpPr>
            <p:nvPr/>
          </p:nvSpPr>
          <p:spPr bwMode="auto">
            <a:xfrm>
              <a:off x="261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3" name="Line 59"/>
            <p:cNvSpPr>
              <a:spLocks noChangeShapeType="1"/>
            </p:cNvSpPr>
            <p:nvPr/>
          </p:nvSpPr>
          <p:spPr bwMode="auto">
            <a:xfrm>
              <a:off x="257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4" name="Line 60"/>
            <p:cNvSpPr>
              <a:spLocks noChangeShapeType="1"/>
            </p:cNvSpPr>
            <p:nvPr/>
          </p:nvSpPr>
          <p:spPr bwMode="auto">
            <a:xfrm>
              <a:off x="25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5" name="Line 61"/>
            <p:cNvSpPr>
              <a:spLocks noChangeShapeType="1"/>
            </p:cNvSpPr>
            <p:nvPr/>
          </p:nvSpPr>
          <p:spPr bwMode="auto">
            <a:xfrm>
              <a:off x="248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6" name="Line 62"/>
            <p:cNvSpPr>
              <a:spLocks noChangeShapeType="1"/>
            </p:cNvSpPr>
            <p:nvPr/>
          </p:nvSpPr>
          <p:spPr bwMode="auto">
            <a:xfrm>
              <a:off x="243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7" name="Line 63"/>
            <p:cNvSpPr>
              <a:spLocks noChangeShapeType="1"/>
            </p:cNvSpPr>
            <p:nvPr/>
          </p:nvSpPr>
          <p:spPr bwMode="auto">
            <a:xfrm>
              <a:off x="239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8" name="Line 64"/>
            <p:cNvSpPr>
              <a:spLocks noChangeShapeType="1"/>
            </p:cNvSpPr>
            <p:nvPr/>
          </p:nvSpPr>
          <p:spPr bwMode="auto">
            <a:xfrm>
              <a:off x="3074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9" name="Line 65"/>
            <p:cNvSpPr>
              <a:spLocks noChangeShapeType="1"/>
            </p:cNvSpPr>
            <p:nvPr/>
          </p:nvSpPr>
          <p:spPr bwMode="auto">
            <a:xfrm>
              <a:off x="30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0" name="Line 66"/>
            <p:cNvSpPr>
              <a:spLocks noChangeShapeType="1"/>
            </p:cNvSpPr>
            <p:nvPr/>
          </p:nvSpPr>
          <p:spPr bwMode="auto">
            <a:xfrm>
              <a:off x="297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1" name="Line 67"/>
            <p:cNvSpPr>
              <a:spLocks noChangeShapeType="1"/>
            </p:cNvSpPr>
            <p:nvPr/>
          </p:nvSpPr>
          <p:spPr bwMode="auto">
            <a:xfrm>
              <a:off x="293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2" name="Line 68"/>
            <p:cNvSpPr>
              <a:spLocks noChangeShapeType="1"/>
            </p:cNvSpPr>
            <p:nvPr/>
          </p:nvSpPr>
          <p:spPr bwMode="auto">
            <a:xfrm>
              <a:off x="289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3" name="Line 69"/>
            <p:cNvSpPr>
              <a:spLocks noChangeShapeType="1"/>
            </p:cNvSpPr>
            <p:nvPr/>
          </p:nvSpPr>
          <p:spPr bwMode="auto">
            <a:xfrm>
              <a:off x="284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4" name="Line 70"/>
            <p:cNvSpPr>
              <a:spLocks noChangeShapeType="1"/>
            </p:cNvSpPr>
            <p:nvPr/>
          </p:nvSpPr>
          <p:spPr bwMode="auto">
            <a:xfrm>
              <a:off x="280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5" name="Line 71"/>
            <p:cNvSpPr>
              <a:spLocks noChangeShapeType="1"/>
            </p:cNvSpPr>
            <p:nvPr/>
          </p:nvSpPr>
          <p:spPr bwMode="auto">
            <a:xfrm>
              <a:off x="27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6" name="Line 72"/>
            <p:cNvSpPr>
              <a:spLocks noChangeShapeType="1"/>
            </p:cNvSpPr>
            <p:nvPr/>
          </p:nvSpPr>
          <p:spPr bwMode="auto">
            <a:xfrm>
              <a:off x="3437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7" name="Line 73"/>
            <p:cNvSpPr>
              <a:spLocks noChangeShapeType="1"/>
            </p:cNvSpPr>
            <p:nvPr/>
          </p:nvSpPr>
          <p:spPr bwMode="auto">
            <a:xfrm>
              <a:off x="339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8" name="Line 74"/>
            <p:cNvSpPr>
              <a:spLocks noChangeShapeType="1"/>
            </p:cNvSpPr>
            <p:nvPr/>
          </p:nvSpPr>
          <p:spPr bwMode="auto">
            <a:xfrm>
              <a:off x="334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9" name="Line 75"/>
            <p:cNvSpPr>
              <a:spLocks noChangeShapeType="1"/>
            </p:cNvSpPr>
            <p:nvPr/>
          </p:nvSpPr>
          <p:spPr bwMode="auto">
            <a:xfrm>
              <a:off x="330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0" name="Line 76"/>
            <p:cNvSpPr>
              <a:spLocks noChangeShapeType="1"/>
            </p:cNvSpPr>
            <p:nvPr/>
          </p:nvSpPr>
          <p:spPr bwMode="auto">
            <a:xfrm>
              <a:off x="325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1" name="Line 77"/>
            <p:cNvSpPr>
              <a:spLocks noChangeShapeType="1"/>
            </p:cNvSpPr>
            <p:nvPr/>
          </p:nvSpPr>
          <p:spPr bwMode="auto">
            <a:xfrm>
              <a:off x="321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2" name="Line 78"/>
            <p:cNvSpPr>
              <a:spLocks noChangeShapeType="1"/>
            </p:cNvSpPr>
            <p:nvPr/>
          </p:nvSpPr>
          <p:spPr bwMode="auto">
            <a:xfrm>
              <a:off x="316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3" name="Line 79"/>
            <p:cNvSpPr>
              <a:spLocks noChangeShapeType="1"/>
            </p:cNvSpPr>
            <p:nvPr/>
          </p:nvSpPr>
          <p:spPr bwMode="auto">
            <a:xfrm>
              <a:off x="311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4" name="Line 80"/>
            <p:cNvSpPr>
              <a:spLocks noChangeShapeType="1"/>
            </p:cNvSpPr>
            <p:nvPr/>
          </p:nvSpPr>
          <p:spPr bwMode="auto">
            <a:xfrm>
              <a:off x="3799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5" name="Line 81"/>
            <p:cNvSpPr>
              <a:spLocks noChangeShapeType="1"/>
            </p:cNvSpPr>
            <p:nvPr/>
          </p:nvSpPr>
          <p:spPr bwMode="auto">
            <a:xfrm>
              <a:off x="375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6" name="Line 82"/>
            <p:cNvSpPr>
              <a:spLocks noChangeShapeType="1"/>
            </p:cNvSpPr>
            <p:nvPr/>
          </p:nvSpPr>
          <p:spPr bwMode="auto">
            <a:xfrm>
              <a:off x="37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7" name="Line 83"/>
            <p:cNvSpPr>
              <a:spLocks noChangeShapeType="1"/>
            </p:cNvSpPr>
            <p:nvPr/>
          </p:nvSpPr>
          <p:spPr bwMode="auto">
            <a:xfrm>
              <a:off x="366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8" name="Line 84"/>
            <p:cNvSpPr>
              <a:spLocks noChangeShapeType="1"/>
            </p:cNvSpPr>
            <p:nvPr/>
          </p:nvSpPr>
          <p:spPr bwMode="auto">
            <a:xfrm>
              <a:off x="361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9" name="Line 85"/>
            <p:cNvSpPr>
              <a:spLocks noChangeShapeType="1"/>
            </p:cNvSpPr>
            <p:nvPr/>
          </p:nvSpPr>
          <p:spPr bwMode="auto">
            <a:xfrm>
              <a:off x="357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0" name="Line 86"/>
            <p:cNvSpPr>
              <a:spLocks noChangeShapeType="1"/>
            </p:cNvSpPr>
            <p:nvPr/>
          </p:nvSpPr>
          <p:spPr bwMode="auto">
            <a:xfrm>
              <a:off x="352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1" name="Line 87"/>
            <p:cNvSpPr>
              <a:spLocks noChangeShapeType="1"/>
            </p:cNvSpPr>
            <p:nvPr/>
          </p:nvSpPr>
          <p:spPr bwMode="auto">
            <a:xfrm>
              <a:off x="348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2" name="Rectangle 88"/>
            <p:cNvSpPr>
              <a:spLocks noChangeArrowheads="1"/>
            </p:cNvSpPr>
            <p:nvPr/>
          </p:nvSpPr>
          <p:spPr bwMode="auto">
            <a:xfrm>
              <a:off x="3845" y="3148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93" name="Text Box 90"/>
            <p:cNvSpPr txBox="1">
              <a:spLocks noChangeArrowheads="1"/>
            </p:cNvSpPr>
            <p:nvPr/>
          </p:nvSpPr>
          <p:spPr bwMode="auto">
            <a:xfrm>
              <a:off x="113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8294" name="Text Box 91"/>
            <p:cNvSpPr txBox="1">
              <a:spLocks noChangeArrowheads="1"/>
            </p:cNvSpPr>
            <p:nvPr/>
          </p:nvSpPr>
          <p:spPr bwMode="auto">
            <a:xfrm>
              <a:off x="474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8295" name="Text Box 92"/>
            <p:cNvSpPr txBox="1">
              <a:spLocks noChangeArrowheads="1"/>
            </p:cNvSpPr>
            <p:nvPr/>
          </p:nvSpPr>
          <p:spPr bwMode="auto">
            <a:xfrm>
              <a:off x="159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8296" name="Text Box 93"/>
            <p:cNvSpPr txBox="1">
              <a:spLocks noChangeArrowheads="1"/>
            </p:cNvSpPr>
            <p:nvPr/>
          </p:nvSpPr>
          <p:spPr bwMode="auto">
            <a:xfrm>
              <a:off x="85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8297" name="Text Box 94"/>
            <p:cNvSpPr txBox="1">
              <a:spLocks noChangeArrowheads="1"/>
            </p:cNvSpPr>
            <p:nvPr/>
          </p:nvSpPr>
          <p:spPr bwMode="auto">
            <a:xfrm>
              <a:off x="121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8298" name="Text Box 95"/>
            <p:cNvSpPr txBox="1">
              <a:spLocks noChangeArrowheads="1"/>
            </p:cNvSpPr>
            <p:nvPr/>
          </p:nvSpPr>
          <p:spPr bwMode="auto">
            <a:xfrm>
              <a:off x="1940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8299" name="Text Box 96"/>
            <p:cNvSpPr txBox="1">
              <a:spLocks noChangeArrowheads="1"/>
            </p:cNvSpPr>
            <p:nvPr/>
          </p:nvSpPr>
          <p:spPr bwMode="auto">
            <a:xfrm>
              <a:off x="230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8300" name="Text Box 97"/>
            <p:cNvSpPr txBox="1">
              <a:spLocks noChangeArrowheads="1"/>
            </p:cNvSpPr>
            <p:nvPr/>
          </p:nvSpPr>
          <p:spPr bwMode="auto">
            <a:xfrm>
              <a:off x="341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8301" name="Text Box 98"/>
            <p:cNvSpPr txBox="1">
              <a:spLocks noChangeArrowheads="1"/>
            </p:cNvSpPr>
            <p:nvPr/>
          </p:nvSpPr>
          <p:spPr bwMode="auto">
            <a:xfrm>
              <a:off x="2678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8302" name="Text Box 99"/>
            <p:cNvSpPr txBox="1">
              <a:spLocks noChangeArrowheads="1"/>
            </p:cNvSpPr>
            <p:nvPr/>
          </p:nvSpPr>
          <p:spPr bwMode="auto">
            <a:xfrm>
              <a:off x="303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3"/>
          <p:cNvGrpSpPr>
            <a:grpSpLocks/>
          </p:cNvGrpSpPr>
          <p:nvPr/>
        </p:nvGrpSpPr>
        <p:grpSpPr bwMode="auto">
          <a:xfrm>
            <a:off x="855663" y="3860800"/>
            <a:ext cx="7700962" cy="1344613"/>
            <a:chOff x="539" y="2432"/>
            <a:chExt cx="4851" cy="847"/>
          </a:xfrm>
        </p:grpSpPr>
        <p:grpSp>
          <p:nvGrpSpPr>
            <p:cNvPr id="8204" name="Group 100"/>
            <p:cNvGrpSpPr>
              <a:grpSpLocks/>
            </p:cNvGrpSpPr>
            <p:nvPr/>
          </p:nvGrpSpPr>
          <p:grpSpPr bwMode="auto">
            <a:xfrm>
              <a:off x="539" y="2518"/>
              <a:ext cx="1401" cy="761"/>
              <a:chOff x="935" y="2523"/>
              <a:chExt cx="1401" cy="761"/>
            </a:xfrm>
          </p:grpSpPr>
          <p:sp>
            <p:nvSpPr>
              <p:cNvPr id="8209" name="Rectangle 10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8210" name="AutoShape 10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8205" name="Group 103"/>
            <p:cNvGrpSpPr>
              <a:grpSpLocks/>
            </p:cNvGrpSpPr>
            <p:nvPr/>
          </p:nvGrpSpPr>
          <p:grpSpPr bwMode="auto">
            <a:xfrm>
              <a:off x="2257" y="2654"/>
              <a:ext cx="1180" cy="625"/>
              <a:chOff x="2653" y="2659"/>
              <a:chExt cx="1180" cy="625"/>
            </a:xfrm>
          </p:grpSpPr>
          <p:sp>
            <p:nvSpPr>
              <p:cNvPr id="8207" name="Rectangle 104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8208" name="AutoShape 105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8206" name="Text Box 106"/>
            <p:cNvSpPr txBox="1">
              <a:spLocks noChangeArrowheads="1"/>
            </p:cNvSpPr>
            <p:nvPr/>
          </p:nvSpPr>
          <p:spPr bwMode="auto">
            <a:xfrm>
              <a:off x="4332" y="2432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</a:t>
              </a: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&amp;</a:t>
              </a:r>
              <a:r>
                <a:rPr lang="en-US" altLang="nl-BE" sz="1800">
                  <a:latin typeface="Times New Roman" panose="02020603050405020304" pitchFamily="18" charset="0"/>
                </a:rPr>
                <a:t>x;</a:t>
              </a:r>
            </a:p>
          </p:txBody>
        </p:sp>
      </p:grpSp>
      <p:sp>
        <p:nvSpPr>
          <p:cNvPr id="24683" name="Text Box 107"/>
          <p:cNvSpPr txBox="1">
            <a:spLocks noChangeArrowheads="1"/>
          </p:cNvSpPr>
          <p:nvPr/>
        </p:nvSpPr>
        <p:spPr bwMode="auto">
          <a:xfrm>
            <a:off x="6877050" y="5143500"/>
            <a:ext cx="8969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</p:txBody>
      </p:sp>
      <p:sp>
        <p:nvSpPr>
          <p:cNvPr id="24684" name="Text Box 108"/>
          <p:cNvSpPr txBox="1">
            <a:spLocks noChangeArrowheads="1"/>
          </p:cNvSpPr>
          <p:nvPr/>
        </p:nvSpPr>
        <p:spPr bwMode="auto">
          <a:xfrm>
            <a:off x="7216775" y="4578350"/>
            <a:ext cx="10826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4685" name="Text Box 109"/>
          <p:cNvSpPr txBox="1">
            <a:spLocks noChangeArrowheads="1"/>
          </p:cNvSpPr>
          <p:nvPr/>
        </p:nvSpPr>
        <p:spPr bwMode="auto">
          <a:xfrm>
            <a:off x="7216775" y="5653088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x02</a:t>
            </a:r>
          </a:p>
        </p:txBody>
      </p:sp>
      <p:sp>
        <p:nvSpPr>
          <p:cNvPr id="24687" name="Text Box 111"/>
          <p:cNvSpPr txBox="1">
            <a:spLocks noChangeArrowheads="1"/>
          </p:cNvSpPr>
          <p:nvPr/>
        </p:nvSpPr>
        <p:spPr bwMode="auto">
          <a:xfrm>
            <a:off x="3638550" y="6094413"/>
            <a:ext cx="3271838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&amp;</a:t>
            </a:r>
            <a:r>
              <a:rPr lang="en-US" altLang="nl-BE" sz="2400"/>
              <a:t> operator: address of</a:t>
            </a:r>
          </a:p>
        </p:txBody>
      </p:sp>
      <p:sp>
        <p:nvSpPr>
          <p:cNvPr id="24665" name="Text Box 89"/>
          <p:cNvSpPr txBox="1">
            <a:spLocks noChangeArrowheads="1"/>
          </p:cNvSpPr>
          <p:nvPr/>
        </p:nvSpPr>
        <p:spPr bwMode="auto">
          <a:xfrm>
            <a:off x="6072188" y="4772025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4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/>
      <p:bldP spid="24683" grpId="0"/>
      <p:bldP spid="24684" grpId="0" animBg="1"/>
      <p:bldP spid="24685" grpId="0" animBg="1"/>
      <p:bldP spid="24687" grpId="0" animBg="1"/>
      <p:bldP spid="2466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values</a:t>
            </a:r>
          </a:p>
        </p:txBody>
      </p:sp>
      <p:grpSp>
        <p:nvGrpSpPr>
          <p:cNvPr id="9219" name="Group 115"/>
          <p:cNvGrpSpPr>
            <a:grpSpLocks/>
          </p:cNvGrpSpPr>
          <p:nvPr/>
        </p:nvGrpSpPr>
        <p:grpSpPr bwMode="auto">
          <a:xfrm>
            <a:off x="250825" y="1901825"/>
            <a:ext cx="6381750" cy="720725"/>
            <a:chOff x="249" y="1278"/>
            <a:chExt cx="4020" cy="454"/>
          </a:xfrm>
        </p:grpSpPr>
        <p:sp>
          <p:nvSpPr>
            <p:cNvPr id="9346" name="Rectangle 6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47" name="Line 7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8" name="Line 8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9" name="Line 9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0" name="Line 10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1" name="Line 11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2" name="Line 12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3" name="Line 13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4" name="Line 14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5" name="Line 15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6" name="Line 16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7" name="Line 17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8" name="Line 18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9" name="Line 19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0" name="Line 20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1" name="Line 21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2" name="Line 22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3" name="Line 23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4" name="Line 24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5" name="Line 25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6" name="Line 26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7" name="Line 27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8" name="Line 28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9" name="Line 29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0" name="Line 30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1" name="Line 31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2" name="Line 32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3" name="Line 33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4" name="Line 34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5" name="Line 35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6" name="Line 36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7" name="Line 37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8" name="Line 38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9" name="Line 39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0" name="Line 40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1" name="Line 41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2" name="Line 42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3" name="Line 43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4" name="Line 44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5" name="Line 45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6" name="Line 46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7" name="Line 47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8" name="Line 48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9" name="Line 49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0" name="Line 50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1" name="Line 51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2" name="Line 52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3" name="Line 53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4" name="Line 54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5" name="Line 55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6" name="Line 56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7" name="Line 57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8" name="Line 58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9" name="Line 59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0" name="Line 60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1" name="Line 61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2" name="Line 62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3" name="Line 63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4" name="Line 64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5" name="Line 65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6" name="Line 66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7" name="Line 67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8" name="Line 68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9" name="Line 69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0" name="Line 70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1" name="Line 71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2" name="Line 72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3" name="Line 73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4" name="Line 74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5" name="Line 75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6" name="Line 76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7" name="Line 77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8" name="Line 78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9" name="Line 79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0" name="Line 80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1" name="Line 81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2" name="Line 82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3" name="Line 83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4" name="Line 84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5" name="Line 85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6" name="Line 86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7" name="Rectangle 87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428" name="Text Box 88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429" name="Text Box 89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430" name="Text Box 90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431" name="Text Box 91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432" name="Text Box 92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433" name="Text Box 93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434" name="Text Box 94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435" name="Text Box 95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436" name="Text Box 96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437" name="Text Box 97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438" name="Text Box 98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6"/>
          <p:cNvGrpSpPr>
            <a:grpSpLocks/>
          </p:cNvGrpSpPr>
          <p:nvPr/>
        </p:nvGrpSpPr>
        <p:grpSpPr bwMode="auto">
          <a:xfrm>
            <a:off x="927100" y="1127125"/>
            <a:ext cx="7627938" cy="1208088"/>
            <a:chOff x="675" y="790"/>
            <a:chExt cx="4805" cy="761"/>
          </a:xfrm>
        </p:grpSpPr>
        <p:grpSp>
          <p:nvGrpSpPr>
            <p:cNvPr id="9339" name="Group 99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344" name="Rectangle 100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345" name="AutoShape 101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340" name="Group 102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342" name="Rectangle 103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43" name="AutoShape 104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341" name="Text Box 105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</p:grpSp>
      <p:sp>
        <p:nvSpPr>
          <p:cNvPr id="27754" name="Text Box 106"/>
          <p:cNvSpPr txBox="1">
            <a:spLocks noChangeArrowheads="1"/>
          </p:cNvSpPr>
          <p:nvPr/>
        </p:nvSpPr>
        <p:spPr bwMode="auto">
          <a:xfrm>
            <a:off x="6875463" y="24876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y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p;</a:t>
            </a:r>
          </a:p>
        </p:txBody>
      </p:sp>
      <p:sp>
        <p:nvSpPr>
          <p:cNvPr id="27755" name="Text Box 107"/>
          <p:cNvSpPr txBox="1">
            <a:spLocks noChangeArrowheads="1"/>
          </p:cNvSpPr>
          <p:nvPr/>
        </p:nvSpPr>
        <p:spPr bwMode="auto">
          <a:xfrm>
            <a:off x="7215188" y="1922463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7757" name="Text Box 109"/>
          <p:cNvSpPr txBox="1">
            <a:spLocks noChangeArrowheads="1"/>
          </p:cNvSpPr>
          <p:nvPr/>
        </p:nvSpPr>
        <p:spPr bwMode="auto">
          <a:xfrm>
            <a:off x="3060700" y="2852738"/>
            <a:ext cx="28321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*</a:t>
            </a:r>
            <a:r>
              <a:rPr lang="en-US" altLang="nl-BE" sz="2400"/>
              <a:t> operator: value at</a:t>
            </a:r>
          </a:p>
        </p:txBody>
      </p:sp>
      <p:grpSp>
        <p:nvGrpSpPr>
          <p:cNvPr id="6" name="Group 114"/>
          <p:cNvGrpSpPr>
            <a:grpSpLocks/>
          </p:cNvGrpSpPr>
          <p:nvPr/>
        </p:nvGrpSpPr>
        <p:grpSpPr bwMode="auto">
          <a:xfrm>
            <a:off x="922338" y="1125538"/>
            <a:ext cx="7121525" cy="2247900"/>
            <a:chOff x="672" y="789"/>
            <a:chExt cx="4486" cy="1416"/>
          </a:xfrm>
        </p:grpSpPr>
        <p:sp>
          <p:nvSpPr>
            <p:cNvPr id="9335" name="Text Box 108"/>
            <p:cNvSpPr txBox="1">
              <a:spLocks noChangeArrowheads="1"/>
            </p:cNvSpPr>
            <p:nvPr/>
          </p:nvSpPr>
          <p:spPr bwMode="auto">
            <a:xfrm>
              <a:off x="4636" y="1968"/>
              <a:ext cx="52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3</a:t>
              </a:r>
            </a:p>
          </p:txBody>
        </p:sp>
        <p:grpSp>
          <p:nvGrpSpPr>
            <p:cNvPr id="9336" name="Group 110"/>
            <p:cNvGrpSpPr>
              <a:grpSpLocks/>
            </p:cNvGrpSpPr>
            <p:nvPr/>
          </p:nvGrpSpPr>
          <p:grpSpPr bwMode="auto">
            <a:xfrm>
              <a:off x="672" y="789"/>
              <a:ext cx="1401" cy="761"/>
              <a:chOff x="935" y="2523"/>
              <a:chExt cx="1401" cy="761"/>
            </a:xfrm>
          </p:grpSpPr>
          <p:sp>
            <p:nvSpPr>
              <p:cNvPr id="9337" name="Rectangle 11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38" name="AutoShape 11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3</a:t>
                </a:r>
              </a:p>
            </p:txBody>
          </p:sp>
        </p:grpSp>
      </p:grpSp>
      <p:grpSp>
        <p:nvGrpSpPr>
          <p:cNvPr id="8" name="Group 117"/>
          <p:cNvGrpSpPr>
            <a:grpSpLocks/>
          </p:cNvGrpSpPr>
          <p:nvPr/>
        </p:nvGrpSpPr>
        <p:grpSpPr bwMode="auto">
          <a:xfrm>
            <a:off x="250825" y="4429125"/>
            <a:ext cx="6381750" cy="720725"/>
            <a:chOff x="249" y="1278"/>
            <a:chExt cx="4020" cy="454"/>
          </a:xfrm>
        </p:grpSpPr>
        <p:sp>
          <p:nvSpPr>
            <p:cNvPr id="9242" name="Rectangle 118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243" name="Line 119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Line 120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5" name="Line 121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22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7" name="Line 123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8" name="Line 124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9" name="Line 125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126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127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128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3" name="Line 129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130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131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132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7" name="Line 133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8" name="Line 134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9" name="Line 135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0" name="Line 136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1" name="Line 137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2" name="Line 138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3" name="Line 139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140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141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142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7" name="Line 143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8" name="Line 144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9" name="Line 145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0" name="Line 146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1" name="Line 147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2" name="Line 148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3" name="Line 149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4" name="Line 150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5" name="Line 151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6" name="Line 152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7" name="Line 153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8" name="Line 154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9" name="Line 155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0" name="Line 156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1" name="Line 157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2" name="Line 158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3" name="Line 159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4" name="Line 160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5" name="Line 161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6" name="Line 162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7" name="Line 163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8" name="Line 164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9" name="Line 165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0" name="Line 166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1" name="Line 167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2" name="Line 168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3" name="Line 169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4" name="Line 170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5" name="Line 171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6" name="Line 172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7" name="Line 173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8" name="Line 174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9" name="Line 175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0" name="Line 176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1" name="Line 177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2" name="Line 178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3" name="Line 179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4" name="Line 180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5" name="Line 181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6" name="Line 182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7" name="Line 183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8" name="Line 184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9" name="Line 185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0" name="Line 186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1" name="Line 187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2" name="Line 188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3" name="Line 189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4" name="Line 190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5" name="Line 191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6" name="Line 192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7" name="Line 193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8" name="Line 194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9" name="Line 195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0" name="Line 196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1" name="Line 197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2" name="Line 198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3" name="Rectangle 199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24" name="Text Box 200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325" name="Text Box 201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326" name="Text Box 202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327" name="Text Box 203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328" name="Text Box 204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329" name="Text Box 205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330" name="Text Box 206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331" name="Text Box 207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332" name="Text Box 208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333" name="Text Box 209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334" name="Text Box 210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9" name="Group 211"/>
          <p:cNvGrpSpPr>
            <a:grpSpLocks/>
          </p:cNvGrpSpPr>
          <p:nvPr/>
        </p:nvGrpSpPr>
        <p:grpSpPr bwMode="auto">
          <a:xfrm>
            <a:off x="922338" y="3652838"/>
            <a:ext cx="7627937" cy="1208087"/>
            <a:chOff x="675" y="790"/>
            <a:chExt cx="4805" cy="761"/>
          </a:xfrm>
        </p:grpSpPr>
        <p:grpSp>
          <p:nvGrpSpPr>
            <p:cNvPr id="9235" name="Group 212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240" name="Rectangle 213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241" name="AutoShape 214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236" name="Group 215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238" name="Rectangle 216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239" name="AutoShape 217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237" name="Text Box 218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2" name="Group 226"/>
          <p:cNvGrpSpPr>
            <a:grpSpLocks/>
          </p:cNvGrpSpPr>
          <p:nvPr/>
        </p:nvGrpSpPr>
        <p:grpSpPr bwMode="auto">
          <a:xfrm>
            <a:off x="2667000" y="4005263"/>
            <a:ext cx="5510213" cy="2087562"/>
            <a:chOff x="1771" y="2750"/>
            <a:chExt cx="3471" cy="1315"/>
          </a:xfrm>
        </p:grpSpPr>
        <p:sp>
          <p:nvSpPr>
            <p:cNvPr id="9231" name="Rectangle 219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9232" name="Group 225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9233" name="Rectangle 223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9234" name="AutoShape 224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sp>
        <p:nvSpPr>
          <p:cNvPr id="27875" name="Text Box 227"/>
          <p:cNvSpPr txBox="1">
            <a:spLocks noChangeArrowheads="1"/>
          </p:cNvSpPr>
          <p:nvPr/>
        </p:nvSpPr>
        <p:spPr bwMode="auto">
          <a:xfrm>
            <a:off x="6877050" y="5367338"/>
            <a:ext cx="939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*r, s;</a:t>
            </a:r>
          </a:p>
        </p:txBody>
      </p:sp>
      <p:sp>
        <p:nvSpPr>
          <p:cNvPr id="27878" name="Rectangle 230"/>
          <p:cNvSpPr>
            <a:spLocks noChangeArrowheads="1"/>
          </p:cNvSpPr>
          <p:nvPr/>
        </p:nvSpPr>
        <p:spPr bwMode="auto">
          <a:xfrm>
            <a:off x="6877050" y="5883275"/>
            <a:ext cx="1655763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is </a:t>
            </a:r>
            <a:r>
              <a:rPr lang="en-US" altLang="nl-BE" sz="1800">
                <a:latin typeface="Times New Roman" panose="02020603050405020304" pitchFamily="18" charset="0"/>
              </a:rPr>
              <a:t>int*</a:t>
            </a:r>
            <a:r>
              <a:rPr lang="en-US" altLang="nl-BE" sz="1800"/>
              <a:t>, but…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</a:t>
            </a:r>
          </a:p>
        </p:txBody>
      </p:sp>
      <p:sp>
        <p:nvSpPr>
          <p:cNvPr id="27879" name="Text Box 231"/>
          <p:cNvSpPr txBox="1">
            <a:spLocks noChangeArrowheads="1"/>
          </p:cNvSpPr>
          <p:nvPr/>
        </p:nvSpPr>
        <p:spPr bwMode="auto">
          <a:xfrm>
            <a:off x="447675" y="5681663"/>
            <a:ext cx="22288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 pointer variable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has an address too!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54" grpId="0"/>
      <p:bldP spid="27755" grpId="0" animBg="1"/>
      <p:bldP spid="27757" grpId="0" animBg="1"/>
      <p:bldP spid="27875" grpId="0"/>
      <p:bldP spid="27878" grpId="0" build="p" animBg="1"/>
      <p:bldP spid="2787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Alternative visual representation</a:t>
            </a:r>
          </a:p>
        </p:txBody>
      </p:sp>
      <p:grpSp>
        <p:nvGrpSpPr>
          <p:cNvPr id="10243" name="Group 113"/>
          <p:cNvGrpSpPr>
            <a:grpSpLocks/>
          </p:cNvGrpSpPr>
          <p:nvPr/>
        </p:nvGrpSpPr>
        <p:grpSpPr bwMode="auto">
          <a:xfrm>
            <a:off x="395288" y="2117725"/>
            <a:ext cx="6381750" cy="720725"/>
            <a:chOff x="249" y="1278"/>
            <a:chExt cx="4020" cy="454"/>
          </a:xfrm>
        </p:grpSpPr>
        <p:sp>
          <p:nvSpPr>
            <p:cNvPr id="10284" name="Rectangle 114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Line 115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6" name="Line 116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7" name="Line 117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8" name="Line 118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9" name="Line 119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0" name="Line 120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1" name="Line 121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2" name="Line 122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3" name="Line 123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4" name="Line 124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5" name="Line 125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6" name="Line 126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7" name="Line 127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8" name="Line 128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9" name="Line 129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0" name="Line 130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1" name="Line 131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2" name="Line 132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3" name="Line 133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4" name="Line 134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5" name="Line 135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6" name="Line 136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7" name="Line 137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8" name="Line 138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9" name="Line 139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0" name="Line 140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1" name="Line 141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2" name="Line 142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3" name="Line 143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4" name="Line 144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5" name="Line 145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6" name="Line 146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7" name="Line 147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8" name="Line 148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9" name="Line 149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0" name="Line 150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1" name="Line 151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2" name="Line 152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3" name="Line 153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4" name="Line 154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5" name="Line 155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6" name="Line 156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7" name="Line 157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8" name="Line 158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9" name="Line 159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0" name="Line 160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1" name="Line 161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2" name="Line 162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3" name="Line 163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4" name="Line 164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5" name="Line 165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6" name="Line 166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7" name="Line 167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8" name="Line 168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9" name="Line 169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0" name="Line 170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1" name="Line 171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2" name="Line 172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3" name="Line 173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" name="Line 174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5" name="Line 175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6" name="Line 176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7" name="Line 177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8" name="Line 178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9" name="Line 179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0" name="Line 180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1" name="Line 181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2" name="Line 182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3" name="Line 183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4" name="Line 184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5" name="Line 185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6" name="Line 186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7" name="Line 187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8" name="Line 188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9" name="Line 189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0" name="Line 190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1" name="Line 191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2" name="Line 192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3" name="Line 193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4" name="Line 194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5" name="Rectangle 195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66" name="Text Box 196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10367" name="Text Box 197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10368" name="Text Box 198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10369" name="Text Box 199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10370" name="Text Box 200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10371" name="Text Box 201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10372" name="Text Box 202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10373" name="Text Box 203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10374" name="Text Box 204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10375" name="Text Box 205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10376" name="Text Box 206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10244" name="Group 207"/>
          <p:cNvGrpSpPr>
            <a:grpSpLocks/>
          </p:cNvGrpSpPr>
          <p:nvPr/>
        </p:nvGrpSpPr>
        <p:grpSpPr bwMode="auto">
          <a:xfrm>
            <a:off x="1066800" y="1341438"/>
            <a:ext cx="7627938" cy="1208087"/>
            <a:chOff x="675" y="790"/>
            <a:chExt cx="4805" cy="761"/>
          </a:xfrm>
        </p:grpSpPr>
        <p:grpSp>
          <p:nvGrpSpPr>
            <p:cNvPr id="10277" name="Group 208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10282" name="Rectangle 209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10283" name="AutoShape 210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10278" name="Group 211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10280" name="Rectangle 212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10281" name="AutoShape 213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10279" name="Text Box 214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0245" name="Group 215"/>
          <p:cNvGrpSpPr>
            <a:grpSpLocks/>
          </p:cNvGrpSpPr>
          <p:nvPr/>
        </p:nvGrpSpPr>
        <p:grpSpPr bwMode="auto">
          <a:xfrm>
            <a:off x="2811463" y="1701800"/>
            <a:ext cx="5510212" cy="2087563"/>
            <a:chOff x="1771" y="2750"/>
            <a:chExt cx="3471" cy="1315"/>
          </a:xfrm>
        </p:grpSpPr>
        <p:sp>
          <p:nvSpPr>
            <p:cNvPr id="10273" name="Rectangle 216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10274" name="Group 217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10275" name="Rectangle 218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10276" name="AutoShape 219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grpSp>
        <p:nvGrpSpPr>
          <p:cNvPr id="8" name="Group 229"/>
          <p:cNvGrpSpPr>
            <a:grpSpLocks/>
          </p:cNvGrpSpPr>
          <p:nvPr/>
        </p:nvGrpSpPr>
        <p:grpSpPr bwMode="auto">
          <a:xfrm>
            <a:off x="4429125" y="5562600"/>
            <a:ext cx="811213" cy="366713"/>
            <a:chOff x="872" y="2762"/>
            <a:chExt cx="511" cy="231"/>
          </a:xfrm>
        </p:grpSpPr>
        <p:sp>
          <p:nvSpPr>
            <p:cNvPr id="10271" name="Text Box 2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2" name="Rectangle 2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9" name="Group 236"/>
          <p:cNvGrpSpPr>
            <a:grpSpLocks/>
          </p:cNvGrpSpPr>
          <p:nvPr/>
        </p:nvGrpSpPr>
        <p:grpSpPr bwMode="auto">
          <a:xfrm>
            <a:off x="5003800" y="4924425"/>
            <a:ext cx="671513" cy="863600"/>
            <a:chOff x="1232" y="2881"/>
            <a:chExt cx="423" cy="544"/>
          </a:xfrm>
        </p:grpSpPr>
        <p:sp>
          <p:nvSpPr>
            <p:cNvPr id="10268" name="Line 233"/>
            <p:cNvSpPr>
              <a:spLocks noChangeShapeType="1"/>
            </p:cNvSpPr>
            <p:nvPr/>
          </p:nvSpPr>
          <p:spPr bwMode="auto">
            <a:xfrm>
              <a:off x="1232" y="3415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9" name="Line 234"/>
            <p:cNvSpPr>
              <a:spLocks noChangeShapeType="1"/>
            </p:cNvSpPr>
            <p:nvPr/>
          </p:nvSpPr>
          <p:spPr bwMode="auto">
            <a:xfrm flipV="1">
              <a:off x="1650" y="2881"/>
              <a:ext cx="0" cy="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70" name="Line 235"/>
            <p:cNvSpPr>
              <a:spLocks noChangeShapeType="1"/>
            </p:cNvSpPr>
            <p:nvPr/>
          </p:nvSpPr>
          <p:spPr bwMode="auto">
            <a:xfrm flipH="1">
              <a:off x="1383" y="2886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241"/>
          <p:cNvGrpSpPr>
            <a:grpSpLocks/>
          </p:cNvGrpSpPr>
          <p:nvPr/>
        </p:nvGrpSpPr>
        <p:grpSpPr bwMode="auto">
          <a:xfrm>
            <a:off x="5003800" y="5340350"/>
            <a:ext cx="671513" cy="447675"/>
            <a:chOff x="1237" y="3148"/>
            <a:chExt cx="423" cy="282"/>
          </a:xfrm>
        </p:grpSpPr>
        <p:sp>
          <p:nvSpPr>
            <p:cNvPr id="10265" name="Line 238"/>
            <p:cNvSpPr>
              <a:spLocks noChangeShapeType="1"/>
            </p:cNvSpPr>
            <p:nvPr/>
          </p:nvSpPr>
          <p:spPr bwMode="auto">
            <a:xfrm>
              <a:off x="1237" y="3420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6" name="Line 239"/>
            <p:cNvSpPr>
              <a:spLocks noChangeShapeType="1"/>
            </p:cNvSpPr>
            <p:nvPr/>
          </p:nvSpPr>
          <p:spPr bwMode="auto">
            <a:xfrm flipV="1">
              <a:off x="1655" y="3148"/>
              <a:ext cx="0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7" name="Line 240"/>
            <p:cNvSpPr>
              <a:spLocks noChangeShapeType="1"/>
            </p:cNvSpPr>
            <p:nvPr/>
          </p:nvSpPr>
          <p:spPr bwMode="auto">
            <a:xfrm flipH="1">
              <a:off x="1388" y="3153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243"/>
          <p:cNvGrpSpPr>
            <a:grpSpLocks/>
          </p:cNvGrpSpPr>
          <p:nvPr/>
        </p:nvGrpSpPr>
        <p:grpSpPr bwMode="auto">
          <a:xfrm>
            <a:off x="1949450" y="4724400"/>
            <a:ext cx="3290888" cy="785813"/>
            <a:chOff x="502" y="2795"/>
            <a:chExt cx="2073" cy="495"/>
          </a:xfrm>
        </p:grpSpPr>
        <p:grpSp>
          <p:nvGrpSpPr>
            <p:cNvPr id="10258" name="Group 225"/>
            <p:cNvGrpSpPr>
              <a:grpSpLocks/>
            </p:cNvGrpSpPr>
            <p:nvPr/>
          </p:nvGrpSpPr>
          <p:grpSpPr bwMode="auto">
            <a:xfrm>
              <a:off x="2064" y="2795"/>
              <a:ext cx="511" cy="231"/>
              <a:chOff x="872" y="2762"/>
              <a:chExt cx="511" cy="231"/>
            </a:xfrm>
          </p:grpSpPr>
          <p:sp>
            <p:nvSpPr>
              <p:cNvPr id="10263" name="Text Box 220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x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4" name="Rectangle 221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3</a:t>
                </a:r>
              </a:p>
            </p:txBody>
          </p:sp>
        </p:grpSp>
        <p:grpSp>
          <p:nvGrpSpPr>
            <p:cNvPr id="10259" name="Group 226"/>
            <p:cNvGrpSpPr>
              <a:grpSpLocks/>
            </p:cNvGrpSpPr>
            <p:nvPr/>
          </p:nvGrpSpPr>
          <p:grpSpPr bwMode="auto">
            <a:xfrm>
              <a:off x="2064" y="3059"/>
              <a:ext cx="511" cy="231"/>
              <a:chOff x="872" y="2762"/>
              <a:chExt cx="511" cy="231"/>
            </a:xfrm>
          </p:grpSpPr>
          <p:sp>
            <p:nvSpPr>
              <p:cNvPr id="10261" name="Text Box 227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y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2" name="Rectangle 228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-1</a:t>
                </a:r>
              </a:p>
            </p:txBody>
          </p:sp>
        </p:grpSp>
        <p:sp>
          <p:nvSpPr>
            <p:cNvPr id="10260" name="Rectangle 242"/>
            <p:cNvSpPr>
              <a:spLocks noChangeArrowheads="1"/>
            </p:cNvSpPr>
            <p:nvPr/>
          </p:nvSpPr>
          <p:spPr bwMode="auto">
            <a:xfrm>
              <a:off x="502" y="2841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sp>
        <p:nvSpPr>
          <p:cNvPr id="35060" name="Rectangle 244"/>
          <p:cNvSpPr>
            <a:spLocks noChangeArrowheads="1"/>
          </p:cNvSpPr>
          <p:nvPr/>
        </p:nvSpPr>
        <p:spPr bwMode="auto">
          <a:xfrm>
            <a:off x="1949450" y="5367338"/>
            <a:ext cx="1309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&amp;x;</a:t>
            </a:r>
          </a:p>
        </p:txBody>
      </p:sp>
      <p:sp>
        <p:nvSpPr>
          <p:cNvPr id="35061" name="Rectangle 245"/>
          <p:cNvSpPr>
            <a:spLocks noChangeArrowheads="1"/>
          </p:cNvSpPr>
          <p:nvPr/>
        </p:nvSpPr>
        <p:spPr bwMode="auto">
          <a:xfrm>
            <a:off x="1955800" y="5942013"/>
            <a:ext cx="8969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&amp;y;</a:t>
            </a:r>
          </a:p>
        </p:txBody>
      </p:sp>
      <p:grpSp>
        <p:nvGrpSpPr>
          <p:cNvPr id="14" name="Group 248"/>
          <p:cNvGrpSpPr>
            <a:grpSpLocks/>
          </p:cNvGrpSpPr>
          <p:nvPr/>
        </p:nvGrpSpPr>
        <p:grpSpPr bwMode="auto">
          <a:xfrm>
            <a:off x="5734050" y="4868863"/>
            <a:ext cx="2222500" cy="647700"/>
            <a:chOff x="2886" y="2886"/>
            <a:chExt cx="1400" cy="408"/>
          </a:xfrm>
        </p:grpSpPr>
        <p:sp>
          <p:nvSpPr>
            <p:cNvPr id="10256" name="Text Box 246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10257" name="Line 247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249"/>
          <p:cNvGrpSpPr>
            <a:grpSpLocks/>
          </p:cNvGrpSpPr>
          <p:nvPr/>
        </p:nvGrpSpPr>
        <p:grpSpPr bwMode="auto">
          <a:xfrm>
            <a:off x="5732463" y="4868863"/>
            <a:ext cx="2222500" cy="647700"/>
            <a:chOff x="2886" y="2886"/>
            <a:chExt cx="1400" cy="408"/>
          </a:xfrm>
        </p:grpSpPr>
        <p:sp>
          <p:nvSpPr>
            <p:cNvPr id="10254" name="Text Box 250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0255" name="Line 251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0465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60" grpId="0"/>
      <p:bldP spid="3506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1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1268" name="Text Box 10"/>
          <p:cNvSpPr txBox="1">
            <a:spLocks noChangeArrowheads="1"/>
          </p:cNvSpPr>
          <p:nvPr/>
        </p:nvSpPr>
        <p:spPr bwMode="auto">
          <a:xfrm>
            <a:off x="684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sp>
        <p:nvSpPr>
          <p:cNvPr id="11269" name="Oval 14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2789238" y="6092825"/>
            <a:ext cx="351155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Call by value semantics!</a:t>
            </a:r>
            <a:endParaRPr lang="en-US" altLang="nl-BE" sz="1800"/>
          </a:p>
        </p:txBody>
      </p:sp>
      <p:sp>
        <p:nvSpPr>
          <p:cNvPr id="32788" name="Text Box 20"/>
          <p:cNvSpPr txBox="1">
            <a:spLocks noChangeArrowheads="1"/>
          </p:cNvSpPr>
          <p:nvPr/>
        </p:nvSpPr>
        <p:spPr bwMode="auto">
          <a:xfrm>
            <a:off x="5559425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2789" name="Rectangle 21"/>
          <p:cNvSpPr>
            <a:spLocks noChangeArrowheads="1"/>
          </p:cNvSpPr>
          <p:nvPr/>
        </p:nvSpPr>
        <p:spPr bwMode="auto">
          <a:xfrm>
            <a:off x="7345363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492500" y="1484313"/>
            <a:ext cx="2303463" cy="1008062"/>
            <a:chOff x="2200" y="935"/>
            <a:chExt cx="1451" cy="635"/>
          </a:xfrm>
        </p:grpSpPr>
        <p:sp>
          <p:nvSpPr>
            <p:cNvPr id="11277" name="Text Box 22"/>
            <p:cNvSpPr txBox="1">
              <a:spLocks noChangeArrowheads="1"/>
            </p:cNvSpPr>
            <p:nvPr/>
          </p:nvSpPr>
          <p:spPr bwMode="auto">
            <a:xfrm>
              <a:off x="2200" y="935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1278" name="Line 25"/>
            <p:cNvSpPr>
              <a:spLocks noChangeShapeType="1"/>
            </p:cNvSpPr>
            <p:nvPr/>
          </p:nvSpPr>
          <p:spPr bwMode="auto">
            <a:xfrm>
              <a:off x="3107" y="1344"/>
              <a:ext cx="544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492500" y="4437063"/>
            <a:ext cx="2232025" cy="1008062"/>
            <a:chOff x="2200" y="2795"/>
            <a:chExt cx="1406" cy="635"/>
          </a:xfrm>
        </p:grpSpPr>
        <p:sp>
          <p:nvSpPr>
            <p:cNvPr id="11275" name="Text Box 26"/>
            <p:cNvSpPr txBox="1">
              <a:spLocks noChangeArrowheads="1"/>
            </p:cNvSpPr>
            <p:nvPr/>
          </p:nvSpPr>
          <p:spPr bwMode="auto">
            <a:xfrm>
              <a:off x="2200" y="2847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solidFill>
                    <a:srgbClr val="FF0000"/>
                  </a:solidFill>
                </a:rPr>
                <a:t>values</a:t>
              </a:r>
              <a:r>
                <a:rPr lang="en-US" altLang="nl-BE" sz="1800"/>
                <a:t> of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endParaRPr lang="en-US" altLang="nl-BE" sz="180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not</a:t>
              </a:r>
              <a:r>
                <a:rPr lang="en-US" altLang="nl-BE" sz="1800"/>
                <a:t> changed!</a:t>
              </a:r>
            </a:p>
          </p:txBody>
        </p:sp>
        <p:sp>
          <p:nvSpPr>
            <p:cNvPr id="11276" name="Line 27"/>
            <p:cNvSpPr>
              <a:spLocks noChangeShapeType="1"/>
            </p:cNvSpPr>
            <p:nvPr/>
          </p:nvSpPr>
          <p:spPr bwMode="auto">
            <a:xfrm flipV="1">
              <a:off x="3152" y="2795"/>
              <a:ext cx="454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510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86" grpId="0" animBg="1"/>
      <p:bldP spid="32788" grpId="0"/>
      <p:bldP spid="3278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2</a:t>
            </a:r>
          </a:p>
        </p:txBody>
      </p:sp>
      <p:sp>
        <p:nvSpPr>
          <p:cNvPr id="12291" name="Oval 5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12292" name="Text Box 7"/>
          <p:cNvSpPr txBox="1">
            <a:spLocks noChangeArrowheads="1"/>
          </p:cNvSpPr>
          <p:nvPr/>
        </p:nvSpPr>
        <p:spPr bwMode="auto">
          <a:xfrm>
            <a:off x="900113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6872" name="Rectangle 8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2330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31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28" name="Text Box 2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9" name="Rectangle 2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4645025" y="3922713"/>
            <a:ext cx="811213" cy="366712"/>
            <a:chOff x="872" y="2762"/>
            <a:chExt cx="511" cy="231"/>
          </a:xfrm>
        </p:grpSpPr>
        <p:sp>
          <p:nvSpPr>
            <p:cNvPr id="12326" name="Text Box 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7" name="Rectangle 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5219700" y="1916113"/>
            <a:ext cx="671513" cy="2232025"/>
            <a:chOff x="3288" y="1207"/>
            <a:chExt cx="423" cy="1406"/>
          </a:xfrm>
        </p:grpSpPr>
        <p:sp>
          <p:nvSpPr>
            <p:cNvPr id="12323" name="Line 33"/>
            <p:cNvSpPr>
              <a:spLocks noChangeShapeType="1"/>
            </p:cNvSpPr>
            <p:nvPr/>
          </p:nvSpPr>
          <p:spPr bwMode="auto">
            <a:xfrm>
              <a:off x="3288" y="2603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4" name="Line 34"/>
            <p:cNvSpPr>
              <a:spLocks noChangeShapeType="1"/>
            </p:cNvSpPr>
            <p:nvPr/>
          </p:nvSpPr>
          <p:spPr bwMode="auto">
            <a:xfrm flipV="1">
              <a:off x="3706" y="1207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5" name="Line 35"/>
            <p:cNvSpPr>
              <a:spLocks noChangeShapeType="1"/>
            </p:cNvSpPr>
            <p:nvPr/>
          </p:nvSpPr>
          <p:spPr bwMode="auto">
            <a:xfrm flipH="1">
              <a:off x="3439" y="1207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4643438" y="4333875"/>
            <a:ext cx="811212" cy="366713"/>
            <a:chOff x="872" y="2762"/>
            <a:chExt cx="511" cy="231"/>
          </a:xfrm>
        </p:grpSpPr>
        <p:sp>
          <p:nvSpPr>
            <p:cNvPr id="12321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2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43"/>
          <p:cNvGrpSpPr>
            <a:grpSpLocks/>
          </p:cNvGrpSpPr>
          <p:nvPr/>
        </p:nvGrpSpPr>
        <p:grpSpPr bwMode="auto">
          <a:xfrm>
            <a:off x="5218113" y="2327275"/>
            <a:ext cx="866775" cy="2232025"/>
            <a:chOff x="3287" y="1466"/>
            <a:chExt cx="546" cy="1406"/>
          </a:xfrm>
        </p:grpSpPr>
        <p:sp>
          <p:nvSpPr>
            <p:cNvPr id="12318" name="Line 39"/>
            <p:cNvSpPr>
              <a:spLocks noChangeShapeType="1"/>
            </p:cNvSpPr>
            <p:nvPr/>
          </p:nvSpPr>
          <p:spPr bwMode="auto">
            <a:xfrm>
              <a:off x="3287" y="2862"/>
              <a:ext cx="5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40"/>
            <p:cNvSpPr>
              <a:spLocks noChangeShapeType="1"/>
            </p:cNvSpPr>
            <p:nvPr/>
          </p:nvSpPr>
          <p:spPr bwMode="auto">
            <a:xfrm flipV="1">
              <a:off x="3833" y="1466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41"/>
            <p:cNvSpPr>
              <a:spLocks noChangeShapeType="1"/>
            </p:cNvSpPr>
            <p:nvPr/>
          </p:nvSpPr>
          <p:spPr bwMode="auto">
            <a:xfrm flipH="1">
              <a:off x="3438" y="1466"/>
              <a:ext cx="39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47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2316" name="Text Box 45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7" name="Rectangle 46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9" name="Group 48"/>
          <p:cNvGrpSpPr>
            <a:grpSpLocks/>
          </p:cNvGrpSpPr>
          <p:nvPr/>
        </p:nvGrpSpPr>
        <p:grpSpPr bwMode="auto">
          <a:xfrm>
            <a:off x="4643438" y="1709738"/>
            <a:ext cx="811212" cy="366712"/>
            <a:chOff x="872" y="2762"/>
            <a:chExt cx="511" cy="231"/>
          </a:xfrm>
        </p:grpSpPr>
        <p:sp>
          <p:nvSpPr>
            <p:cNvPr id="12314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5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10" name="Group 51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12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3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2303" name="Line 54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1" name="Line 5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2" name="Line 5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3" name="Line 5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5" name="Line 6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6" name="Line 6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7" name="Line 6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68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/>
      <p:bldP spid="36920" grpId="0" animBg="1"/>
      <p:bldP spid="36920" grpId="1" animBg="1"/>
      <p:bldP spid="36921" grpId="0" animBg="1"/>
      <p:bldP spid="36921" grpId="1" animBg="1"/>
      <p:bldP spid="36922" grpId="0" animBg="1"/>
      <p:bldP spid="36922" grpId="1" animBg="1"/>
      <p:bldP spid="36922" grpId="2" animBg="1"/>
      <p:bldP spid="36923" grpId="0" animBg="1"/>
      <p:bldP spid="36923" grpId="1" animBg="1"/>
      <p:bldP spid="36924" grpId="0" animBg="1"/>
      <p:bldP spid="36924" grpId="1" animBg="1"/>
      <p:bldP spid="36925" grpId="0" animBg="1"/>
      <p:bldP spid="36925" grpId="1" animBg="1"/>
      <p:bldP spid="36926" grpId="0" animBg="1"/>
      <p:bldP spid="36926" grpId="1" animBg="1"/>
      <p:bldP spid="36927" grpId="0" animBg="1"/>
      <p:bldP spid="36927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3</a:t>
            </a:r>
          </a:p>
        </p:txBody>
      </p:sp>
      <p:sp>
        <p:nvSpPr>
          <p:cNvPr id="13315" name="Oval 3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3346" name="Text Box 7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7" name="Rectangle 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3344" name="Text Box 1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5" name="Rectangle 1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3342" name="Text Box 27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3" name="Rectangle 28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3320" name="Line 35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8" name="Line 3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9" name="Line 3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0" name="Line 3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5" name="Line 4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Text Box 44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4643438" y="3922713"/>
            <a:ext cx="811212" cy="366712"/>
            <a:chOff x="872" y="2762"/>
            <a:chExt cx="511" cy="231"/>
          </a:xfrm>
        </p:grpSpPr>
        <p:sp>
          <p:nvSpPr>
            <p:cNvPr id="13340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1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4643438" y="4341813"/>
            <a:ext cx="811212" cy="366712"/>
            <a:chOff x="872" y="2762"/>
            <a:chExt cx="511" cy="231"/>
          </a:xfrm>
        </p:grpSpPr>
        <p:sp>
          <p:nvSpPr>
            <p:cNvPr id="13338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9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7" name="Group 51"/>
          <p:cNvGrpSpPr>
            <a:grpSpLocks/>
          </p:cNvGrpSpPr>
          <p:nvPr/>
        </p:nvGrpSpPr>
        <p:grpSpPr bwMode="auto">
          <a:xfrm>
            <a:off x="4643438" y="3925888"/>
            <a:ext cx="811212" cy="366712"/>
            <a:chOff x="872" y="2762"/>
            <a:chExt cx="511" cy="231"/>
          </a:xfrm>
        </p:grpSpPr>
        <p:sp>
          <p:nvSpPr>
            <p:cNvPr id="13336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7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8" name="Group 54"/>
          <p:cNvGrpSpPr>
            <a:grpSpLocks/>
          </p:cNvGrpSpPr>
          <p:nvPr/>
        </p:nvGrpSpPr>
        <p:grpSpPr bwMode="auto">
          <a:xfrm>
            <a:off x="4643438" y="4344988"/>
            <a:ext cx="811212" cy="366712"/>
            <a:chOff x="872" y="2762"/>
            <a:chExt cx="511" cy="231"/>
          </a:xfrm>
        </p:grpSpPr>
        <p:sp>
          <p:nvSpPr>
            <p:cNvPr id="13334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5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15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/>
      <p:bldP spid="38948" grpId="0" animBg="1"/>
      <p:bldP spid="38948" grpId="1" animBg="1"/>
      <p:bldP spid="38949" grpId="0" animBg="1"/>
      <p:bldP spid="38949" grpId="1" animBg="1"/>
      <p:bldP spid="38950" grpId="0" animBg="1"/>
      <p:bldP spid="38950" grpId="1" animBg="1"/>
      <p:bldP spid="38951" grpId="0" animBg="1"/>
      <p:bldP spid="38951" grpId="1" animBg="1"/>
      <p:bldP spid="38952" grpId="0" animBg="1"/>
      <p:bldP spid="38952" grpId="1" animBg="1"/>
      <p:bldP spid="38953" grpId="0" animBg="1"/>
      <p:bldP spid="38953" grpId="1" animBg="1"/>
      <p:bldP spid="38954" grpId="0" animBg="1"/>
      <p:bldP spid="3895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4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733425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4356100" y="1341438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250825" y="6173788"/>
            <a:ext cx="32893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</a:t>
            </a:r>
            <a:r>
              <a:rPr lang="en-US" altLang="nl-BE" sz="2400" i="1">
                <a:solidFill>
                  <a:srgbClr val="FF0000"/>
                </a:solidFill>
              </a:rPr>
              <a:t>not</a:t>
            </a:r>
            <a:r>
              <a:rPr lang="en-US" altLang="nl-BE" sz="2400"/>
              <a:t> copied</a:t>
            </a:r>
            <a:r>
              <a:rPr lang="en-US" altLang="nl-BE" sz="2400" i="1">
                <a:solidFill>
                  <a:srgbClr val="FF0000"/>
                </a:solidFill>
              </a:rPr>
              <a:t>!</a:t>
            </a:r>
            <a:endParaRPr lang="en-US" altLang="nl-BE" sz="2400"/>
          </a:p>
        </p:txBody>
      </p:sp>
      <p:sp>
        <p:nvSpPr>
          <p:cNvPr id="14342" name="Oval 6"/>
          <p:cNvSpPr>
            <a:spLocks noChangeArrowheads="1"/>
          </p:cNvSpPr>
          <p:nvPr/>
        </p:nvSpPr>
        <p:spPr bwMode="auto">
          <a:xfrm>
            <a:off x="107950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698750" y="2922588"/>
            <a:ext cx="1552575" cy="1658937"/>
            <a:chOff x="1927" y="1841"/>
            <a:chExt cx="978" cy="1045"/>
          </a:xfrm>
        </p:grpSpPr>
        <p:sp>
          <p:nvSpPr>
            <p:cNvPr id="14350" name="Text Box 8"/>
            <p:cNvSpPr txBox="1">
              <a:spLocks noChangeArrowheads="1"/>
            </p:cNvSpPr>
            <p:nvPr/>
          </p:nvSpPr>
          <p:spPr bwMode="auto">
            <a:xfrm>
              <a:off x="1927" y="1841"/>
              <a:ext cx="9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w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4351" name="Line 9"/>
            <p:cNvSpPr>
              <a:spLocks noChangeShapeType="1"/>
            </p:cNvSpPr>
            <p:nvPr/>
          </p:nvSpPr>
          <p:spPr bwMode="auto">
            <a:xfrm flipH="1">
              <a:off x="1973" y="2251"/>
              <a:ext cx="363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0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3" name="Line 11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6372225" y="2349500"/>
            <a:ext cx="2667000" cy="2808288"/>
            <a:chOff x="4014" y="1480"/>
            <a:chExt cx="1680" cy="1769"/>
          </a:xfrm>
        </p:grpSpPr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4740" y="1480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-&gt;</a:t>
              </a:r>
              <a:r>
                <a:rPr lang="en-US" altLang="nl-BE" sz="1800"/>
                <a:t> accesses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members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struct </a:t>
              </a:r>
              <a:r>
                <a:rPr lang="en-US" altLang="nl-BE" sz="1800" i="1">
                  <a:solidFill>
                    <a:srgbClr val="FF0000"/>
                  </a:solidFill>
                </a:rPr>
                <a:t>pointer</a:t>
              </a:r>
            </a:p>
          </p:txBody>
        </p:sp>
        <p:sp>
          <p:nvSpPr>
            <p:cNvPr id="14347" name="Line 14"/>
            <p:cNvSpPr>
              <a:spLocks noChangeShapeType="1"/>
            </p:cNvSpPr>
            <p:nvPr/>
          </p:nvSpPr>
          <p:spPr bwMode="auto">
            <a:xfrm flipH="1" flipV="1">
              <a:off x="4105" y="1616"/>
              <a:ext cx="635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5"/>
            <p:cNvSpPr>
              <a:spLocks noChangeShapeType="1"/>
            </p:cNvSpPr>
            <p:nvPr/>
          </p:nvSpPr>
          <p:spPr bwMode="auto">
            <a:xfrm flipH="1">
              <a:off x="4014" y="2069"/>
              <a:ext cx="1225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6"/>
            <p:cNvSpPr>
              <a:spLocks noChangeShapeType="1"/>
            </p:cNvSpPr>
            <p:nvPr/>
          </p:nvSpPr>
          <p:spPr bwMode="auto">
            <a:xfrm flipH="1">
              <a:off x="4468" y="2069"/>
              <a:ext cx="771" cy="1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978" name="Text Box 18"/>
          <p:cNvSpPr txBox="1">
            <a:spLocks noChangeArrowheads="1"/>
          </p:cNvSpPr>
          <p:nvPr/>
        </p:nvSpPr>
        <p:spPr bwMode="auto">
          <a:xfrm>
            <a:off x="5970588" y="5845175"/>
            <a:ext cx="2633662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syntactic sugar: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(*v).size == v-&gt;size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0616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7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Arrays, pointers &amp; arithmetic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592138" y="1577975"/>
            <a:ext cx="18335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a[] = {3, 5, 7};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411" name="Text Box 7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2" name="Rectangle 8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</a:t>
              </a:r>
            </a:p>
          </p:txBody>
        </p:sp>
        <p:sp>
          <p:nvSpPr>
            <p:cNvPr id="15413" name="Rectangle 9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14" name="Rectangle 10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092" name="Text Box 12"/>
          <p:cNvSpPr txBox="1">
            <a:spLocks noChangeArrowheads="1"/>
          </p:cNvSpPr>
          <p:nvPr/>
        </p:nvSpPr>
        <p:spPr bwMode="auto">
          <a:xfrm>
            <a:off x="595313" y="2200275"/>
            <a:ext cx="1562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&amp;a[0];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3203575" y="2246313"/>
            <a:ext cx="811213" cy="366712"/>
            <a:chOff x="872" y="2762"/>
            <a:chExt cx="511" cy="231"/>
          </a:xfrm>
        </p:grpSpPr>
        <p:sp>
          <p:nvSpPr>
            <p:cNvPr id="15409" name="Text Box 14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0" name="Rectangle 15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3771900" y="1916113"/>
            <a:ext cx="1736725" cy="520700"/>
            <a:chOff x="2376" y="1207"/>
            <a:chExt cx="1094" cy="328"/>
          </a:xfrm>
        </p:grpSpPr>
        <p:sp>
          <p:nvSpPr>
            <p:cNvPr id="15407" name="Line 16"/>
            <p:cNvSpPr>
              <a:spLocks noChangeShapeType="1"/>
            </p:cNvSpPr>
            <p:nvPr/>
          </p:nvSpPr>
          <p:spPr bwMode="auto">
            <a:xfrm>
              <a:off x="2376" y="1535"/>
              <a:ext cx="10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8" name="Line 17"/>
            <p:cNvSpPr>
              <a:spLocks noChangeShapeType="1"/>
            </p:cNvSpPr>
            <p:nvPr/>
          </p:nvSpPr>
          <p:spPr bwMode="auto">
            <a:xfrm flipV="1">
              <a:off x="3465" y="1207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098" name="Text Box 18"/>
          <p:cNvSpPr txBox="1">
            <a:spLocks noChangeArrowheads="1"/>
          </p:cNvSpPr>
          <p:nvPr/>
        </p:nvSpPr>
        <p:spPr bwMode="auto">
          <a:xfrm>
            <a:off x="595313" y="2824163"/>
            <a:ext cx="11509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&amp;a[1];</a:t>
            </a:r>
          </a:p>
        </p:txBody>
      </p: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771900" y="1916113"/>
            <a:ext cx="728663" cy="520700"/>
            <a:chOff x="2512" y="1968"/>
            <a:chExt cx="459" cy="328"/>
          </a:xfrm>
        </p:grpSpPr>
        <p:sp>
          <p:nvSpPr>
            <p:cNvPr id="15405" name="Line 19"/>
            <p:cNvSpPr>
              <a:spLocks noChangeShapeType="1"/>
            </p:cNvSpPr>
            <p:nvPr/>
          </p:nvSpPr>
          <p:spPr bwMode="auto">
            <a:xfrm>
              <a:off x="2512" y="2296"/>
              <a:ext cx="45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6" name="Line 20"/>
            <p:cNvSpPr>
              <a:spLocks noChangeShapeType="1"/>
            </p:cNvSpPr>
            <p:nvPr/>
          </p:nvSpPr>
          <p:spPr bwMode="auto">
            <a:xfrm flipV="1">
              <a:off x="2971" y="1968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2" name="Text Box 22"/>
          <p:cNvSpPr txBox="1">
            <a:spLocks noChangeArrowheads="1"/>
          </p:cNvSpPr>
          <p:nvPr/>
        </p:nvSpPr>
        <p:spPr bwMode="auto">
          <a:xfrm>
            <a:off x="595313" y="3446463"/>
            <a:ext cx="619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p++;</a:t>
            </a: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3779838" y="1916113"/>
            <a:ext cx="1231900" cy="520700"/>
            <a:chOff x="2512" y="1343"/>
            <a:chExt cx="776" cy="328"/>
          </a:xfrm>
        </p:grpSpPr>
        <p:sp>
          <p:nvSpPr>
            <p:cNvPr id="15403" name="Line 23"/>
            <p:cNvSpPr>
              <a:spLocks noChangeShapeType="1"/>
            </p:cNvSpPr>
            <p:nvPr/>
          </p:nvSpPr>
          <p:spPr bwMode="auto">
            <a:xfrm>
              <a:off x="2512" y="1671"/>
              <a:ext cx="7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24"/>
            <p:cNvSpPr>
              <a:spLocks noChangeShapeType="1"/>
            </p:cNvSpPr>
            <p:nvPr/>
          </p:nvSpPr>
          <p:spPr bwMode="auto">
            <a:xfrm flipV="1">
              <a:off x="3288" y="1343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7" name="Text Box 27"/>
          <p:cNvSpPr txBox="1">
            <a:spLocks noChangeArrowheads="1"/>
          </p:cNvSpPr>
          <p:nvPr/>
        </p:nvSpPr>
        <p:spPr bwMode="auto">
          <a:xfrm>
            <a:off x="603250" y="4070350"/>
            <a:ext cx="706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a;</a:t>
            </a:r>
          </a:p>
        </p:txBody>
      </p: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9" name="Text Box 29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00" name="Rectangle 30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401" name="Rectangle 31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02" name="Rectangle 32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13" name="Text Box 33"/>
          <p:cNvSpPr txBox="1">
            <a:spLocks noChangeArrowheads="1"/>
          </p:cNvSpPr>
          <p:nvPr/>
        </p:nvSpPr>
        <p:spPr bwMode="auto">
          <a:xfrm>
            <a:off x="603250" y="4646613"/>
            <a:ext cx="947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11;</a:t>
            </a:r>
          </a:p>
        </p:txBody>
      </p: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1258888" y="3141663"/>
            <a:ext cx="3302000" cy="650875"/>
            <a:chOff x="793" y="1979"/>
            <a:chExt cx="2080" cy="410"/>
          </a:xfrm>
        </p:grpSpPr>
        <p:sp>
          <p:nvSpPr>
            <p:cNvPr id="15397" name="Text Box 34"/>
            <p:cNvSpPr txBox="1">
              <a:spLocks noChangeArrowheads="1"/>
            </p:cNvSpPr>
            <p:nvPr/>
          </p:nvSpPr>
          <p:spPr bwMode="auto">
            <a:xfrm>
              <a:off x="1791" y="1979"/>
              <a:ext cx="108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calculations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with addresses</a:t>
              </a:r>
            </a:p>
          </p:txBody>
        </p:sp>
        <p:sp>
          <p:nvSpPr>
            <p:cNvPr id="15398" name="Line 36"/>
            <p:cNvSpPr>
              <a:spLocks noChangeShapeType="1"/>
            </p:cNvSpPr>
            <p:nvPr/>
          </p:nvSpPr>
          <p:spPr bwMode="auto">
            <a:xfrm flipH="1">
              <a:off x="793" y="2160"/>
              <a:ext cx="998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403350" y="4087813"/>
            <a:ext cx="3140075" cy="925512"/>
            <a:chOff x="884" y="2575"/>
            <a:chExt cx="1978" cy="583"/>
          </a:xfrm>
        </p:grpSpPr>
        <p:sp>
          <p:nvSpPr>
            <p:cNvPr id="15395" name="Text Box 35"/>
            <p:cNvSpPr txBox="1">
              <a:spLocks noChangeArrowheads="1"/>
            </p:cNvSpPr>
            <p:nvPr/>
          </p:nvSpPr>
          <p:spPr bwMode="auto">
            <a:xfrm>
              <a:off x="1796" y="2575"/>
              <a:ext cx="106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variable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holds address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first element</a:t>
              </a:r>
            </a:p>
          </p:txBody>
        </p:sp>
        <p:sp>
          <p:nvSpPr>
            <p:cNvPr id="15396" name="Line 37"/>
            <p:cNvSpPr>
              <a:spLocks noChangeShapeType="1"/>
            </p:cNvSpPr>
            <p:nvPr/>
          </p:nvSpPr>
          <p:spPr bwMode="auto">
            <a:xfrm flipH="1" flipV="1">
              <a:off x="884" y="2704"/>
              <a:ext cx="907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20" name="Text Box 40"/>
          <p:cNvSpPr txBox="1">
            <a:spLocks noChangeArrowheads="1"/>
          </p:cNvSpPr>
          <p:nvPr/>
        </p:nvSpPr>
        <p:spPr bwMode="auto">
          <a:xfrm>
            <a:off x="603250" y="5367338"/>
            <a:ext cx="1357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*(++p) = 17;</a:t>
            </a:r>
          </a:p>
        </p:txBody>
      </p:sp>
      <p:grpSp>
        <p:nvGrpSpPr>
          <p:cNvPr id="10" name="Group 4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1" name="Text Box 42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92" name="Rectangle 43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93" name="Rectangle 44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17</a:t>
              </a:r>
            </a:p>
          </p:txBody>
        </p:sp>
        <p:sp>
          <p:nvSpPr>
            <p:cNvPr id="15394" name="Rectangle 45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26" name="Text Box 46"/>
          <p:cNvSpPr txBox="1">
            <a:spLocks noChangeArrowheads="1"/>
          </p:cNvSpPr>
          <p:nvPr/>
        </p:nvSpPr>
        <p:spPr bwMode="auto">
          <a:xfrm>
            <a:off x="598488" y="6086475"/>
            <a:ext cx="1357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*(p++) = 13;</a:t>
            </a:r>
          </a:p>
        </p:txBody>
      </p:sp>
      <p:grpSp>
        <p:nvGrpSpPr>
          <p:cNvPr id="11" name="Group 47"/>
          <p:cNvGrpSpPr>
            <a:grpSpLocks/>
          </p:cNvGrpSpPr>
          <p:nvPr/>
        </p:nvGrpSpPr>
        <p:grpSpPr bwMode="auto">
          <a:xfrm>
            <a:off x="3917950" y="1557338"/>
            <a:ext cx="1806575" cy="366712"/>
            <a:chOff x="2472" y="981"/>
            <a:chExt cx="1138" cy="231"/>
          </a:xfrm>
        </p:grpSpPr>
        <p:sp>
          <p:nvSpPr>
            <p:cNvPr id="15387" name="Text Box 48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88" name="Rectangle 49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89" name="Rectangle 50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13</a:t>
              </a:r>
            </a:p>
          </p:txBody>
        </p:sp>
        <p:sp>
          <p:nvSpPr>
            <p:cNvPr id="15390" name="Rectangle 51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32" name="AutoShape 52"/>
          <p:cNvSpPr>
            <a:spLocks/>
          </p:cNvSpPr>
          <p:nvPr/>
        </p:nvSpPr>
        <p:spPr bwMode="auto">
          <a:xfrm>
            <a:off x="4787900" y="3429000"/>
            <a:ext cx="360363" cy="1223963"/>
          </a:xfrm>
          <a:prstGeom prst="rightBrace">
            <a:avLst>
              <a:gd name="adj1" fmla="val 2830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46133" name="Text Box 53"/>
          <p:cNvSpPr txBox="1">
            <a:spLocks noChangeArrowheads="1"/>
          </p:cNvSpPr>
          <p:nvPr/>
        </p:nvSpPr>
        <p:spPr bwMode="auto">
          <a:xfrm>
            <a:off x="5364163" y="3844925"/>
            <a:ext cx="1557337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</a:t>
            </a:r>
          </a:p>
        </p:txBody>
      </p:sp>
      <p:sp>
        <p:nvSpPr>
          <p:cNvPr id="46134" name="Text Box 54"/>
          <p:cNvSpPr txBox="1">
            <a:spLocks noChangeArrowheads="1"/>
          </p:cNvSpPr>
          <p:nvPr/>
        </p:nvSpPr>
        <p:spPr bwMode="auto">
          <a:xfrm>
            <a:off x="5580063" y="45085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and even</a:t>
            </a:r>
          </a:p>
        </p:txBody>
      </p:sp>
      <p:sp>
        <p:nvSpPr>
          <p:cNvPr id="46135" name="Text Box 55"/>
          <p:cNvSpPr txBox="1">
            <a:spLocks noChangeArrowheads="1"/>
          </p:cNvSpPr>
          <p:nvPr/>
        </p:nvSpPr>
        <p:spPr bwMode="auto">
          <a:xfrm>
            <a:off x="5888038" y="4992688"/>
            <a:ext cx="2246312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 == i[a]</a:t>
            </a:r>
          </a:p>
        </p:txBody>
      </p:sp>
      <p:sp>
        <p:nvSpPr>
          <p:cNvPr id="46136" name="Text Box 56"/>
          <p:cNvSpPr txBox="1">
            <a:spLocks noChangeArrowheads="1"/>
          </p:cNvSpPr>
          <p:nvPr/>
        </p:nvSpPr>
        <p:spPr bwMode="auto">
          <a:xfrm>
            <a:off x="8191500" y="4992688"/>
            <a:ext cx="56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46137" name="Text Box 57"/>
          <p:cNvSpPr txBox="1">
            <a:spLocks noChangeArrowheads="1"/>
          </p:cNvSpPr>
          <p:nvPr/>
        </p:nvSpPr>
        <p:spPr bwMode="auto">
          <a:xfrm>
            <a:off x="3635375" y="5949950"/>
            <a:ext cx="50546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in general: avoid pointer arithmetic!!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962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92" grpId="0"/>
      <p:bldP spid="46098" grpId="0"/>
      <p:bldP spid="46102" grpId="0"/>
      <p:bldP spid="46107" grpId="0"/>
      <p:bldP spid="46113" grpId="0"/>
      <p:bldP spid="46120" grpId="0"/>
      <p:bldP spid="46126" grpId="0"/>
      <p:bldP spid="46132" grpId="0" animBg="1"/>
      <p:bldP spid="46133" grpId="0" animBg="1"/>
      <p:bldP spid="46134" grpId="0"/>
      <p:bldP spid="46135" grpId="0" animBg="1"/>
      <p:bldP spid="46135" grpId="1" animBg="1"/>
      <p:bldP spid="46136" grpId="0"/>
      <p:bldP spid="46136" grpId="1"/>
      <p:bldP spid="4613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7" name="Rectangle 49"/>
          <p:cNvSpPr>
            <a:spLocks noChangeArrowheads="1"/>
          </p:cNvSpPr>
          <p:nvPr/>
        </p:nvSpPr>
        <p:spPr bwMode="auto">
          <a:xfrm>
            <a:off x="6300788" y="578326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Dynamic memory allocation</a:t>
            </a:r>
          </a:p>
        </p:txBody>
      </p:sp>
      <p:grpSp>
        <p:nvGrpSpPr>
          <p:cNvPr id="16388" name="Group 5"/>
          <p:cNvGrpSpPr>
            <a:grpSpLocks/>
          </p:cNvGrpSpPr>
          <p:nvPr/>
        </p:nvGrpSpPr>
        <p:grpSpPr bwMode="auto">
          <a:xfrm>
            <a:off x="323850" y="1627188"/>
            <a:ext cx="2827338" cy="2017712"/>
            <a:chOff x="3107" y="1570"/>
            <a:chExt cx="1781" cy="1271"/>
          </a:xfrm>
        </p:grpSpPr>
        <p:sp>
          <p:nvSpPr>
            <p:cNvPr id="16417" name="Text Box 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418" name="Oval 7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16389" name="Text Box 8"/>
          <p:cNvSpPr txBox="1">
            <a:spLocks noChangeArrowheads="1"/>
          </p:cNvSpPr>
          <p:nvPr/>
        </p:nvSpPr>
        <p:spPr bwMode="auto">
          <a:xfrm>
            <a:off x="3276600" y="2195513"/>
            <a:ext cx="860425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/>
              <a:t>???</a:t>
            </a:r>
          </a:p>
        </p:txBody>
      </p:sp>
      <p:sp>
        <p:nvSpPr>
          <p:cNvPr id="16390" name="Line 9"/>
          <p:cNvSpPr>
            <a:spLocks noChangeShapeType="1"/>
          </p:cNvSpPr>
          <p:nvPr/>
        </p:nvSpPr>
        <p:spPr bwMode="auto">
          <a:xfrm>
            <a:off x="2051050" y="2781300"/>
            <a:ext cx="792163" cy="3603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10"/>
          <p:cNvSpPr>
            <a:spLocks noChangeShapeType="1"/>
          </p:cNvSpPr>
          <p:nvPr/>
        </p:nvSpPr>
        <p:spPr bwMode="auto">
          <a:xfrm flipV="1">
            <a:off x="1908175" y="2852738"/>
            <a:ext cx="935038" cy="2889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26" name="Text Box 18"/>
          <p:cNvSpPr txBox="1">
            <a:spLocks noChangeArrowheads="1"/>
          </p:cNvSpPr>
          <p:nvPr/>
        </p:nvSpPr>
        <p:spPr bwMode="auto">
          <a:xfrm>
            <a:off x="4500563" y="1844675"/>
            <a:ext cx="358298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*p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(int *) malloc(sizeof(int))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scanf("%d",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3028" name="Text Box 20"/>
          <p:cNvSpPr txBox="1">
            <a:spLocks noChangeArrowheads="1"/>
          </p:cNvSpPr>
          <p:nvPr/>
        </p:nvSpPr>
        <p:spPr bwMode="auto">
          <a:xfrm>
            <a:off x="2659063" y="3644900"/>
            <a:ext cx="254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*malloc(size_t size);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755650" y="3930650"/>
            <a:ext cx="2068513" cy="650875"/>
            <a:chOff x="398" y="2807"/>
            <a:chExt cx="1303" cy="410"/>
          </a:xfrm>
        </p:grpSpPr>
        <p:sp>
          <p:nvSpPr>
            <p:cNvPr id="16415" name="Text Box 23"/>
            <p:cNvSpPr txBox="1">
              <a:spLocks noChangeArrowheads="1"/>
            </p:cNvSpPr>
            <p:nvPr/>
          </p:nvSpPr>
          <p:spPr bwMode="auto">
            <a:xfrm>
              <a:off x="398" y="2807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and returns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its address</a:t>
              </a:r>
            </a:p>
          </p:txBody>
        </p:sp>
        <p:sp>
          <p:nvSpPr>
            <p:cNvPr id="16416" name="Line 24"/>
            <p:cNvSpPr>
              <a:spLocks noChangeShapeType="1"/>
            </p:cNvSpPr>
            <p:nvPr/>
          </p:nvSpPr>
          <p:spPr bwMode="auto">
            <a:xfrm flipV="1">
              <a:off x="1247" y="2840"/>
              <a:ext cx="454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2640013" y="3983038"/>
            <a:ext cx="1793875" cy="1155700"/>
            <a:chOff x="1585" y="2840"/>
            <a:chExt cx="1130" cy="728"/>
          </a:xfrm>
        </p:grpSpPr>
        <p:sp>
          <p:nvSpPr>
            <p:cNvPr id="16413" name="Text Box 21"/>
            <p:cNvSpPr txBox="1">
              <a:spLocks noChangeArrowheads="1"/>
            </p:cNvSpPr>
            <p:nvPr/>
          </p:nvSpPr>
          <p:spPr bwMode="auto">
            <a:xfrm>
              <a:off x="1585" y="3158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malloc reserves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memory</a:t>
              </a:r>
            </a:p>
          </p:txBody>
        </p:sp>
        <p:sp>
          <p:nvSpPr>
            <p:cNvPr id="16414" name="Line 25"/>
            <p:cNvSpPr>
              <a:spLocks noChangeShapeType="1"/>
            </p:cNvSpPr>
            <p:nvPr/>
          </p:nvSpPr>
          <p:spPr bwMode="auto">
            <a:xfrm flipV="1">
              <a:off x="2154" y="2840"/>
              <a:ext cx="0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4767263" y="4056063"/>
            <a:ext cx="1600200" cy="885825"/>
            <a:chOff x="2925" y="2886"/>
            <a:chExt cx="1008" cy="558"/>
          </a:xfrm>
        </p:grpSpPr>
        <p:sp>
          <p:nvSpPr>
            <p:cNvPr id="16411" name="Text Box 22"/>
            <p:cNvSpPr txBox="1">
              <a:spLocks noChangeArrowheads="1"/>
            </p:cNvSpPr>
            <p:nvPr/>
          </p:nvSpPr>
          <p:spPr bwMode="auto">
            <a:xfrm>
              <a:off x="3155" y="3034"/>
              <a:ext cx="7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the size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specified</a:t>
              </a:r>
            </a:p>
          </p:txBody>
        </p:sp>
        <p:sp>
          <p:nvSpPr>
            <p:cNvPr id="16412" name="Line 26"/>
            <p:cNvSpPr>
              <a:spLocks noChangeShapeType="1"/>
            </p:cNvSpPr>
            <p:nvPr/>
          </p:nvSpPr>
          <p:spPr bwMode="auto">
            <a:xfrm flipH="1" flipV="1">
              <a:off x="2925" y="2886"/>
              <a:ext cx="227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6084888" y="2708275"/>
            <a:ext cx="2324100" cy="1868488"/>
            <a:chOff x="3833" y="1706"/>
            <a:chExt cx="1464" cy="1177"/>
          </a:xfrm>
        </p:grpSpPr>
        <p:sp>
          <p:nvSpPr>
            <p:cNvPr id="16409" name="Text Box 30"/>
            <p:cNvSpPr txBox="1">
              <a:spLocks noChangeArrowheads="1"/>
            </p:cNvSpPr>
            <p:nvPr/>
          </p:nvSpPr>
          <p:spPr bwMode="auto">
            <a:xfrm>
              <a:off x="4183" y="2127"/>
              <a:ext cx="1114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*</a:t>
              </a:r>
              <a:r>
                <a:rPr lang="en-US" altLang="nl-BE" sz="1800"/>
                <a:t>: type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generic pointer,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hence cast 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specific type</a:t>
              </a:r>
            </a:p>
          </p:txBody>
        </p:sp>
        <p:sp>
          <p:nvSpPr>
            <p:cNvPr id="16410" name="Line 31"/>
            <p:cNvSpPr>
              <a:spLocks noChangeShapeType="1"/>
            </p:cNvSpPr>
            <p:nvPr/>
          </p:nvSpPr>
          <p:spPr bwMode="auto">
            <a:xfrm flipH="1" flipV="1">
              <a:off x="3833" y="1706"/>
              <a:ext cx="499" cy="4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5"/>
          <p:cNvGrpSpPr>
            <a:grpSpLocks/>
          </p:cNvGrpSpPr>
          <p:nvPr/>
        </p:nvGrpSpPr>
        <p:grpSpPr bwMode="auto">
          <a:xfrm>
            <a:off x="7081838" y="1268413"/>
            <a:ext cx="1450975" cy="1223962"/>
            <a:chOff x="4461" y="799"/>
            <a:chExt cx="914" cy="771"/>
          </a:xfrm>
        </p:grpSpPr>
        <p:sp>
          <p:nvSpPr>
            <p:cNvPr id="16407" name="Text Box 32"/>
            <p:cNvSpPr txBox="1">
              <a:spLocks noChangeArrowheads="1"/>
            </p:cNvSpPr>
            <p:nvPr/>
          </p:nvSpPr>
          <p:spPr bwMode="auto">
            <a:xfrm>
              <a:off x="4461" y="799"/>
              <a:ext cx="914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size in bytes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an </a:t>
              </a:r>
              <a:r>
                <a:rPr lang="en-US" altLang="nl-BE" sz="1800">
                  <a:latin typeface="Times New Roman" panose="02020603050405020304" pitchFamily="18" charset="0"/>
                </a:rPr>
                <a:t>int</a:t>
              </a:r>
            </a:p>
          </p:txBody>
        </p:sp>
        <p:sp>
          <p:nvSpPr>
            <p:cNvPr id="16408" name="Line 33"/>
            <p:cNvSpPr>
              <a:spLocks noChangeShapeType="1"/>
            </p:cNvSpPr>
            <p:nvPr/>
          </p:nvSpPr>
          <p:spPr bwMode="auto">
            <a:xfrm flipH="1">
              <a:off x="4604" y="1207"/>
              <a:ext cx="226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047" name="Text Box 39"/>
          <p:cNvSpPr txBox="1">
            <a:spLocks noChangeArrowheads="1"/>
          </p:cNvSpPr>
          <p:nvPr/>
        </p:nvSpPr>
        <p:spPr bwMode="auto">
          <a:xfrm>
            <a:off x="1239838" y="5459413"/>
            <a:ext cx="774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3048" name="Text Box 40"/>
          <p:cNvSpPr txBox="1">
            <a:spLocks noChangeArrowheads="1"/>
          </p:cNvSpPr>
          <p:nvPr/>
        </p:nvSpPr>
        <p:spPr bwMode="auto">
          <a:xfrm>
            <a:off x="1239838" y="5797550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3049" name="Text Box 41"/>
          <p:cNvSpPr txBox="1">
            <a:spLocks noChangeArrowheads="1"/>
          </p:cNvSpPr>
          <p:nvPr/>
        </p:nvSpPr>
        <p:spPr bwMode="auto">
          <a:xfrm>
            <a:off x="1239838" y="61579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840288" y="5726113"/>
            <a:ext cx="811212" cy="366712"/>
            <a:chOff x="872" y="2762"/>
            <a:chExt cx="511" cy="231"/>
          </a:xfrm>
        </p:grpSpPr>
        <p:sp>
          <p:nvSpPr>
            <p:cNvPr id="16405" name="Text Box 4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6406" name="Rectangle 4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5419725" y="5926138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56" name="Rectangle 48"/>
          <p:cNvSpPr>
            <a:spLocks noChangeArrowheads="1"/>
          </p:cNvSpPr>
          <p:nvPr/>
        </p:nvSpPr>
        <p:spPr bwMode="auto">
          <a:xfrm>
            <a:off x="6300788" y="57816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96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57" grpId="0" animBg="1"/>
      <p:bldP spid="43057" grpId="1" animBg="1"/>
      <p:bldP spid="43026" grpId="0"/>
      <p:bldP spid="43028" grpId="0"/>
      <p:bldP spid="43047" grpId="0"/>
      <p:bldP spid="43048" grpId="0"/>
      <p:bldP spid="43049" grpId="0"/>
      <p:bldP spid="43053" grpId="0" animBg="1"/>
      <p:bldP spid="4305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sp>
        <p:nvSpPr>
          <p:cNvPr id="49162" name="Text Box 10"/>
          <p:cNvSpPr txBox="1">
            <a:spLocks noChangeArrowheads="1"/>
          </p:cNvSpPr>
          <p:nvPr/>
        </p:nvSpPr>
        <p:spPr bwMode="auto">
          <a:xfrm>
            <a:off x="176213" y="2852738"/>
            <a:ext cx="11557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test for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NULL</a:t>
            </a:r>
            <a:r>
              <a:rPr lang="en-US" altLang="nl-BE" sz="2400"/>
              <a:t>!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192463" y="1484313"/>
            <a:ext cx="2603500" cy="1082675"/>
            <a:chOff x="2789" y="2158"/>
            <a:chExt cx="1640" cy="682"/>
          </a:xfrm>
        </p:grpSpPr>
        <p:sp>
          <p:nvSpPr>
            <p:cNvPr id="17430" name="Text Box 11"/>
            <p:cNvSpPr txBox="1">
              <a:spLocks noChangeArrowheads="1"/>
            </p:cNvSpPr>
            <p:nvPr/>
          </p:nvSpPr>
          <p:spPr bwMode="auto">
            <a:xfrm>
              <a:off x="2867" y="2158"/>
              <a:ext cx="156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malloc</a:t>
              </a:r>
              <a:r>
                <a:rPr lang="en-US" altLang="nl-BE" sz="1800"/>
                <a:t> returns </a:t>
              </a:r>
              <a:r>
                <a:rPr lang="en-US" altLang="nl-BE" sz="1800">
                  <a:latin typeface="Times New Roman" panose="02020603050405020304" pitchFamily="18" charset="0"/>
                </a:rPr>
                <a:t>NULL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if no memory available</a:t>
              </a:r>
            </a:p>
          </p:txBody>
        </p:sp>
        <p:sp>
          <p:nvSpPr>
            <p:cNvPr id="17431" name="Line 12"/>
            <p:cNvSpPr>
              <a:spLocks noChangeShapeType="1"/>
            </p:cNvSpPr>
            <p:nvPr/>
          </p:nvSpPr>
          <p:spPr bwMode="auto">
            <a:xfrm flipH="1">
              <a:off x="2789" y="2569"/>
              <a:ext cx="317" cy="2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759075" y="4076700"/>
            <a:ext cx="2036763" cy="925513"/>
            <a:chOff x="1565" y="3624"/>
            <a:chExt cx="1283" cy="583"/>
          </a:xfrm>
        </p:grpSpPr>
        <p:sp>
          <p:nvSpPr>
            <p:cNvPr id="17428" name="Text Box 13"/>
            <p:cNvSpPr txBox="1">
              <a:spLocks noChangeArrowheads="1"/>
            </p:cNvSpPr>
            <p:nvPr/>
          </p:nvSpPr>
          <p:spPr bwMode="auto">
            <a:xfrm>
              <a:off x="1854" y="3624"/>
              <a:ext cx="99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 polite,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return what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you borrowed</a:t>
              </a:r>
            </a:p>
          </p:txBody>
        </p:sp>
        <p:sp>
          <p:nvSpPr>
            <p:cNvPr id="17429" name="Line 14"/>
            <p:cNvSpPr>
              <a:spLocks noChangeShapeType="1"/>
            </p:cNvSpPr>
            <p:nvPr/>
          </p:nvSpPr>
          <p:spPr bwMode="auto">
            <a:xfrm flipH="1">
              <a:off x="1565" y="3793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67" name="Text Box 15"/>
          <p:cNvSpPr txBox="1">
            <a:spLocks noChangeArrowheads="1"/>
          </p:cNvSpPr>
          <p:nvPr/>
        </p:nvSpPr>
        <p:spPr bwMode="auto">
          <a:xfrm>
            <a:off x="5081588" y="5157788"/>
            <a:ext cx="35941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 </a:t>
            </a:r>
            <a:r>
              <a:rPr lang="en-US" altLang="nl-BE" sz="2400">
                <a:latin typeface="Times New Roman" panose="02020603050405020304" pitchFamily="18" charset="0"/>
              </a:rPr>
              <a:t>free()</a:t>
            </a:r>
            <a:r>
              <a:rPr lang="en-US" altLang="nl-BE" sz="2400"/>
              <a:t> the </a:t>
            </a:r>
            <a:r>
              <a:rPr lang="en-US" altLang="nl-BE" sz="2400" i="1">
                <a:solidFill>
                  <a:srgbClr val="FF0000"/>
                </a:solidFill>
              </a:rPr>
              <a:t>address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obtained from </a:t>
            </a:r>
            <a:r>
              <a:rPr lang="en-US" altLang="nl-BE" sz="2400">
                <a:latin typeface="Times New Roman" panose="02020603050405020304" pitchFamily="18" charset="0"/>
              </a:rPr>
              <a:t>malloc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after use </a:t>
            </a:r>
            <a:r>
              <a:rPr lang="en-US" altLang="nl-BE" sz="2400" i="1">
                <a:solidFill>
                  <a:srgbClr val="FF0000"/>
                </a:solidFill>
              </a:rPr>
              <a:t>exactly once</a:t>
            </a:r>
            <a:r>
              <a:rPr lang="en-US" altLang="nl-BE" sz="2400"/>
              <a:t>!</a:t>
            </a:r>
          </a:p>
        </p:txBody>
      </p:sp>
      <p:sp>
        <p:nvSpPr>
          <p:cNvPr id="49170" name="Rectangle 18"/>
          <p:cNvSpPr>
            <a:spLocks noChangeArrowheads="1"/>
          </p:cNvSpPr>
          <p:nvPr/>
        </p:nvSpPr>
        <p:spPr bwMode="auto">
          <a:xfrm>
            <a:off x="7472363" y="2751138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16" name="Text Box 19"/>
          <p:cNvSpPr txBox="1">
            <a:spLocks noChangeArrowheads="1"/>
          </p:cNvSpPr>
          <p:nvPr/>
        </p:nvSpPr>
        <p:spPr bwMode="auto">
          <a:xfrm>
            <a:off x="1614488" y="2060575"/>
            <a:ext cx="774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9172" name="Text Box 20"/>
          <p:cNvSpPr txBox="1">
            <a:spLocks noChangeArrowheads="1"/>
          </p:cNvSpPr>
          <p:nvPr/>
        </p:nvSpPr>
        <p:spPr bwMode="auto">
          <a:xfrm>
            <a:off x="1614488" y="2486025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9173" name="Text Box 21"/>
          <p:cNvSpPr txBox="1">
            <a:spLocks noChangeArrowheads="1"/>
          </p:cNvSpPr>
          <p:nvPr/>
        </p:nvSpPr>
        <p:spPr bwMode="auto">
          <a:xfrm>
            <a:off x="1614488" y="35671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6011863" y="2693988"/>
            <a:ext cx="811212" cy="366712"/>
            <a:chOff x="872" y="2762"/>
            <a:chExt cx="511" cy="231"/>
          </a:xfrm>
        </p:grpSpPr>
        <p:sp>
          <p:nvSpPr>
            <p:cNvPr id="17426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7427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9177" name="Line 25"/>
          <p:cNvSpPr>
            <a:spLocks noChangeShapeType="1"/>
          </p:cNvSpPr>
          <p:nvPr/>
        </p:nvSpPr>
        <p:spPr bwMode="auto">
          <a:xfrm>
            <a:off x="6591300" y="2894013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178" name="Rectangle 26"/>
          <p:cNvSpPr>
            <a:spLocks noChangeArrowheads="1"/>
          </p:cNvSpPr>
          <p:nvPr/>
        </p:nvSpPr>
        <p:spPr bwMode="auto">
          <a:xfrm>
            <a:off x="7472363" y="2749550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49179" name="Text Box 27"/>
          <p:cNvSpPr txBox="1">
            <a:spLocks noChangeArrowheads="1"/>
          </p:cNvSpPr>
          <p:nvPr/>
        </p:nvSpPr>
        <p:spPr bwMode="auto">
          <a:xfrm>
            <a:off x="1608138" y="41179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free(p);</a:t>
            </a:r>
          </a:p>
        </p:txBody>
      </p:sp>
      <p:sp>
        <p:nvSpPr>
          <p:cNvPr id="49181" name="Text Box 29"/>
          <p:cNvSpPr txBox="1">
            <a:spLocks noChangeArrowheads="1"/>
          </p:cNvSpPr>
          <p:nvPr/>
        </p:nvSpPr>
        <p:spPr bwMode="auto">
          <a:xfrm>
            <a:off x="6464300" y="3197225"/>
            <a:ext cx="18827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dangling pointer!</a:t>
            </a:r>
          </a:p>
        </p:txBody>
      </p:sp>
      <p:sp>
        <p:nvSpPr>
          <p:cNvPr id="49182" name="Text Box 30"/>
          <p:cNvSpPr txBox="1">
            <a:spLocks noChangeArrowheads="1"/>
          </p:cNvSpPr>
          <p:nvPr/>
        </p:nvSpPr>
        <p:spPr bwMode="auto">
          <a:xfrm>
            <a:off x="1609725" y="3038475"/>
            <a:ext cx="3213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if (p == NULL) { /* panic!!! */ }</a:t>
            </a:r>
          </a:p>
        </p:txBody>
      </p:sp>
      <p:sp>
        <p:nvSpPr>
          <p:cNvPr id="49183" name="Text Box 31"/>
          <p:cNvSpPr txBox="1">
            <a:spLocks noChangeArrowheads="1"/>
          </p:cNvSpPr>
          <p:nvPr/>
        </p:nvSpPr>
        <p:spPr bwMode="auto">
          <a:xfrm>
            <a:off x="447675" y="5105400"/>
            <a:ext cx="1898650" cy="15033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NULL</a:t>
            </a:r>
            <a:r>
              <a:rPr lang="en-US" altLang="nl-BE" sz="1800"/>
              <a:t>: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that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accessable;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indicates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condition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39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2" grpId="0" animBg="1"/>
      <p:bldP spid="49167" grpId="0" animBg="1"/>
      <p:bldP spid="49170" grpId="0" animBg="1"/>
      <p:bldP spid="49170" grpId="1" animBg="1"/>
      <p:bldP spid="49172" grpId="0"/>
      <p:bldP spid="49173" grpId="0"/>
      <p:bldP spid="49177" grpId="0" animBg="1"/>
      <p:bldP spid="49178" grpId="0" animBg="1"/>
      <p:bldP spid="49178" grpId="1" animBg="1"/>
      <p:bldP spid="49179" grpId="0"/>
      <p:bldP spid="49181" grpId="0" animBg="1"/>
      <p:bldP spid="49182" grpId="0"/>
      <p:bldP spid="4918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539750" y="1412875"/>
            <a:ext cx="2827338" cy="2017713"/>
            <a:chOff x="3107" y="1570"/>
            <a:chExt cx="1781" cy="1271"/>
          </a:xfrm>
        </p:grpSpPr>
        <p:sp>
          <p:nvSpPr>
            <p:cNvPr id="18459" name="Text Box 4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60" name="Oval 5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63494" name="Text Box 6"/>
          <p:cNvSpPr txBox="1">
            <a:spLocks noChangeArrowheads="1"/>
          </p:cNvSpPr>
          <p:nvPr/>
        </p:nvSpPr>
        <p:spPr bwMode="auto">
          <a:xfrm>
            <a:off x="1116013" y="3614738"/>
            <a:ext cx="466883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data = (double *) malloc(size*sizeof(double));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(data == NULL)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/* no free memory available, panic!!!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free(data);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8437" name="Line 7"/>
          <p:cNvSpPr>
            <a:spLocks noChangeShapeType="1"/>
          </p:cNvSpPr>
          <p:nvPr/>
        </p:nvSpPr>
        <p:spPr bwMode="auto">
          <a:xfrm flipV="1">
            <a:off x="755650" y="1558925"/>
            <a:ext cx="23764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732213" y="3573463"/>
            <a:ext cx="2708275" cy="1147762"/>
            <a:chOff x="2958" y="2082"/>
            <a:chExt cx="1706" cy="723"/>
          </a:xfrm>
        </p:grpSpPr>
        <p:sp>
          <p:nvSpPr>
            <p:cNvPr id="18457" name="Text Box 27"/>
            <p:cNvSpPr txBox="1">
              <a:spLocks noChangeArrowheads="1"/>
            </p:cNvSpPr>
            <p:nvPr/>
          </p:nvSpPr>
          <p:spPr bwMode="auto">
            <a:xfrm>
              <a:off x="2958" y="2082"/>
              <a:ext cx="17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request memory to store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size</a:t>
              </a:r>
              <a:r>
                <a:rPr lang="en-US" altLang="nl-BE" sz="1800"/>
                <a:t> values of type </a:t>
              </a:r>
              <a:r>
                <a:rPr lang="en-US" altLang="nl-BE" sz="1800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18458" name="Line 28"/>
            <p:cNvSpPr>
              <a:spLocks noChangeShapeType="1"/>
            </p:cNvSpPr>
            <p:nvPr/>
          </p:nvSpPr>
          <p:spPr bwMode="auto">
            <a:xfrm>
              <a:off x="3243" y="2488"/>
              <a:ext cx="0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4"/>
          <p:cNvGrpSpPr>
            <a:grpSpLocks/>
          </p:cNvGrpSpPr>
          <p:nvPr/>
        </p:nvGrpSpPr>
        <p:grpSpPr bwMode="auto">
          <a:xfrm>
            <a:off x="5384800" y="1900238"/>
            <a:ext cx="3148013" cy="288925"/>
            <a:chOff x="3392" y="1197"/>
            <a:chExt cx="1983" cy="182"/>
          </a:xfrm>
        </p:grpSpPr>
        <p:sp>
          <p:nvSpPr>
            <p:cNvPr id="18451" name="Rectangle 32"/>
            <p:cNvSpPr>
              <a:spLocks noChangeArrowheads="1"/>
            </p:cNvSpPr>
            <p:nvPr/>
          </p:nvSpPr>
          <p:spPr bwMode="auto">
            <a:xfrm>
              <a:off x="3392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2" name="Rectangle 33"/>
            <p:cNvSpPr>
              <a:spLocks noChangeArrowheads="1"/>
            </p:cNvSpPr>
            <p:nvPr/>
          </p:nvSpPr>
          <p:spPr bwMode="auto">
            <a:xfrm>
              <a:off x="370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3" name="Rectangle 34"/>
            <p:cNvSpPr>
              <a:spLocks noChangeArrowheads="1"/>
            </p:cNvSpPr>
            <p:nvPr/>
          </p:nvSpPr>
          <p:spPr bwMode="auto">
            <a:xfrm>
              <a:off x="4019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4" name="Rectangle 35"/>
            <p:cNvSpPr>
              <a:spLocks noChangeArrowheads="1"/>
            </p:cNvSpPr>
            <p:nvPr/>
          </p:nvSpPr>
          <p:spPr bwMode="auto">
            <a:xfrm>
              <a:off x="505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5" name="Line 36"/>
            <p:cNvSpPr>
              <a:spLocks noChangeShapeType="1"/>
            </p:cNvSpPr>
            <p:nvPr/>
          </p:nvSpPr>
          <p:spPr bwMode="auto">
            <a:xfrm>
              <a:off x="4195" y="1379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37"/>
            <p:cNvSpPr>
              <a:spLocks noChangeShapeType="1"/>
            </p:cNvSpPr>
            <p:nvPr/>
          </p:nvSpPr>
          <p:spPr bwMode="auto">
            <a:xfrm>
              <a:off x="4196" y="1197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27" name="AutoShape 39"/>
          <p:cNvSpPr>
            <a:spLocks/>
          </p:cNvSpPr>
          <p:nvPr/>
        </p:nvSpPr>
        <p:spPr bwMode="auto">
          <a:xfrm rot="5400000">
            <a:off x="6861176" y="765175"/>
            <a:ext cx="215900" cy="3127375"/>
          </a:xfrm>
          <a:prstGeom prst="rightBrace">
            <a:avLst>
              <a:gd name="adj1" fmla="val 120711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3528" name="Text Box 40"/>
          <p:cNvSpPr txBox="1">
            <a:spLocks noChangeArrowheads="1"/>
          </p:cNvSpPr>
          <p:nvPr/>
        </p:nvSpPr>
        <p:spPr bwMode="auto">
          <a:xfrm>
            <a:off x="6702425" y="2401888"/>
            <a:ext cx="539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size</a:t>
            </a:r>
          </a:p>
        </p:txBody>
      </p:sp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4083050" y="2589213"/>
            <a:ext cx="1100138" cy="366712"/>
            <a:chOff x="2562" y="1616"/>
            <a:chExt cx="693" cy="231"/>
          </a:xfrm>
        </p:grpSpPr>
        <p:sp>
          <p:nvSpPr>
            <p:cNvPr id="18449" name="Text Box 41"/>
            <p:cNvSpPr txBox="1">
              <a:spLocks noChangeArrowheads="1"/>
            </p:cNvSpPr>
            <p:nvPr/>
          </p:nvSpPr>
          <p:spPr bwMode="auto">
            <a:xfrm>
              <a:off x="2562" y="1616"/>
              <a:ext cx="3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data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8450" name="Rectangle 42"/>
            <p:cNvSpPr>
              <a:spLocks noChangeArrowheads="1"/>
            </p:cNvSpPr>
            <p:nvPr/>
          </p:nvSpPr>
          <p:spPr bwMode="auto">
            <a:xfrm>
              <a:off x="2938" y="165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932363" y="2205038"/>
            <a:ext cx="719137" cy="576262"/>
            <a:chOff x="3107" y="1389"/>
            <a:chExt cx="453" cy="363"/>
          </a:xfrm>
        </p:grpSpPr>
        <p:sp>
          <p:nvSpPr>
            <p:cNvPr id="18447" name="Line 45"/>
            <p:cNvSpPr>
              <a:spLocks noChangeShapeType="1"/>
            </p:cNvSpPr>
            <p:nvPr/>
          </p:nvSpPr>
          <p:spPr bwMode="auto">
            <a:xfrm>
              <a:off x="3560" y="1389"/>
              <a:ext cx="0" cy="36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46"/>
            <p:cNvSpPr>
              <a:spLocks noChangeShapeType="1"/>
            </p:cNvSpPr>
            <p:nvPr/>
          </p:nvSpPr>
          <p:spPr bwMode="auto">
            <a:xfrm flipH="1">
              <a:off x="3107" y="1752"/>
              <a:ext cx="45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6" name="Line 48"/>
          <p:cNvSpPr>
            <a:spLocks noChangeShapeType="1"/>
          </p:cNvSpPr>
          <p:nvPr/>
        </p:nvSpPr>
        <p:spPr bwMode="auto">
          <a:xfrm>
            <a:off x="755650" y="4076700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49"/>
          <p:cNvSpPr>
            <a:spLocks noChangeShapeType="1"/>
          </p:cNvSpPr>
          <p:nvPr/>
        </p:nvSpPr>
        <p:spPr bwMode="auto">
          <a:xfrm>
            <a:off x="755650" y="4941888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0"/>
          <p:cNvSpPr>
            <a:spLocks noChangeShapeType="1"/>
          </p:cNvSpPr>
          <p:nvPr/>
        </p:nvSpPr>
        <p:spPr bwMode="auto">
          <a:xfrm>
            <a:off x="755650" y="6308725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97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4" grpId="0"/>
      <p:bldP spid="63527" grpId="0" animBg="1"/>
      <p:bldP spid="63527" grpId="1" animBg="1"/>
      <p:bldP spid="63528" grpId="0"/>
      <p:bldP spid="63528" grpId="1"/>
      <p:bldP spid="63536" grpId="0" animBg="1"/>
      <p:bldP spid="63536" grpId="1" animBg="1"/>
      <p:bldP spid="63537" grpId="0" animBg="1"/>
      <p:bldP spid="63537" grpId="1" animBg="1"/>
      <p:bldP spid="6353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Oval 8"/>
          <p:cNvSpPr>
            <a:spLocks noChangeArrowheads="1"/>
          </p:cNvSpPr>
          <p:nvPr/>
        </p:nvSpPr>
        <p:spPr bwMode="auto">
          <a:xfrm>
            <a:off x="107950" y="1412875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6</a:t>
            </a:r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107950" y="1919288"/>
            <a:ext cx="34242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double[]</a:t>
            </a:r>
            <a:r>
              <a:rPr lang="en-US" altLang="nl-BE" sz="1800">
                <a:latin typeface="Times New Roman" panose="02020603050405020304" pitchFamily="18" charset="0"/>
              </a:rPr>
              <a:t>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vector[n]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2" name="Line 6"/>
          <p:cNvSpPr>
            <a:spLocks noChangeShapeType="1"/>
          </p:cNvSpPr>
          <p:nvPr/>
        </p:nvSpPr>
        <p:spPr bwMode="auto">
          <a:xfrm>
            <a:off x="755650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Text Box 7"/>
          <p:cNvSpPr txBox="1">
            <a:spLocks noChangeArrowheads="1"/>
          </p:cNvSpPr>
          <p:nvPr/>
        </p:nvSpPr>
        <p:spPr bwMode="auto">
          <a:xfrm>
            <a:off x="107950" y="4367213"/>
            <a:ext cx="541178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*vector = (double *)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malloc</a:t>
            </a:r>
            <a:r>
              <a:rPr lang="en-US" altLang="nl-BE" sz="1800">
                <a:latin typeface="Times New Roman" panose="02020603050405020304" pitchFamily="18" charset="0"/>
              </a:rPr>
              <a:t>(n*sizeof(double));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9463" name="Text Box 9"/>
          <p:cNvSpPr txBox="1">
            <a:spLocks noChangeArrowheads="1"/>
          </p:cNvSpPr>
          <p:nvPr/>
        </p:nvSpPr>
        <p:spPr bwMode="auto">
          <a:xfrm>
            <a:off x="5983288" y="1916113"/>
            <a:ext cx="2909887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double v[]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6" name="Text Box 10"/>
          <p:cNvSpPr txBox="1">
            <a:spLocks noChangeArrowheads="1"/>
          </p:cNvSpPr>
          <p:nvPr/>
        </p:nvSpPr>
        <p:spPr bwMode="auto">
          <a:xfrm>
            <a:off x="5983288" y="4340225"/>
            <a:ext cx="28717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v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free(v)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7" name="Line 11"/>
          <p:cNvSpPr>
            <a:spLocks noChangeShapeType="1"/>
          </p:cNvSpPr>
          <p:nvPr/>
        </p:nvSpPr>
        <p:spPr bwMode="auto">
          <a:xfrm>
            <a:off x="6372225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2"/>
          <p:cNvSpPr>
            <a:spLocks noChangeShapeType="1"/>
          </p:cNvSpPr>
          <p:nvPr/>
        </p:nvSpPr>
        <p:spPr bwMode="auto">
          <a:xfrm>
            <a:off x="3851275" y="5013325"/>
            <a:ext cx="2233613" cy="647700"/>
          </a:xfrm>
          <a:prstGeom prst="line">
            <a:avLst/>
          </a:prstGeom>
          <a:noFill/>
          <a:ln w="76200">
            <a:solidFill>
              <a:schemeClr val="folHlink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3"/>
          <p:cNvSpPr txBox="1">
            <a:spLocks noChangeArrowheads="1"/>
          </p:cNvSpPr>
          <p:nvPr/>
        </p:nvSpPr>
        <p:spPr bwMode="auto">
          <a:xfrm>
            <a:off x="3492500" y="1268413"/>
            <a:ext cx="1819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array type isn't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valid return type</a:t>
            </a:r>
          </a:p>
        </p:txBody>
      </p:sp>
      <p:sp>
        <p:nvSpPr>
          <p:cNvPr id="65550" name="Text Box 14"/>
          <p:cNvSpPr txBox="1">
            <a:spLocks noChangeArrowheads="1"/>
          </p:cNvSpPr>
          <p:nvPr/>
        </p:nvSpPr>
        <p:spPr bwMode="auto">
          <a:xfrm>
            <a:off x="3416300" y="2513013"/>
            <a:ext cx="19843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is unknown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compile 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only at runtime: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allowed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65551" name="Line 15"/>
          <p:cNvSpPr>
            <a:spLocks noChangeShapeType="1"/>
          </p:cNvSpPr>
          <p:nvPr/>
        </p:nvSpPr>
        <p:spPr bwMode="auto">
          <a:xfrm flipH="1" flipV="1">
            <a:off x="2124075" y="2420938"/>
            <a:ext cx="12954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H="1">
            <a:off x="1116013" y="1412875"/>
            <a:ext cx="2376487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3" name="Text Box 17"/>
          <p:cNvSpPr txBox="1">
            <a:spLocks noChangeArrowheads="1"/>
          </p:cNvSpPr>
          <p:nvPr/>
        </p:nvSpPr>
        <p:spPr bwMode="auto">
          <a:xfrm>
            <a:off x="3111500" y="5824538"/>
            <a:ext cx="1501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runtime,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ok for </a:t>
            </a:r>
            <a:r>
              <a:rPr lang="en-US" altLang="nl-BE" sz="1800">
                <a:latin typeface="Times New Roman" panose="02020603050405020304" pitchFamily="18" charset="0"/>
              </a:rPr>
              <a:t>malloc</a:t>
            </a:r>
          </a:p>
        </p:txBody>
      </p:sp>
      <p:sp>
        <p:nvSpPr>
          <p:cNvPr id="65555" name="Line 19"/>
          <p:cNvSpPr>
            <a:spLocks noChangeShapeType="1"/>
          </p:cNvSpPr>
          <p:nvPr/>
        </p:nvSpPr>
        <p:spPr bwMode="auto">
          <a:xfrm flipV="1">
            <a:off x="3563938" y="5084763"/>
            <a:ext cx="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722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6" grpId="0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2-dim. arrays vs. pointer arrays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42888" y="2852738"/>
            <a:ext cx="190500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 a[3][2] =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4.1, 2.3},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0.8, 1.5},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{-0.1, 3.8}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};</a:t>
            </a:r>
          </a:p>
        </p:txBody>
      </p:sp>
      <p:sp>
        <p:nvSpPr>
          <p:cNvPr id="20484" name="Text Box 8"/>
          <p:cNvSpPr txBox="1">
            <a:spLocks noChangeArrowheads="1"/>
          </p:cNvSpPr>
          <p:nvPr/>
        </p:nvSpPr>
        <p:spPr bwMode="auto">
          <a:xfrm>
            <a:off x="366713" y="1462088"/>
            <a:ext cx="1038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2</a:t>
            </a:r>
          </a:p>
        </p:txBody>
      </p:sp>
      <p:grpSp>
        <p:nvGrpSpPr>
          <p:cNvPr id="20485" name="Group 11"/>
          <p:cNvGrpSpPr>
            <a:grpSpLocks/>
          </p:cNvGrpSpPr>
          <p:nvPr/>
        </p:nvGrpSpPr>
        <p:grpSpPr bwMode="auto">
          <a:xfrm>
            <a:off x="371475" y="1844675"/>
            <a:ext cx="1655763" cy="842963"/>
            <a:chOff x="612" y="1298"/>
            <a:chExt cx="1043" cy="531"/>
          </a:xfrm>
        </p:grpSpPr>
        <p:graphicFrame>
          <p:nvGraphicFramePr>
            <p:cNvPr id="20529" name="Object 9"/>
            <p:cNvGraphicFramePr>
              <a:graphicFrameLocks noChangeAspect="1"/>
            </p:cNvGraphicFramePr>
            <p:nvPr/>
          </p:nvGraphicFramePr>
          <p:xfrm>
            <a:off x="975" y="1298"/>
            <a:ext cx="680" cy="5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812447" imgH="634725" progId="Equation.3">
                    <p:embed/>
                  </p:oleObj>
                </mc:Choice>
                <mc:Fallback>
                  <p:oleObj name="Equation" r:id="rId3" imgW="812447" imgH="63472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1298"/>
                          <a:ext cx="680" cy="5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0" name="Rectangle 10"/>
            <p:cNvSpPr>
              <a:spLocks noChangeArrowheads="1"/>
            </p:cNvSpPr>
            <p:nvPr/>
          </p:nvSpPr>
          <p:spPr bwMode="auto">
            <a:xfrm>
              <a:off x="612" y="1469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98425" y="4429125"/>
            <a:ext cx="3306763" cy="366713"/>
            <a:chOff x="431" y="3339"/>
            <a:chExt cx="2083" cy="231"/>
          </a:xfrm>
        </p:grpSpPr>
        <p:sp>
          <p:nvSpPr>
            <p:cNvPr id="20522" name="Text Box 13"/>
            <p:cNvSpPr txBox="1">
              <a:spLocks noChangeArrowheads="1"/>
            </p:cNvSpPr>
            <p:nvPr/>
          </p:nvSpPr>
          <p:spPr bwMode="auto">
            <a:xfrm>
              <a:off x="431" y="333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23" name="Rectangle 14"/>
            <p:cNvSpPr>
              <a:spLocks noChangeArrowheads="1"/>
            </p:cNvSpPr>
            <p:nvPr/>
          </p:nvSpPr>
          <p:spPr bwMode="auto">
            <a:xfrm>
              <a:off x="625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4.1</a:t>
              </a:r>
            </a:p>
          </p:txBody>
        </p:sp>
        <p:sp>
          <p:nvSpPr>
            <p:cNvPr id="20524" name="Rectangle 15"/>
            <p:cNvSpPr>
              <a:spLocks noChangeArrowheads="1"/>
            </p:cNvSpPr>
            <p:nvPr/>
          </p:nvSpPr>
          <p:spPr bwMode="auto">
            <a:xfrm>
              <a:off x="941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2.3</a:t>
              </a:r>
            </a:p>
          </p:txBody>
        </p:sp>
        <p:sp>
          <p:nvSpPr>
            <p:cNvPr id="20525" name="Rectangle 16"/>
            <p:cNvSpPr>
              <a:spLocks noChangeArrowheads="1"/>
            </p:cNvSpPr>
            <p:nvPr/>
          </p:nvSpPr>
          <p:spPr bwMode="auto">
            <a:xfrm>
              <a:off x="1252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0.8</a:t>
              </a:r>
            </a:p>
          </p:txBody>
        </p:sp>
        <p:sp>
          <p:nvSpPr>
            <p:cNvPr id="20526" name="Rectangle 17"/>
            <p:cNvSpPr>
              <a:spLocks noChangeArrowheads="1"/>
            </p:cNvSpPr>
            <p:nvPr/>
          </p:nvSpPr>
          <p:spPr bwMode="auto">
            <a:xfrm>
              <a:off x="1570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1.5</a:t>
              </a:r>
            </a:p>
          </p:txBody>
        </p:sp>
        <p:sp>
          <p:nvSpPr>
            <p:cNvPr id="20527" name="Rectangle 18"/>
            <p:cNvSpPr>
              <a:spLocks noChangeArrowheads="1"/>
            </p:cNvSpPr>
            <p:nvPr/>
          </p:nvSpPr>
          <p:spPr bwMode="auto">
            <a:xfrm>
              <a:off x="1886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-0.1</a:t>
              </a:r>
            </a:p>
          </p:txBody>
        </p:sp>
        <p:sp>
          <p:nvSpPr>
            <p:cNvPr id="20528" name="Rectangle 19"/>
            <p:cNvSpPr>
              <a:spLocks noChangeArrowheads="1"/>
            </p:cNvSpPr>
            <p:nvPr/>
          </p:nvSpPr>
          <p:spPr bwMode="auto">
            <a:xfrm>
              <a:off x="2197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3.8</a:t>
              </a:r>
            </a:p>
          </p:txBody>
        </p:sp>
      </p:grpSp>
      <p:sp>
        <p:nvSpPr>
          <p:cNvPr id="52244" name="Line 20"/>
          <p:cNvSpPr>
            <a:spLocks noChangeShapeType="1"/>
          </p:cNvSpPr>
          <p:nvPr/>
        </p:nvSpPr>
        <p:spPr bwMode="auto">
          <a:xfrm>
            <a:off x="1393825" y="4373563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5" name="Line 21"/>
          <p:cNvSpPr>
            <a:spLocks noChangeShapeType="1"/>
          </p:cNvSpPr>
          <p:nvPr/>
        </p:nvSpPr>
        <p:spPr bwMode="auto">
          <a:xfrm>
            <a:off x="2409825" y="4365625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7" name="Text Box 23"/>
          <p:cNvSpPr txBox="1">
            <a:spLocks noChangeArrowheads="1"/>
          </p:cNvSpPr>
          <p:nvPr/>
        </p:nvSpPr>
        <p:spPr bwMode="auto">
          <a:xfrm>
            <a:off x="539750" y="500538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a[2][1] == *(a + 2*2 + 1) == 3.8</a:t>
            </a:r>
          </a:p>
        </p:txBody>
      </p:sp>
      <p:sp>
        <p:nvSpPr>
          <p:cNvPr id="52248" name="Text Box 24"/>
          <p:cNvSpPr txBox="1">
            <a:spLocks noChangeArrowheads="1"/>
          </p:cNvSpPr>
          <p:nvPr/>
        </p:nvSpPr>
        <p:spPr bwMode="auto">
          <a:xfrm>
            <a:off x="539750" y="543083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a[0][1] == *(a + 0*2 + 1) == 2.3</a:t>
            </a:r>
          </a:p>
        </p:txBody>
      </p:sp>
      <p:sp>
        <p:nvSpPr>
          <p:cNvPr id="52249" name="Text Box 25"/>
          <p:cNvSpPr txBox="1">
            <a:spLocks noChangeArrowheads="1"/>
          </p:cNvSpPr>
          <p:nvPr/>
        </p:nvSpPr>
        <p:spPr bwMode="auto">
          <a:xfrm>
            <a:off x="727075" y="6061075"/>
            <a:ext cx="2613025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800">
                <a:latin typeface="Times New Roman" panose="02020603050405020304" pitchFamily="18" charset="0"/>
              </a:rPr>
              <a:t>a[i][j]</a:t>
            </a:r>
            <a:r>
              <a:rPr lang="en-US" altLang="nl-BE" sz="2800"/>
              <a:t>, </a:t>
            </a:r>
            <a:r>
              <a:rPr lang="en-US" altLang="nl-BE" sz="2800" i="1">
                <a:solidFill>
                  <a:srgbClr val="FF0000"/>
                </a:solidFill>
              </a:rPr>
              <a:t>not</a:t>
            </a:r>
            <a:r>
              <a:rPr lang="en-US" altLang="nl-BE" sz="2800"/>
              <a:t> </a:t>
            </a:r>
            <a:r>
              <a:rPr lang="en-US" altLang="nl-BE" sz="2800">
                <a:latin typeface="Times New Roman" panose="02020603050405020304" pitchFamily="18" charset="0"/>
              </a:rPr>
              <a:t>a[i, j]</a:t>
            </a:r>
          </a:p>
        </p:txBody>
      </p:sp>
      <p:sp>
        <p:nvSpPr>
          <p:cNvPr id="52250" name="Text Box 26"/>
          <p:cNvSpPr txBox="1">
            <a:spLocks noChangeArrowheads="1"/>
          </p:cNvSpPr>
          <p:nvPr/>
        </p:nvSpPr>
        <p:spPr bwMode="auto">
          <a:xfrm>
            <a:off x="4356100" y="1389063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what if</a:t>
            </a:r>
          </a:p>
        </p:txBody>
      </p:sp>
      <p:sp>
        <p:nvSpPr>
          <p:cNvPr id="52251" name="Text Box 27"/>
          <p:cNvSpPr txBox="1">
            <a:spLocks noChangeArrowheads="1"/>
          </p:cNvSpPr>
          <p:nvPr/>
        </p:nvSpPr>
        <p:spPr bwMode="auto">
          <a:xfrm>
            <a:off x="5265738" y="1420813"/>
            <a:ext cx="17811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3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: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 =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t</a:t>
            </a:r>
          </a:p>
        </p:txBody>
      </p:sp>
      <p:sp>
        <p:nvSpPr>
          <p:cNvPr id="52252" name="Text Box 28"/>
          <p:cNvSpPr txBox="1">
            <a:spLocks noChangeArrowheads="1"/>
          </p:cNvSpPr>
          <p:nvPr/>
        </p:nvSpPr>
        <p:spPr bwMode="auto">
          <a:xfrm>
            <a:off x="6997700" y="13890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4376738" y="1838325"/>
            <a:ext cx="2262187" cy="944563"/>
            <a:chOff x="3561" y="1158"/>
            <a:chExt cx="1425" cy="595"/>
          </a:xfrm>
        </p:grpSpPr>
        <p:graphicFrame>
          <p:nvGraphicFramePr>
            <p:cNvPr id="20520" name="Object 30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69449" imgH="710891" progId="Equation.3">
                    <p:embed/>
                  </p:oleObj>
                </mc:Choice>
                <mc:Fallback>
                  <p:oleObj name="Equation" r:id="rId5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21" name="Rectangle 31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52258" name="Freeform 34"/>
          <p:cNvSpPr>
            <a:spLocks/>
          </p:cNvSpPr>
          <p:nvPr/>
        </p:nvSpPr>
        <p:spPr bwMode="auto">
          <a:xfrm>
            <a:off x="5216525" y="184467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59" name="Text Box 35"/>
          <p:cNvSpPr txBox="1">
            <a:spLocks noChangeArrowheads="1"/>
          </p:cNvSpPr>
          <p:nvPr/>
        </p:nvSpPr>
        <p:spPr bwMode="auto">
          <a:xfrm>
            <a:off x="4356100" y="2895600"/>
            <a:ext cx="4656138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6078538" y="6302375"/>
            <a:ext cx="1806575" cy="366713"/>
            <a:chOff x="3602" y="3970"/>
            <a:chExt cx="1138" cy="231"/>
          </a:xfrm>
        </p:grpSpPr>
        <p:sp>
          <p:nvSpPr>
            <p:cNvPr id="20516" name="Text Box 37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17" name="Rectangle 38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8" name="Rectangle 39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9" name="Rectangle 40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7250113" y="4941888"/>
            <a:ext cx="1498600" cy="287337"/>
            <a:chOff x="4567" y="3113"/>
            <a:chExt cx="944" cy="181"/>
          </a:xfrm>
        </p:grpSpPr>
        <p:sp>
          <p:nvSpPr>
            <p:cNvPr id="20513" name="Rectangle 41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4" name="Rectangle 42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5" name="Rectangle 43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7599363" y="5446713"/>
            <a:ext cx="1004887" cy="287337"/>
            <a:chOff x="4567" y="3431"/>
            <a:chExt cx="633" cy="181"/>
          </a:xfrm>
        </p:grpSpPr>
        <p:sp>
          <p:nvSpPr>
            <p:cNvPr id="20511" name="Rectangle 44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2" name="Rectangle 45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2271" name="Rectangle 47"/>
          <p:cNvSpPr>
            <a:spLocks noChangeArrowheads="1"/>
          </p:cNvSpPr>
          <p:nvPr/>
        </p:nvSpPr>
        <p:spPr bwMode="auto">
          <a:xfrm>
            <a:off x="7988300" y="594995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8" name="Group 57"/>
          <p:cNvGrpSpPr>
            <a:grpSpLocks/>
          </p:cNvGrpSpPr>
          <p:nvPr/>
        </p:nvGrpSpPr>
        <p:grpSpPr bwMode="auto">
          <a:xfrm>
            <a:off x="6651625" y="5068888"/>
            <a:ext cx="584200" cy="1439862"/>
            <a:chOff x="4190" y="3193"/>
            <a:chExt cx="368" cy="907"/>
          </a:xfrm>
        </p:grpSpPr>
        <p:sp>
          <p:nvSpPr>
            <p:cNvPr id="20509" name="Line 53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10" name="Line 54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60"/>
          <p:cNvGrpSpPr>
            <a:grpSpLocks/>
          </p:cNvGrpSpPr>
          <p:nvPr/>
        </p:nvGrpSpPr>
        <p:grpSpPr bwMode="auto">
          <a:xfrm>
            <a:off x="7124700" y="5588000"/>
            <a:ext cx="471488" cy="912813"/>
            <a:chOff x="4488" y="3520"/>
            <a:chExt cx="297" cy="575"/>
          </a:xfrm>
        </p:grpSpPr>
        <p:sp>
          <p:nvSpPr>
            <p:cNvPr id="20507" name="Line 5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8" name="Line 5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7627938" y="6092825"/>
            <a:ext cx="360362" cy="400050"/>
            <a:chOff x="4805" y="3838"/>
            <a:chExt cx="227" cy="252"/>
          </a:xfrm>
        </p:grpSpPr>
        <p:sp>
          <p:nvSpPr>
            <p:cNvPr id="20505" name="Line 5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6" name="Line 5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69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44" grpId="0" animBg="1"/>
      <p:bldP spid="52245" grpId="0" animBg="1"/>
      <p:bldP spid="52247" grpId="0" animBg="1"/>
      <p:bldP spid="52248" grpId="0" animBg="1"/>
      <p:bldP spid="52249" grpId="0" animBg="1"/>
      <p:bldP spid="52250" grpId="0"/>
      <p:bldP spid="52251" grpId="0"/>
      <p:bldP spid="52252" grpId="0"/>
      <p:bldP spid="52258" grpId="0" animBg="1"/>
      <p:bldP spid="52259" grpId="0"/>
      <p:bldP spid="5227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9"/>
          <p:cNvSpPr txBox="1">
            <a:spLocks noChangeArrowheads="1"/>
          </p:cNvSpPr>
          <p:nvPr/>
        </p:nvSpPr>
        <p:spPr bwMode="auto">
          <a:xfrm>
            <a:off x="708025" y="2254250"/>
            <a:ext cx="4656138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(j = 0; j &lt; (3-i); j++)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sp>
        <p:nvSpPr>
          <p:cNvPr id="2150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21508" name="Group 5"/>
          <p:cNvGrpSpPr>
            <a:grpSpLocks/>
          </p:cNvGrpSpPr>
          <p:nvPr/>
        </p:nvGrpSpPr>
        <p:grpSpPr bwMode="auto">
          <a:xfrm>
            <a:off x="344488" y="1196975"/>
            <a:ext cx="2262187" cy="944563"/>
            <a:chOff x="3561" y="1158"/>
            <a:chExt cx="1425" cy="595"/>
          </a:xfrm>
        </p:grpSpPr>
        <p:graphicFrame>
          <p:nvGraphicFramePr>
            <p:cNvPr id="21593" name="Object 6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94" name="Rectangle 7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21509" name="Freeform 8"/>
          <p:cNvSpPr>
            <a:spLocks/>
          </p:cNvSpPr>
          <p:nvPr/>
        </p:nvSpPr>
        <p:spPr bwMode="auto">
          <a:xfrm>
            <a:off x="1184275" y="12033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506913" y="5661025"/>
            <a:ext cx="1806575" cy="366713"/>
            <a:chOff x="3602" y="3970"/>
            <a:chExt cx="1138" cy="231"/>
          </a:xfrm>
        </p:grpSpPr>
        <p:sp>
          <p:nvSpPr>
            <p:cNvPr id="21589" name="Text Box 11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90" name="Rectangle 12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1" name="Rectangle 13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2" name="Rectangle 14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678488" y="4300538"/>
            <a:ext cx="1498600" cy="287337"/>
            <a:chOff x="4567" y="3113"/>
            <a:chExt cx="944" cy="181"/>
          </a:xfrm>
        </p:grpSpPr>
        <p:sp>
          <p:nvSpPr>
            <p:cNvPr id="21586" name="Rectangle 16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7" name="Rectangle 17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8" name="Rectangle 18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6027738" y="4805363"/>
            <a:ext cx="1004887" cy="287337"/>
            <a:chOff x="4567" y="3431"/>
            <a:chExt cx="633" cy="181"/>
          </a:xfrm>
        </p:grpSpPr>
        <p:sp>
          <p:nvSpPr>
            <p:cNvPr id="21584" name="Rectangle 20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5" name="Rectangle 21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8390" name="Rectangle 22"/>
          <p:cNvSpPr>
            <a:spLocks noChangeArrowheads="1"/>
          </p:cNvSpPr>
          <p:nvPr/>
        </p:nvSpPr>
        <p:spPr bwMode="auto">
          <a:xfrm>
            <a:off x="6416675" y="530860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5080000" y="4427538"/>
            <a:ext cx="584200" cy="1439862"/>
            <a:chOff x="4190" y="3193"/>
            <a:chExt cx="368" cy="907"/>
          </a:xfrm>
        </p:grpSpPr>
        <p:sp>
          <p:nvSpPr>
            <p:cNvPr id="21582" name="Line 24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3" name="Line 25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5553075" y="4946650"/>
            <a:ext cx="471488" cy="912813"/>
            <a:chOff x="4488" y="3520"/>
            <a:chExt cx="297" cy="575"/>
          </a:xfrm>
        </p:grpSpPr>
        <p:sp>
          <p:nvSpPr>
            <p:cNvPr id="21580" name="Line 27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1" name="Line 28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56313" y="5451475"/>
            <a:ext cx="360362" cy="400050"/>
            <a:chOff x="4805" y="3838"/>
            <a:chExt cx="227" cy="252"/>
          </a:xfrm>
        </p:grpSpPr>
        <p:sp>
          <p:nvSpPr>
            <p:cNvPr id="21578" name="Line 30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79" name="Line 31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400" name="Line 32"/>
          <p:cNvSpPr>
            <a:spLocks noChangeShapeType="1"/>
          </p:cNvSpPr>
          <p:nvPr/>
        </p:nvSpPr>
        <p:spPr bwMode="auto">
          <a:xfrm>
            <a:off x="395288" y="24923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1" name="Line 33"/>
          <p:cNvSpPr>
            <a:spLocks noChangeShapeType="1"/>
          </p:cNvSpPr>
          <p:nvPr/>
        </p:nvSpPr>
        <p:spPr bwMode="auto">
          <a:xfrm>
            <a:off x="395288" y="32845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2" name="Line 34"/>
          <p:cNvSpPr>
            <a:spLocks noChangeShapeType="1"/>
          </p:cNvSpPr>
          <p:nvPr/>
        </p:nvSpPr>
        <p:spPr bwMode="auto">
          <a:xfrm>
            <a:off x="395288" y="41497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3" name="Line 35"/>
          <p:cNvSpPr>
            <a:spLocks noChangeShapeType="1"/>
          </p:cNvSpPr>
          <p:nvPr/>
        </p:nvSpPr>
        <p:spPr bwMode="auto">
          <a:xfrm>
            <a:off x="395288" y="52292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" name="Group 36"/>
          <p:cNvGrpSpPr>
            <a:grpSpLocks/>
          </p:cNvGrpSpPr>
          <p:nvPr/>
        </p:nvGrpSpPr>
        <p:grpSpPr bwMode="auto">
          <a:xfrm>
            <a:off x="3714750" y="4514850"/>
            <a:ext cx="811213" cy="366713"/>
            <a:chOff x="872" y="2762"/>
            <a:chExt cx="511" cy="231"/>
          </a:xfrm>
        </p:grpSpPr>
        <p:sp>
          <p:nvSpPr>
            <p:cNvPr id="21576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7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0" name="Group 39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4" name="Text Box 40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5" name="Rectangle 4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1" name="Group 45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72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3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2" name="Group 48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0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1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3" name="Group 51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8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9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4" name="Group 54"/>
          <p:cNvGrpSpPr>
            <a:grpSpLocks/>
          </p:cNvGrpSpPr>
          <p:nvPr/>
        </p:nvGrpSpPr>
        <p:grpSpPr bwMode="auto">
          <a:xfrm>
            <a:off x="3714750" y="4941888"/>
            <a:ext cx="811213" cy="366712"/>
            <a:chOff x="872" y="2762"/>
            <a:chExt cx="511" cy="231"/>
          </a:xfrm>
        </p:grpSpPr>
        <p:sp>
          <p:nvSpPr>
            <p:cNvPr id="21566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7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5" name="Group 57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4" name="Text Box 58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5" name="Rectangle 59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grpSp>
        <p:nvGrpSpPr>
          <p:cNvPr id="16" name="Group 60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62" name="Text Box 61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3" name="Rectangle 62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58431" name="Line 63"/>
          <p:cNvSpPr>
            <a:spLocks noChangeShapeType="1"/>
          </p:cNvSpPr>
          <p:nvPr/>
        </p:nvSpPr>
        <p:spPr bwMode="auto">
          <a:xfrm>
            <a:off x="395288" y="274955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32" name="Text Box 64"/>
          <p:cNvSpPr txBox="1">
            <a:spLocks noChangeArrowheads="1"/>
          </p:cNvSpPr>
          <p:nvPr/>
        </p:nvSpPr>
        <p:spPr bwMode="auto">
          <a:xfrm>
            <a:off x="5686425" y="4248150"/>
            <a:ext cx="501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4.1</a:t>
            </a:r>
          </a:p>
        </p:txBody>
      </p:sp>
      <p:sp>
        <p:nvSpPr>
          <p:cNvPr id="58433" name="Text Box 65"/>
          <p:cNvSpPr txBox="1">
            <a:spLocks noChangeArrowheads="1"/>
          </p:cNvSpPr>
          <p:nvPr/>
        </p:nvSpPr>
        <p:spPr bwMode="auto">
          <a:xfrm>
            <a:off x="6175375" y="4256088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2.3</a:t>
            </a:r>
          </a:p>
        </p:txBody>
      </p:sp>
      <p:sp>
        <p:nvSpPr>
          <p:cNvPr id="58434" name="Text Box 66"/>
          <p:cNvSpPr txBox="1">
            <a:spLocks noChangeArrowheads="1"/>
          </p:cNvSpPr>
          <p:nvPr/>
        </p:nvSpPr>
        <p:spPr bwMode="auto">
          <a:xfrm>
            <a:off x="6630988" y="4256088"/>
            <a:ext cx="577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-0.4</a:t>
            </a:r>
          </a:p>
        </p:txBody>
      </p:sp>
      <p:sp>
        <p:nvSpPr>
          <p:cNvPr id="58435" name="Text Box 67"/>
          <p:cNvSpPr txBox="1">
            <a:spLocks noChangeArrowheads="1"/>
          </p:cNvSpPr>
          <p:nvPr/>
        </p:nvSpPr>
        <p:spPr bwMode="auto">
          <a:xfrm>
            <a:off x="60388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0.1</a:t>
            </a:r>
          </a:p>
        </p:txBody>
      </p:sp>
      <p:sp>
        <p:nvSpPr>
          <p:cNvPr id="58436" name="Text Box 68"/>
          <p:cNvSpPr txBox="1">
            <a:spLocks noChangeArrowheads="1"/>
          </p:cNvSpPr>
          <p:nvPr/>
        </p:nvSpPr>
        <p:spPr bwMode="auto">
          <a:xfrm>
            <a:off x="65341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8.7</a:t>
            </a:r>
          </a:p>
        </p:txBody>
      </p:sp>
      <p:sp>
        <p:nvSpPr>
          <p:cNvPr id="58437" name="Text Box 69"/>
          <p:cNvSpPr txBox="1">
            <a:spLocks noChangeArrowheads="1"/>
          </p:cNvSpPr>
          <p:nvPr/>
        </p:nvSpPr>
        <p:spPr bwMode="auto">
          <a:xfrm>
            <a:off x="6375400" y="5264150"/>
            <a:ext cx="577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-2.9</a:t>
            </a:r>
          </a:p>
        </p:txBody>
      </p:sp>
      <p:sp>
        <p:nvSpPr>
          <p:cNvPr id="65" name="TextBox 64"/>
          <p:cNvSpPr txBox="1">
            <a:spLocks noChangeArrowheads="1"/>
          </p:cNvSpPr>
          <p:nvPr/>
        </p:nvSpPr>
        <p:spPr bwMode="auto">
          <a:xfrm>
            <a:off x="7013575" y="2214563"/>
            <a:ext cx="1916113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      a[1][1]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(a[1])[1]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(*(a + 1))[1]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*(*(a + 1) + 1)</a:t>
            </a:r>
            <a:endParaRPr lang="nl-BE" altLang="nl-BE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Group 86"/>
          <p:cNvGrpSpPr>
            <a:grpSpLocks/>
          </p:cNvGrpSpPr>
          <p:nvPr/>
        </p:nvGrpSpPr>
        <p:grpSpPr bwMode="auto">
          <a:xfrm>
            <a:off x="5116513" y="3365500"/>
            <a:ext cx="2857500" cy="3001963"/>
            <a:chOff x="5072066" y="3429000"/>
            <a:chExt cx="2857520" cy="3001190"/>
          </a:xfrm>
        </p:grpSpPr>
        <p:cxnSp>
          <p:nvCxnSpPr>
            <p:cNvPr id="75" name="Straight Connector 74"/>
            <p:cNvCxnSpPr/>
            <p:nvPr/>
          </p:nvCxnSpPr>
          <p:spPr>
            <a:xfrm rot="5400000">
              <a:off x="6358346" y="4928802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>
              <a:off x="5072066" y="6428602"/>
              <a:ext cx="278608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/>
            <p:cNvCxnSpPr/>
            <p:nvPr/>
          </p:nvCxnSpPr>
          <p:spPr>
            <a:xfrm rot="5400000" flipH="1" flipV="1">
              <a:off x="4894312" y="6250848"/>
              <a:ext cx="357096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>
              <a:off x="7786710" y="3429000"/>
              <a:ext cx="142876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95"/>
          <p:cNvGrpSpPr>
            <a:grpSpLocks/>
          </p:cNvGrpSpPr>
          <p:nvPr/>
        </p:nvGrpSpPr>
        <p:grpSpPr bwMode="auto">
          <a:xfrm>
            <a:off x="5564188" y="3367088"/>
            <a:ext cx="2654300" cy="3000375"/>
            <a:chOff x="5561666" y="3429000"/>
            <a:chExt cx="2653672" cy="3001190"/>
          </a:xfrm>
        </p:grpSpPr>
        <p:cxnSp>
          <p:nvCxnSpPr>
            <p:cNvPr id="89" name="Straight Connector 88"/>
            <p:cNvCxnSpPr/>
            <p:nvPr/>
          </p:nvCxnSpPr>
          <p:spPr>
            <a:xfrm rot="5400000">
              <a:off x="6510797" y="4928801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 rot="10800000">
              <a:off x="5572775" y="6428602"/>
              <a:ext cx="243782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Arrow Connector 90"/>
            <p:cNvCxnSpPr/>
            <p:nvPr/>
          </p:nvCxnSpPr>
          <p:spPr>
            <a:xfrm rot="5400000" flipH="1" flipV="1">
              <a:off x="5384612" y="6251548"/>
              <a:ext cx="355697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7786814" y="3429000"/>
              <a:ext cx="428524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06"/>
          <p:cNvGrpSpPr>
            <a:grpSpLocks/>
          </p:cNvGrpSpPr>
          <p:nvPr/>
        </p:nvGrpSpPr>
        <p:grpSpPr bwMode="auto">
          <a:xfrm>
            <a:off x="6276975" y="3367088"/>
            <a:ext cx="2071688" cy="1928812"/>
            <a:chOff x="6286512" y="3357562"/>
            <a:chExt cx="2071702" cy="1928826"/>
          </a:xfrm>
        </p:grpSpPr>
        <p:cxnSp>
          <p:nvCxnSpPr>
            <p:cNvPr id="98" name="Straight Connector 97"/>
            <p:cNvCxnSpPr/>
            <p:nvPr/>
          </p:nvCxnSpPr>
          <p:spPr>
            <a:xfrm rot="5400000">
              <a:off x="6974698" y="4321975"/>
              <a:ext cx="192882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 rot="10800000">
              <a:off x="6286512" y="5267338"/>
              <a:ext cx="1652599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/>
            <p:cNvCxnSpPr/>
            <p:nvPr/>
          </p:nvCxnSpPr>
          <p:spPr>
            <a:xfrm rot="5400000" flipH="1" flipV="1">
              <a:off x="6215073" y="5195900"/>
              <a:ext cx="14446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>
              <a:off x="7643834" y="3357562"/>
              <a:ext cx="71438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16"/>
          <p:cNvGrpSpPr>
            <a:grpSpLocks/>
          </p:cNvGrpSpPr>
          <p:nvPr/>
        </p:nvGrpSpPr>
        <p:grpSpPr bwMode="auto">
          <a:xfrm>
            <a:off x="6784975" y="3367088"/>
            <a:ext cx="1930400" cy="1919287"/>
            <a:chOff x="6784990" y="3366440"/>
            <a:chExt cx="1930414" cy="1919948"/>
          </a:xfrm>
        </p:grpSpPr>
        <p:cxnSp>
          <p:nvCxnSpPr>
            <p:cNvPr id="109" name="Straight Connector 108"/>
            <p:cNvCxnSpPr/>
            <p:nvPr/>
          </p:nvCxnSpPr>
          <p:spPr>
            <a:xfrm rot="5400000">
              <a:off x="7131538" y="4326415"/>
              <a:ext cx="191994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rot="10800000">
              <a:off x="6786578" y="5275272"/>
              <a:ext cx="130493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/>
            <p:cNvCxnSpPr/>
            <p:nvPr/>
          </p:nvCxnSpPr>
          <p:spPr>
            <a:xfrm rot="5400000" flipH="1" flipV="1">
              <a:off x="6714321" y="5204604"/>
              <a:ext cx="14292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7643834" y="3366440"/>
              <a:ext cx="107157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136"/>
          <p:cNvGrpSpPr>
            <a:grpSpLocks/>
          </p:cNvGrpSpPr>
          <p:nvPr/>
        </p:nvGrpSpPr>
        <p:grpSpPr bwMode="auto">
          <a:xfrm>
            <a:off x="6562725" y="3367088"/>
            <a:ext cx="2206625" cy="1776412"/>
            <a:chOff x="6563386" y="3366440"/>
            <a:chExt cx="2206114" cy="1777072"/>
          </a:xfrm>
        </p:grpSpPr>
        <p:cxnSp>
          <p:nvCxnSpPr>
            <p:cNvPr id="119" name="Straight Connector 118"/>
            <p:cNvCxnSpPr/>
            <p:nvPr/>
          </p:nvCxnSpPr>
          <p:spPr>
            <a:xfrm rot="5400000">
              <a:off x="7372352" y="4147780"/>
              <a:ext cx="1562680" cy="0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 rot="10800000">
              <a:off x="7072856" y="4946589"/>
              <a:ext cx="1071314" cy="0"/>
            </a:xfrm>
            <a:prstGeom prst="line">
              <a:avLst/>
            </a:prstGeom>
            <a:ln w="12700">
              <a:solidFill>
                <a:srgbClr val="FF0000"/>
              </a:solidFill>
              <a:headEnd type="none"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7483923" y="3366440"/>
              <a:ext cx="128557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/>
            <p:cNvSpPr/>
            <p:nvPr/>
          </p:nvSpPr>
          <p:spPr>
            <a:xfrm>
              <a:off x="6563386" y="4714728"/>
              <a:ext cx="499947" cy="428784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4285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 nodeType="clickPar">
                      <p:stCondLst>
                        <p:cond delay="indefinite"/>
                      </p:stCondLst>
                      <p:childTnLst>
                        <p:par>
                          <p:cTn id="2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 nodeType="clickPar">
                      <p:stCondLst>
                        <p:cond delay="indefinite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 nodeType="clickPar">
                      <p:stCondLst>
                        <p:cond delay="indefinite"/>
                      </p:stCondLst>
                      <p:childTnLst>
                        <p:par>
                          <p:cTn id="2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 nodeType="clickPar">
                      <p:stCondLst>
                        <p:cond delay="indefinite"/>
                      </p:stCondLst>
                      <p:childTnLst>
                        <p:par>
                          <p:cTn id="2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 nodeType="clickPar">
                      <p:stCondLst>
                        <p:cond delay="indefinite"/>
                      </p:stCondLst>
                      <p:childTnLst>
                        <p:par>
                          <p:cTn id="2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 nodeType="clickPar">
                      <p:stCondLst>
                        <p:cond delay="indefinite"/>
                      </p:stCondLst>
                      <p:childTnLst>
                        <p:par>
                          <p:cTn id="2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 nodeType="clickPar">
                      <p:stCondLst>
                        <p:cond delay="indefinite"/>
                      </p:stCondLst>
                      <p:childTnLst>
                        <p:par>
                          <p:cTn id="2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90" grpId="0" animBg="1"/>
      <p:bldP spid="58390" grpId="1" animBg="1"/>
      <p:bldP spid="58390" grpId="2" animBg="1"/>
      <p:bldP spid="58400" grpId="0" animBg="1"/>
      <p:bldP spid="58400" grpId="1" animBg="1"/>
      <p:bldP spid="58401" grpId="0" animBg="1"/>
      <p:bldP spid="58401" grpId="1" animBg="1"/>
      <p:bldP spid="58401" grpId="2" animBg="1"/>
      <p:bldP spid="58401" grpId="3" animBg="1"/>
      <p:bldP spid="58401" grpId="4" animBg="1"/>
      <p:bldP spid="58401" grpId="5" animBg="1"/>
      <p:bldP spid="58402" grpId="0" animBg="1"/>
      <p:bldP spid="58402" grpId="1" animBg="1"/>
      <p:bldP spid="58402" grpId="2" animBg="1"/>
      <p:bldP spid="58402" grpId="3" animBg="1"/>
      <p:bldP spid="58402" grpId="4" animBg="1"/>
      <p:bldP spid="58402" grpId="5" animBg="1"/>
      <p:bldP spid="58403" grpId="0" animBg="1"/>
      <p:bldP spid="58403" grpId="1" animBg="1"/>
      <p:bldP spid="58431" grpId="0" animBg="1"/>
      <p:bldP spid="58431" grpId="1" animBg="1"/>
      <p:bldP spid="58432" grpId="0"/>
      <p:bldP spid="58432" grpId="1"/>
      <p:bldP spid="58432" grpId="2"/>
      <p:bldP spid="58433" grpId="0"/>
      <p:bldP spid="58433" grpId="1"/>
      <p:bldP spid="58433" grpId="2"/>
      <p:bldP spid="58434" grpId="0"/>
      <p:bldP spid="58434" grpId="1"/>
      <p:bldP spid="58434" grpId="2"/>
      <p:bldP spid="58435" grpId="0"/>
      <p:bldP spid="58435" grpId="1"/>
      <p:bldP spid="58435" grpId="2"/>
      <p:bldP spid="58436" grpId="0"/>
      <p:bldP spid="58436" grpId="1"/>
      <p:bldP spid="58436" grpId="2"/>
      <p:bldP spid="58437" grpId="0"/>
      <p:bldP spid="58437" grpId="1"/>
      <p:bldP spid="65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 as parameters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684213" y="1557338"/>
            <a:ext cx="11509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sym typeface="Euclid Symbol" pitchFamily="18" charset="2"/>
              </a:rPr>
              <a:t>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f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(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)</a:t>
            </a:r>
            <a:r>
              <a:rPr lang="en-US" altLang="nl-BE" sz="12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d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</a:p>
        </p:txBody>
      </p:sp>
      <p:sp>
        <p:nvSpPr>
          <p:cNvPr id="22532" name="Text Box 5"/>
          <p:cNvSpPr txBox="1">
            <a:spLocks noChangeArrowheads="1"/>
          </p:cNvSpPr>
          <p:nvPr/>
        </p:nvSpPr>
        <p:spPr bwMode="auto">
          <a:xfrm>
            <a:off x="722313" y="1755775"/>
            <a:ext cx="273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a</a:t>
            </a:r>
          </a:p>
        </p:txBody>
      </p:sp>
      <p:sp>
        <p:nvSpPr>
          <p:cNvPr id="22533" name="Text Box 6"/>
          <p:cNvSpPr txBox="1">
            <a:spLocks noChangeArrowheads="1"/>
          </p:cNvSpPr>
          <p:nvPr/>
        </p:nvSpPr>
        <p:spPr bwMode="auto">
          <a:xfrm>
            <a:off x="827088" y="1363663"/>
            <a:ext cx="2667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b</a:t>
            </a:r>
          </a:p>
        </p:txBody>
      </p:sp>
      <p:sp>
        <p:nvSpPr>
          <p:cNvPr id="22534" name="Text Box 7"/>
          <p:cNvSpPr txBox="1">
            <a:spLocks noChangeArrowheads="1"/>
          </p:cNvSpPr>
          <p:nvPr/>
        </p:nvSpPr>
        <p:spPr bwMode="auto">
          <a:xfrm>
            <a:off x="1835150" y="1549400"/>
            <a:ext cx="1746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any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5" name="Text Box 8"/>
              <p:cNvSpPr txBox="1">
                <a:spLocks noChangeArrowheads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2000" i="1" dirty="0">
                    <a:latin typeface="Euclid" pitchFamily="18" charset="0"/>
                    <a:sym typeface="Euclid Symbol" pitchFamily="18" charset="2"/>
                  </a:rPr>
                  <a:t>f</a:t>
                </a:r>
                <a:r>
                  <a:rPr lang="en-US" altLang="nl-BE" sz="1200" i="1" dirty="0">
                    <a:latin typeface="Euclid" pitchFamily="18" charset="0"/>
                    <a:sym typeface="Euclid Symbol" pitchFamily="18" charset="2"/>
                  </a:rPr>
                  <a:t> </a:t>
                </a:r>
                <a:r>
                  <a:rPr lang="en-US" altLang="nl-BE" sz="2000" dirty="0">
                    <a:latin typeface="Euclid" pitchFamily="18" charset="0"/>
                    <a:sym typeface="Euclid Symbol" pitchFamily="18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20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2000" dirty="0">
                    <a:latin typeface="Euclid" pitchFamily="18" charset="0"/>
                    <a:sym typeface="Symbol" panose="05050102010706020507" pitchFamily="18" charset="2"/>
                  </a:rPr>
                  <a:t></a:t>
                </a:r>
                <a:r>
                  <a:rPr lang="en-US" altLang="nl-BE" sz="2000" b="1" dirty="0">
                    <a:ea typeface="Cambria Math" panose="02040503050406030204" pitchFamily="18" charset="0"/>
                    <a:sym typeface="Euclid Extra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2000" b="1" i="1" dirty="0">
                  <a:latin typeface="Euclid" pitchFamily="18" charset="0"/>
                  <a:sym typeface="Euclid Extra" pitchFamily="18" charset="2"/>
                </a:endParaRPr>
              </a:p>
            </p:txBody>
          </p:sp>
        </mc:Choice>
        <mc:Fallback xmlns="">
          <p:sp>
            <p:nvSpPr>
              <p:cNvPr id="22535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blipFill>
                <a:blip r:embed="rId3"/>
                <a:stretch>
                  <a:fillRect l="-5181" t="-10606" b="-2575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Text Box 9"/>
          <p:cNvSpPr txBox="1">
            <a:spLocks noChangeArrowheads="1"/>
          </p:cNvSpPr>
          <p:nvPr/>
        </p:nvSpPr>
        <p:spPr bwMode="auto">
          <a:xfrm>
            <a:off x="4500563" y="1549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sp>
        <p:nvSpPr>
          <p:cNvPr id="55306" name="Text Box 10"/>
          <p:cNvSpPr txBox="1">
            <a:spLocks noChangeArrowheads="1"/>
          </p:cNvSpPr>
          <p:nvPr/>
        </p:nvSpPr>
        <p:spPr bwMode="auto">
          <a:xfrm>
            <a:off x="808038" y="22971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simple!</a:t>
            </a:r>
          </a:p>
        </p:txBody>
      </p: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11188" y="3090863"/>
            <a:ext cx="6076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simpletonQuad(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 (*f)(double)</a:t>
            </a:r>
            <a:r>
              <a:rPr lang="en-US" altLang="nl-BE" sz="1800">
                <a:latin typeface="Times New Roman" panose="02020603050405020304" pitchFamily="18" charset="0"/>
              </a:rPr>
              <a:t>, double a, double b);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2916238" y="1989138"/>
            <a:ext cx="1727200" cy="1152525"/>
            <a:chOff x="1837" y="1253"/>
            <a:chExt cx="1088" cy="726"/>
          </a:xfrm>
        </p:grpSpPr>
        <p:sp>
          <p:nvSpPr>
            <p:cNvPr id="22542" name="AutoShape 12"/>
            <p:cNvSpPr>
              <a:spLocks/>
            </p:cNvSpPr>
            <p:nvPr/>
          </p:nvSpPr>
          <p:spPr bwMode="auto">
            <a:xfrm rot="-5400000">
              <a:off x="2313" y="1367"/>
              <a:ext cx="136" cy="1088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3" name="Line 14"/>
            <p:cNvSpPr>
              <a:spLocks noChangeShapeType="1"/>
            </p:cNvSpPr>
            <p:nvPr/>
          </p:nvSpPr>
          <p:spPr bwMode="auto">
            <a:xfrm flipV="1">
              <a:off x="2381" y="1253"/>
              <a:ext cx="0" cy="5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5311" name="Text Box 15"/>
          <p:cNvSpPr txBox="1">
            <a:spLocks noChangeArrowheads="1"/>
          </p:cNvSpPr>
          <p:nvPr/>
        </p:nvSpPr>
        <p:spPr bwMode="auto">
          <a:xfrm>
            <a:off x="611188" y="3808413"/>
            <a:ext cx="429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printf("%lf", </a:t>
            </a:r>
            <a:r>
              <a:rPr lang="en-US" altLang="nl-BE" sz="1800"/>
              <a:t>simpletonQuad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cos</a:t>
            </a:r>
            <a:r>
              <a:rPr lang="en-US" altLang="nl-BE" sz="1800">
                <a:latin typeface="Times New Roman" panose="02020603050405020304" pitchFamily="18" charset="0"/>
              </a:rPr>
              <a:t>, 0, 2*Pi));</a:t>
            </a:r>
          </a:p>
        </p:txBody>
      </p:sp>
      <p:sp>
        <p:nvSpPr>
          <p:cNvPr id="55313" name="Text Box 17"/>
          <p:cNvSpPr txBox="1">
            <a:spLocks noChangeArrowheads="1"/>
          </p:cNvSpPr>
          <p:nvPr/>
        </p:nvSpPr>
        <p:spPr bwMode="auto">
          <a:xfrm>
            <a:off x="630238" y="4600575"/>
            <a:ext cx="63833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</a:t>
            </a:r>
            <a:r>
              <a:rPr lang="en-US" altLang="nl-BE" sz="1800"/>
              <a:t>simpletonQuad </a:t>
            </a:r>
            <a:r>
              <a:rPr lang="en-US" altLang="nl-BE" sz="1800">
                <a:latin typeface="Times New Roman" panose="02020603050405020304" pitchFamily="18" charset="0"/>
              </a:rPr>
              <a:t>(double (*f)(double), double a, double b)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(b-a)*(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(a) +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(b))/2;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76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6" grpId="0"/>
      <p:bldP spid="55307" grpId="0"/>
      <p:bldP spid="55311" grpId="0"/>
      <p:bldP spid="55313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Pointers, arrays &amp; structures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K&amp;R, Chapter 5 &amp; 6, Pointers &amp; arrays, Structures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289615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4099" name="Group 3"/>
          <p:cNvGrpSpPr>
            <a:grpSpLocks/>
          </p:cNvGrpSpPr>
          <p:nvPr/>
        </p:nvGrpSpPr>
        <p:grpSpPr bwMode="auto">
          <a:xfrm>
            <a:off x="344488" y="1412875"/>
            <a:ext cx="2262187" cy="944563"/>
            <a:chOff x="3561" y="1158"/>
            <a:chExt cx="1425" cy="595"/>
          </a:xfrm>
        </p:grpSpPr>
        <p:graphicFrame>
          <p:nvGraphicFramePr>
            <p:cNvPr id="4131" name="Object 4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Rectangle 5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4100" name="Freeform 6"/>
          <p:cNvSpPr>
            <a:spLocks/>
          </p:cNvSpPr>
          <p:nvPr/>
        </p:nvSpPr>
        <p:spPr bwMode="auto">
          <a:xfrm>
            <a:off x="1184275" y="14192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215900 h 590"/>
              <a:gd name="T4" fmla="*/ 1081088 w 862"/>
              <a:gd name="T5" fmla="*/ 936625 h 590"/>
              <a:gd name="T6" fmla="*/ 1368425 w 862"/>
              <a:gd name="T7" fmla="*/ 936625 h 590"/>
              <a:gd name="T8" fmla="*/ 1368425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Text Box 7"/>
          <p:cNvSpPr txBox="1">
            <a:spLocks noChangeArrowheads="1"/>
          </p:cNvSpPr>
          <p:nvPr/>
        </p:nvSpPr>
        <p:spPr bwMode="auto">
          <a:xfrm>
            <a:off x="725488" y="2470150"/>
            <a:ext cx="4999037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const unsigned Dim = 3;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*a[Dim];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free(a[i]);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4102" name="Group 8"/>
          <p:cNvGrpSpPr>
            <a:grpSpLocks/>
          </p:cNvGrpSpPr>
          <p:nvPr/>
        </p:nvGrpSpPr>
        <p:grpSpPr bwMode="auto">
          <a:xfrm>
            <a:off x="5724525" y="2852738"/>
            <a:ext cx="1806575" cy="366712"/>
            <a:chOff x="3602" y="3970"/>
            <a:chExt cx="1138" cy="231"/>
          </a:xfrm>
        </p:grpSpPr>
        <p:sp>
          <p:nvSpPr>
            <p:cNvPr id="4127" name="Text Box 9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4128" name="Rectangle 10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9" name="Rectangle 11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30" name="Rectangle 12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3" name="Group 13"/>
          <p:cNvGrpSpPr>
            <a:grpSpLocks/>
          </p:cNvGrpSpPr>
          <p:nvPr/>
        </p:nvGrpSpPr>
        <p:grpSpPr bwMode="auto">
          <a:xfrm>
            <a:off x="6896100" y="1492250"/>
            <a:ext cx="1498600" cy="287338"/>
            <a:chOff x="4567" y="3113"/>
            <a:chExt cx="944" cy="181"/>
          </a:xfrm>
        </p:grpSpPr>
        <p:sp>
          <p:nvSpPr>
            <p:cNvPr id="4124" name="Rectangle 14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5" name="Rectangle 15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6" name="Rectangle 16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4" name="Group 17"/>
          <p:cNvGrpSpPr>
            <a:grpSpLocks/>
          </p:cNvGrpSpPr>
          <p:nvPr/>
        </p:nvGrpSpPr>
        <p:grpSpPr bwMode="auto">
          <a:xfrm>
            <a:off x="7245350" y="1997075"/>
            <a:ext cx="1004888" cy="287338"/>
            <a:chOff x="4567" y="3431"/>
            <a:chExt cx="633" cy="181"/>
          </a:xfrm>
        </p:grpSpPr>
        <p:sp>
          <p:nvSpPr>
            <p:cNvPr id="4122" name="Rectangle 18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3" name="Rectangle 19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4105" name="Rectangle 20"/>
          <p:cNvSpPr>
            <a:spLocks noChangeArrowheads="1"/>
          </p:cNvSpPr>
          <p:nvPr/>
        </p:nvSpPr>
        <p:spPr bwMode="auto">
          <a:xfrm>
            <a:off x="7634288" y="250031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4106" name="Group 21"/>
          <p:cNvGrpSpPr>
            <a:grpSpLocks/>
          </p:cNvGrpSpPr>
          <p:nvPr/>
        </p:nvGrpSpPr>
        <p:grpSpPr bwMode="auto">
          <a:xfrm>
            <a:off x="6297613" y="1619250"/>
            <a:ext cx="584200" cy="1439863"/>
            <a:chOff x="4190" y="3193"/>
            <a:chExt cx="368" cy="907"/>
          </a:xfrm>
        </p:grpSpPr>
        <p:sp>
          <p:nvSpPr>
            <p:cNvPr id="4120" name="Line 22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3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7" name="Group 24"/>
          <p:cNvGrpSpPr>
            <a:grpSpLocks/>
          </p:cNvGrpSpPr>
          <p:nvPr/>
        </p:nvGrpSpPr>
        <p:grpSpPr bwMode="auto">
          <a:xfrm>
            <a:off x="6770688" y="2138363"/>
            <a:ext cx="471487" cy="912812"/>
            <a:chOff x="4488" y="3520"/>
            <a:chExt cx="297" cy="575"/>
          </a:xfrm>
        </p:grpSpPr>
        <p:sp>
          <p:nvSpPr>
            <p:cNvPr id="4118" name="Line 2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8" name="Group 27"/>
          <p:cNvGrpSpPr>
            <a:grpSpLocks/>
          </p:cNvGrpSpPr>
          <p:nvPr/>
        </p:nvGrpSpPr>
        <p:grpSpPr bwMode="auto">
          <a:xfrm>
            <a:off x="7273925" y="2643188"/>
            <a:ext cx="360363" cy="400050"/>
            <a:chOff x="4805" y="3838"/>
            <a:chExt cx="227" cy="252"/>
          </a:xfrm>
        </p:grpSpPr>
        <p:sp>
          <p:nvSpPr>
            <p:cNvPr id="4116" name="Line 2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2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9" name="Text Box 59"/>
          <p:cNvSpPr txBox="1">
            <a:spLocks noChangeArrowheads="1"/>
          </p:cNvSpPr>
          <p:nvPr/>
        </p:nvSpPr>
        <p:spPr bwMode="auto">
          <a:xfrm>
            <a:off x="6904038" y="1439863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4110" name="Text Box 60"/>
          <p:cNvSpPr txBox="1">
            <a:spLocks noChangeArrowheads="1"/>
          </p:cNvSpPr>
          <p:nvPr/>
        </p:nvSpPr>
        <p:spPr bwMode="auto">
          <a:xfrm>
            <a:off x="7392988" y="14478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4111" name="Text Box 61"/>
          <p:cNvSpPr txBox="1">
            <a:spLocks noChangeArrowheads="1"/>
          </p:cNvSpPr>
          <p:nvPr/>
        </p:nvSpPr>
        <p:spPr bwMode="auto">
          <a:xfrm>
            <a:off x="7848600" y="1447800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4112" name="Text Box 62"/>
          <p:cNvSpPr txBox="1">
            <a:spLocks noChangeArrowheads="1"/>
          </p:cNvSpPr>
          <p:nvPr/>
        </p:nvSpPr>
        <p:spPr bwMode="auto">
          <a:xfrm>
            <a:off x="72564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4113" name="Text Box 63"/>
          <p:cNvSpPr txBox="1">
            <a:spLocks noChangeArrowheads="1"/>
          </p:cNvSpPr>
          <p:nvPr/>
        </p:nvSpPr>
        <p:spPr bwMode="auto">
          <a:xfrm>
            <a:off x="77517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4114" name="Text Box 64"/>
          <p:cNvSpPr txBox="1">
            <a:spLocks noChangeArrowheads="1"/>
          </p:cNvSpPr>
          <p:nvPr/>
        </p:nvSpPr>
        <p:spPr bwMode="auto">
          <a:xfrm>
            <a:off x="7593013" y="2455863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9281" name="Text Box 65"/>
          <p:cNvSpPr txBox="1">
            <a:spLocks noChangeArrowheads="1"/>
          </p:cNvSpPr>
          <p:nvPr/>
        </p:nvSpPr>
        <p:spPr bwMode="auto">
          <a:xfrm>
            <a:off x="2195513" y="6021388"/>
            <a:ext cx="6634162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What if Dim is unknown at compile time?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49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3" name="Rectangle 39"/>
          <p:cNvSpPr>
            <a:spLocks noChangeArrowheads="1"/>
          </p:cNvSpPr>
          <p:nvPr/>
        </p:nvSpPr>
        <p:spPr bwMode="auto">
          <a:xfrm>
            <a:off x="564673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Double dereferenced pointers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539750" y="1484313"/>
            <a:ext cx="5354638" cy="4211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**</a:t>
            </a:r>
            <a:r>
              <a:rPr lang="en-US" altLang="nl-BE">
                <a:latin typeface="Times New Roman" panose="02020603050405020304" pitchFamily="18" charset="0"/>
              </a:rPr>
              <a:t>a = 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**</a:t>
            </a:r>
            <a:r>
              <a:rPr lang="en-US" altLang="nl-BE">
                <a:latin typeface="Times New Roman" panose="02020603050405020304" pitchFamily="18" charset="0"/>
              </a:rPr>
              <a:t>) malloc(dim*sizeof(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>
                <a:latin typeface="Times New Roman" panose="02020603050405020304" pitchFamily="18" charset="0"/>
              </a:rPr>
              <a:t>));</a:t>
            </a:r>
          </a:p>
          <a:p>
            <a:pPr eaLnBrk="1" hangingPunct="1"/>
            <a:r>
              <a:rPr lang="en-US" altLang="nl-BE"/>
              <a:t>if (a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/>
              <a:t>for (i = 0; i &lt; dim; i++)</a:t>
            </a:r>
          </a:p>
          <a:p>
            <a:pPr eaLnBrk="1" hangingPunct="1"/>
            <a:r>
              <a:rPr lang="en-US" altLang="nl-BE"/>
              <a:t>    free(a[i]);</a:t>
            </a:r>
          </a:p>
          <a:p>
            <a:pPr eaLnBrk="1" hangingPunct="1"/>
            <a:r>
              <a:rPr lang="en-US" altLang="nl-BE"/>
              <a:t>…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free(a);</a:t>
            </a:r>
          </a:p>
        </p:txBody>
      </p:sp>
      <p:grpSp>
        <p:nvGrpSpPr>
          <p:cNvPr id="11271" name="Group 7"/>
          <p:cNvGrpSpPr>
            <a:grpSpLocks/>
          </p:cNvGrpSpPr>
          <p:nvPr/>
        </p:nvGrpSpPr>
        <p:grpSpPr bwMode="auto">
          <a:xfrm>
            <a:off x="2035175" y="1360488"/>
            <a:ext cx="6851650" cy="650875"/>
            <a:chOff x="1282" y="857"/>
            <a:chExt cx="4316" cy="410"/>
          </a:xfrm>
        </p:grpSpPr>
        <p:sp>
          <p:nvSpPr>
            <p:cNvPr id="5159" name="Text Box 5"/>
            <p:cNvSpPr txBox="1">
              <a:spLocks noChangeArrowheads="1"/>
            </p:cNvSpPr>
            <p:nvPr/>
          </p:nvSpPr>
          <p:spPr bwMode="auto">
            <a:xfrm>
              <a:off x="4092" y="857"/>
              <a:ext cx="15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 contains address</a:t>
              </a:r>
            </a:p>
            <a:p>
              <a:pPr eaLnBrk="1" hangingPunct="1"/>
              <a:r>
                <a:rPr lang="en-US" altLang="nl-BE"/>
                <a:t>of address of a </a:t>
              </a:r>
              <a:r>
                <a:rPr lang="en-US" altLang="nl-BE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5160" name="Line 6"/>
            <p:cNvSpPr>
              <a:spLocks noChangeShapeType="1"/>
            </p:cNvSpPr>
            <p:nvPr/>
          </p:nvSpPr>
          <p:spPr bwMode="auto">
            <a:xfrm flipH="1">
              <a:off x="1282" y="935"/>
              <a:ext cx="2813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74" name="Group 10"/>
          <p:cNvGrpSpPr>
            <a:grpSpLocks/>
          </p:cNvGrpSpPr>
          <p:nvPr/>
        </p:nvGrpSpPr>
        <p:grpSpPr bwMode="auto">
          <a:xfrm>
            <a:off x="4772025" y="2205038"/>
            <a:ext cx="3594100" cy="1069975"/>
            <a:chOff x="3006" y="1389"/>
            <a:chExt cx="2264" cy="674"/>
          </a:xfrm>
        </p:grpSpPr>
        <p:sp>
          <p:nvSpPr>
            <p:cNvPr id="5157" name="Text Box 8"/>
            <p:cNvSpPr txBox="1">
              <a:spLocks noChangeArrowheads="1"/>
            </p:cNvSpPr>
            <p:nvPr/>
          </p:nvSpPr>
          <p:spPr bwMode="auto">
            <a:xfrm>
              <a:off x="4092" y="1480"/>
              <a:ext cx="1178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space reserved</a:t>
              </a:r>
            </a:p>
            <a:p>
              <a:pPr eaLnBrk="1" hangingPunct="1"/>
              <a:r>
                <a:rPr lang="en-US" altLang="nl-BE"/>
                <a:t>for </a:t>
              </a:r>
              <a:r>
                <a:rPr lang="en-US" altLang="nl-BE">
                  <a:latin typeface="Times New Roman" panose="02020603050405020304" pitchFamily="18" charset="0"/>
                </a:rPr>
                <a:t>dim</a:t>
              </a:r>
              <a:r>
                <a:rPr lang="en-US" altLang="nl-BE"/>
                <a:t> elements</a:t>
              </a:r>
            </a:p>
            <a:p>
              <a:pPr eaLnBrk="1" hangingPunct="1"/>
              <a:r>
                <a:rPr lang="en-US" altLang="nl-BE"/>
                <a:t>of </a:t>
              </a:r>
              <a:r>
                <a:rPr lang="en-US" altLang="nl-BE">
                  <a:latin typeface="Times New Roman" panose="02020603050405020304" pitchFamily="18" charset="0"/>
                </a:rPr>
                <a:t>double *</a:t>
              </a:r>
            </a:p>
          </p:txBody>
        </p:sp>
        <p:sp>
          <p:nvSpPr>
            <p:cNvPr id="5158" name="Line 9"/>
            <p:cNvSpPr>
              <a:spLocks noChangeShapeType="1"/>
            </p:cNvSpPr>
            <p:nvPr/>
          </p:nvSpPr>
          <p:spPr bwMode="auto">
            <a:xfrm flipH="1" flipV="1">
              <a:off x="3006" y="1389"/>
              <a:ext cx="1089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305" name="Group 41"/>
          <p:cNvGrpSpPr>
            <a:grpSpLocks/>
          </p:cNvGrpSpPr>
          <p:nvPr/>
        </p:nvGrpSpPr>
        <p:grpSpPr bwMode="auto">
          <a:xfrm>
            <a:off x="3838575" y="5129213"/>
            <a:ext cx="811213" cy="366712"/>
            <a:chOff x="2215" y="3471"/>
            <a:chExt cx="511" cy="231"/>
          </a:xfrm>
        </p:grpSpPr>
        <p:sp>
          <p:nvSpPr>
            <p:cNvPr id="5155" name="Text Box 12"/>
            <p:cNvSpPr txBox="1">
              <a:spLocks noChangeArrowheads="1"/>
            </p:cNvSpPr>
            <p:nvPr/>
          </p:nvSpPr>
          <p:spPr bwMode="auto">
            <a:xfrm>
              <a:off x="2215" y="3471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5156" name="Rectangle 13"/>
            <p:cNvSpPr>
              <a:spLocks noChangeArrowheads="1"/>
            </p:cNvSpPr>
            <p:nvPr/>
          </p:nvSpPr>
          <p:spPr bwMode="auto">
            <a:xfrm>
              <a:off x="2409" y="350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78" name="Rectangle 14"/>
          <p:cNvSpPr>
            <a:spLocks noChangeArrowheads="1"/>
          </p:cNvSpPr>
          <p:nvPr/>
        </p:nvSpPr>
        <p:spPr bwMode="auto">
          <a:xfrm>
            <a:off x="613568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11279" name="Rectangle 15"/>
          <p:cNvSpPr>
            <a:spLocks noChangeArrowheads="1"/>
          </p:cNvSpPr>
          <p:nvPr/>
        </p:nvSpPr>
        <p:spPr bwMode="auto">
          <a:xfrm>
            <a:off x="6629400" y="5184775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0" name="Group 16"/>
          <p:cNvGrpSpPr>
            <a:grpSpLocks/>
          </p:cNvGrpSpPr>
          <p:nvPr/>
        </p:nvGrpSpPr>
        <p:grpSpPr bwMode="auto">
          <a:xfrm>
            <a:off x="6497638" y="3768725"/>
            <a:ext cx="1498600" cy="287338"/>
            <a:chOff x="4567" y="3113"/>
            <a:chExt cx="944" cy="181"/>
          </a:xfrm>
        </p:grpSpPr>
        <p:sp>
          <p:nvSpPr>
            <p:cNvPr id="5152" name="Rectangle 17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3" name="Rectangle 18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4" name="Rectangle 19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11284" name="Group 20"/>
          <p:cNvGrpSpPr>
            <a:grpSpLocks/>
          </p:cNvGrpSpPr>
          <p:nvPr/>
        </p:nvGrpSpPr>
        <p:grpSpPr bwMode="auto">
          <a:xfrm>
            <a:off x="6846888" y="4273550"/>
            <a:ext cx="1004887" cy="287338"/>
            <a:chOff x="4567" y="3431"/>
            <a:chExt cx="633" cy="181"/>
          </a:xfrm>
        </p:grpSpPr>
        <p:sp>
          <p:nvSpPr>
            <p:cNvPr id="5150" name="Rectangle 21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1" name="Rectangle 22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87" name="Rectangle 23"/>
          <p:cNvSpPr>
            <a:spLocks noChangeArrowheads="1"/>
          </p:cNvSpPr>
          <p:nvPr/>
        </p:nvSpPr>
        <p:spPr bwMode="auto">
          <a:xfrm>
            <a:off x="7235825" y="4776788"/>
            <a:ext cx="503238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8" name="Group 24"/>
          <p:cNvGrpSpPr>
            <a:grpSpLocks/>
          </p:cNvGrpSpPr>
          <p:nvPr/>
        </p:nvGrpSpPr>
        <p:grpSpPr bwMode="auto">
          <a:xfrm>
            <a:off x="5899150" y="3895725"/>
            <a:ext cx="584200" cy="1439863"/>
            <a:chOff x="4190" y="3193"/>
            <a:chExt cx="368" cy="907"/>
          </a:xfrm>
        </p:grpSpPr>
        <p:sp>
          <p:nvSpPr>
            <p:cNvPr id="5148" name="Line 25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6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1" name="Group 27"/>
          <p:cNvGrpSpPr>
            <a:grpSpLocks/>
          </p:cNvGrpSpPr>
          <p:nvPr/>
        </p:nvGrpSpPr>
        <p:grpSpPr bwMode="auto">
          <a:xfrm>
            <a:off x="6372225" y="4414838"/>
            <a:ext cx="471488" cy="912812"/>
            <a:chOff x="4488" y="3520"/>
            <a:chExt cx="297" cy="575"/>
          </a:xfrm>
        </p:grpSpPr>
        <p:sp>
          <p:nvSpPr>
            <p:cNvPr id="5146" name="Line 28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9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4" name="Group 30"/>
          <p:cNvGrpSpPr>
            <a:grpSpLocks/>
          </p:cNvGrpSpPr>
          <p:nvPr/>
        </p:nvGrpSpPr>
        <p:grpSpPr bwMode="auto">
          <a:xfrm>
            <a:off x="6875463" y="4919663"/>
            <a:ext cx="360362" cy="400050"/>
            <a:chOff x="4805" y="3838"/>
            <a:chExt cx="227" cy="252"/>
          </a:xfrm>
        </p:grpSpPr>
        <p:sp>
          <p:nvSpPr>
            <p:cNvPr id="5144" name="Line 31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32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6505575" y="3716338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11298" name="Text Box 34"/>
          <p:cNvSpPr txBox="1">
            <a:spLocks noChangeArrowheads="1"/>
          </p:cNvSpPr>
          <p:nvPr/>
        </p:nvSpPr>
        <p:spPr bwMode="auto">
          <a:xfrm>
            <a:off x="6994525" y="372427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11299" name="Text Box 35"/>
          <p:cNvSpPr txBox="1">
            <a:spLocks noChangeArrowheads="1"/>
          </p:cNvSpPr>
          <p:nvPr/>
        </p:nvSpPr>
        <p:spPr bwMode="auto">
          <a:xfrm>
            <a:off x="7450138" y="3724275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11300" name="Text Box 36"/>
          <p:cNvSpPr txBox="1">
            <a:spLocks noChangeArrowheads="1"/>
          </p:cNvSpPr>
          <p:nvPr/>
        </p:nvSpPr>
        <p:spPr bwMode="auto">
          <a:xfrm>
            <a:off x="68580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11301" name="Text Box 37"/>
          <p:cNvSpPr txBox="1">
            <a:spLocks noChangeArrowheads="1"/>
          </p:cNvSpPr>
          <p:nvPr/>
        </p:nvSpPr>
        <p:spPr bwMode="auto">
          <a:xfrm>
            <a:off x="73533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11302" name="Text Box 38"/>
          <p:cNvSpPr txBox="1">
            <a:spLocks noChangeArrowheads="1"/>
          </p:cNvSpPr>
          <p:nvPr/>
        </p:nvSpPr>
        <p:spPr bwMode="auto">
          <a:xfrm>
            <a:off x="7194550" y="4732338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11304" name="Line 40"/>
          <p:cNvSpPr>
            <a:spLocks noChangeShapeType="1"/>
          </p:cNvSpPr>
          <p:nvPr/>
        </p:nvSpPr>
        <p:spPr bwMode="auto">
          <a:xfrm>
            <a:off x="4413250" y="5319713"/>
            <a:ext cx="1225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6" name="Text Box 42"/>
          <p:cNvSpPr txBox="1">
            <a:spLocks noChangeArrowheads="1"/>
          </p:cNvSpPr>
          <p:nvPr/>
        </p:nvSpPr>
        <p:spPr bwMode="auto">
          <a:xfrm>
            <a:off x="720725" y="6021388"/>
            <a:ext cx="7812088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double dereferenced pointer is pointer to pointer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58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3" grpId="0" animBg="1"/>
      <p:bldP spid="11278" grpId="0" animBg="1"/>
      <p:bldP spid="11279" grpId="0" animBg="1"/>
      <p:bldP spid="11287" grpId="0" animBg="1"/>
      <p:bldP spid="11297" grpId="0"/>
      <p:bldP spid="11298" grpId="0"/>
      <p:bldP spid="11299" grpId="0"/>
      <p:bldP spid="11300" grpId="0"/>
      <p:bldP spid="11301" grpId="0"/>
      <p:bldP spid="11302" grpId="0"/>
      <p:bldP spid="11304" grpId="0" animBg="1"/>
      <p:bldP spid="1130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</a:t>
            </a:r>
          </a:p>
        </p:txBody>
      </p:sp>
      <p:grpSp>
        <p:nvGrpSpPr>
          <p:cNvPr id="6147" name="Group 7"/>
          <p:cNvGrpSpPr>
            <a:grpSpLocks/>
          </p:cNvGrpSpPr>
          <p:nvPr/>
        </p:nvGrpSpPr>
        <p:grpSpPr bwMode="auto">
          <a:xfrm>
            <a:off x="1978025" y="1420813"/>
            <a:ext cx="504825" cy="431800"/>
            <a:chOff x="657" y="1253"/>
            <a:chExt cx="318" cy="272"/>
          </a:xfrm>
        </p:grpSpPr>
        <p:sp>
          <p:nvSpPr>
            <p:cNvPr id="6248" name="Rectangle 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49" name="Rectangle 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8" name="Group 8"/>
          <p:cNvGrpSpPr>
            <a:grpSpLocks/>
          </p:cNvGrpSpPr>
          <p:nvPr/>
        </p:nvGrpSpPr>
        <p:grpSpPr bwMode="auto">
          <a:xfrm>
            <a:off x="2949575" y="1420813"/>
            <a:ext cx="504825" cy="431800"/>
            <a:chOff x="657" y="1253"/>
            <a:chExt cx="318" cy="272"/>
          </a:xfrm>
        </p:grpSpPr>
        <p:sp>
          <p:nvSpPr>
            <p:cNvPr id="624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4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9" name="Group 11"/>
          <p:cNvGrpSpPr>
            <a:grpSpLocks/>
          </p:cNvGrpSpPr>
          <p:nvPr/>
        </p:nvGrpSpPr>
        <p:grpSpPr bwMode="auto">
          <a:xfrm>
            <a:off x="3922713" y="1420813"/>
            <a:ext cx="504825" cy="431800"/>
            <a:chOff x="657" y="1253"/>
            <a:chExt cx="318" cy="272"/>
          </a:xfrm>
        </p:grpSpPr>
        <p:sp>
          <p:nvSpPr>
            <p:cNvPr id="624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4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50" name="Group 18"/>
          <p:cNvGrpSpPr>
            <a:grpSpLocks/>
          </p:cNvGrpSpPr>
          <p:nvPr/>
        </p:nvGrpSpPr>
        <p:grpSpPr bwMode="auto">
          <a:xfrm>
            <a:off x="4035425" y="1739900"/>
            <a:ext cx="288925" cy="304800"/>
            <a:chOff x="2043" y="1454"/>
            <a:chExt cx="182" cy="192"/>
          </a:xfrm>
        </p:grpSpPr>
        <p:sp>
          <p:nvSpPr>
            <p:cNvPr id="6240" name="Line 1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1" name="Line 1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2" name="Line 1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3" name="Line 1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Line 19"/>
          <p:cNvSpPr>
            <a:spLocks noChangeShapeType="1"/>
          </p:cNvSpPr>
          <p:nvPr/>
        </p:nvSpPr>
        <p:spPr bwMode="auto">
          <a:xfrm flipV="1">
            <a:off x="2235200" y="15240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20"/>
          <p:cNvSpPr>
            <a:spLocks noChangeShapeType="1"/>
          </p:cNvSpPr>
          <p:nvPr/>
        </p:nvSpPr>
        <p:spPr bwMode="auto">
          <a:xfrm flipV="1">
            <a:off x="3211513" y="151606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57" name="Group 21"/>
          <p:cNvGrpSpPr>
            <a:grpSpLocks/>
          </p:cNvGrpSpPr>
          <p:nvPr/>
        </p:nvGrpSpPr>
        <p:grpSpPr bwMode="auto">
          <a:xfrm>
            <a:off x="1979613" y="2413000"/>
            <a:ext cx="504825" cy="431800"/>
            <a:chOff x="657" y="1253"/>
            <a:chExt cx="318" cy="272"/>
          </a:xfrm>
        </p:grpSpPr>
        <p:sp>
          <p:nvSpPr>
            <p:cNvPr id="6238" name="Rectangle 2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39" name="Rectangle 2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0" name="Group 24"/>
          <p:cNvGrpSpPr>
            <a:grpSpLocks/>
          </p:cNvGrpSpPr>
          <p:nvPr/>
        </p:nvGrpSpPr>
        <p:grpSpPr bwMode="auto">
          <a:xfrm>
            <a:off x="2951163" y="2413000"/>
            <a:ext cx="504825" cy="431800"/>
            <a:chOff x="657" y="1253"/>
            <a:chExt cx="318" cy="272"/>
          </a:xfrm>
        </p:grpSpPr>
        <p:sp>
          <p:nvSpPr>
            <p:cNvPr id="6236" name="Rectangle 2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37" name="Rectangle 2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3" name="Group 27"/>
          <p:cNvGrpSpPr>
            <a:grpSpLocks/>
          </p:cNvGrpSpPr>
          <p:nvPr/>
        </p:nvGrpSpPr>
        <p:grpSpPr bwMode="auto">
          <a:xfrm>
            <a:off x="3924300" y="2413000"/>
            <a:ext cx="504825" cy="431800"/>
            <a:chOff x="657" y="1253"/>
            <a:chExt cx="318" cy="272"/>
          </a:xfrm>
        </p:grpSpPr>
        <p:sp>
          <p:nvSpPr>
            <p:cNvPr id="6234" name="Rectangle 2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35" name="Rectangle 2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71" name="Line 35"/>
          <p:cNvSpPr>
            <a:spLocks noChangeShapeType="1"/>
          </p:cNvSpPr>
          <p:nvPr/>
        </p:nvSpPr>
        <p:spPr bwMode="auto">
          <a:xfrm flipV="1">
            <a:off x="2236788" y="25161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/>
          <p:cNvSpPr>
            <a:spLocks noChangeShapeType="1"/>
          </p:cNvSpPr>
          <p:nvPr/>
        </p:nvSpPr>
        <p:spPr bwMode="auto">
          <a:xfrm flipV="1">
            <a:off x="3213100" y="250825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73" name="Group 37"/>
          <p:cNvGrpSpPr>
            <a:grpSpLocks/>
          </p:cNvGrpSpPr>
          <p:nvPr/>
        </p:nvGrpSpPr>
        <p:grpSpPr bwMode="auto">
          <a:xfrm>
            <a:off x="4900613" y="2413000"/>
            <a:ext cx="504825" cy="431800"/>
            <a:chOff x="657" y="1253"/>
            <a:chExt cx="318" cy="272"/>
          </a:xfrm>
        </p:grpSpPr>
        <p:sp>
          <p:nvSpPr>
            <p:cNvPr id="6232" name="Rectangle 3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33" name="Rectangle 3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76" name="Group 40"/>
          <p:cNvGrpSpPr>
            <a:grpSpLocks/>
          </p:cNvGrpSpPr>
          <p:nvPr/>
        </p:nvGrpSpPr>
        <p:grpSpPr bwMode="auto">
          <a:xfrm>
            <a:off x="5013325" y="2732088"/>
            <a:ext cx="288925" cy="304800"/>
            <a:chOff x="2043" y="1454"/>
            <a:chExt cx="182" cy="192"/>
          </a:xfrm>
        </p:grpSpPr>
        <p:sp>
          <p:nvSpPr>
            <p:cNvPr id="6228" name="Line 4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9" name="Line 4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0" name="Line 4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1" name="Line 4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81" name="Line 45"/>
          <p:cNvSpPr>
            <a:spLocks noChangeShapeType="1"/>
          </p:cNvSpPr>
          <p:nvPr/>
        </p:nvSpPr>
        <p:spPr bwMode="auto">
          <a:xfrm flipV="1">
            <a:off x="4189413" y="25082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2" name="Text Box 46"/>
          <p:cNvSpPr txBox="1">
            <a:spLocks noChangeArrowheads="1"/>
          </p:cNvSpPr>
          <p:nvPr/>
        </p:nvSpPr>
        <p:spPr bwMode="auto">
          <a:xfrm>
            <a:off x="376238" y="1916113"/>
            <a:ext cx="1327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append 81:</a:t>
            </a:r>
          </a:p>
        </p:txBody>
      </p:sp>
      <p:sp>
        <p:nvSpPr>
          <p:cNvPr id="14392" name="Text Box 56"/>
          <p:cNvSpPr txBox="1">
            <a:spLocks noChangeArrowheads="1"/>
          </p:cNvSpPr>
          <p:nvPr/>
        </p:nvSpPr>
        <p:spPr bwMode="auto">
          <a:xfrm>
            <a:off x="365125" y="3114675"/>
            <a:ext cx="2381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remove first element::</a:t>
            </a:r>
          </a:p>
        </p:txBody>
      </p:sp>
      <p:grpSp>
        <p:nvGrpSpPr>
          <p:cNvPr id="6163" name="Group 64"/>
          <p:cNvGrpSpPr>
            <a:grpSpLocks/>
          </p:cNvGrpSpPr>
          <p:nvPr/>
        </p:nvGrpSpPr>
        <p:grpSpPr bwMode="auto">
          <a:xfrm>
            <a:off x="611188" y="1341438"/>
            <a:ext cx="742950" cy="366712"/>
            <a:chOff x="371" y="1203"/>
            <a:chExt cx="468" cy="231"/>
          </a:xfrm>
        </p:grpSpPr>
        <p:sp>
          <p:nvSpPr>
            <p:cNvPr id="6226" name="Rectangle 6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7" name="Text Box 6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6164" name="Line 65"/>
          <p:cNvSpPr>
            <a:spLocks noChangeShapeType="1"/>
          </p:cNvSpPr>
          <p:nvPr/>
        </p:nvSpPr>
        <p:spPr bwMode="auto">
          <a:xfrm>
            <a:off x="1108075" y="15240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2" name="Group 66"/>
          <p:cNvGrpSpPr>
            <a:grpSpLocks/>
          </p:cNvGrpSpPr>
          <p:nvPr/>
        </p:nvGrpSpPr>
        <p:grpSpPr bwMode="auto">
          <a:xfrm>
            <a:off x="611188" y="2349500"/>
            <a:ext cx="742950" cy="366713"/>
            <a:chOff x="371" y="1203"/>
            <a:chExt cx="468" cy="231"/>
          </a:xfrm>
        </p:grpSpPr>
        <p:sp>
          <p:nvSpPr>
            <p:cNvPr id="6224" name="Rectangle 6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5" name="Text Box 6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05" name="Line 69"/>
          <p:cNvSpPr>
            <a:spLocks noChangeShapeType="1"/>
          </p:cNvSpPr>
          <p:nvPr/>
        </p:nvSpPr>
        <p:spPr bwMode="auto">
          <a:xfrm>
            <a:off x="1108075" y="253206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9" name="Group 73"/>
          <p:cNvGrpSpPr>
            <a:grpSpLocks/>
          </p:cNvGrpSpPr>
          <p:nvPr/>
        </p:nvGrpSpPr>
        <p:grpSpPr bwMode="auto">
          <a:xfrm>
            <a:off x="1971675" y="3636963"/>
            <a:ext cx="504825" cy="431800"/>
            <a:chOff x="657" y="1253"/>
            <a:chExt cx="318" cy="272"/>
          </a:xfrm>
        </p:grpSpPr>
        <p:sp>
          <p:nvSpPr>
            <p:cNvPr id="6222" name="Rectangle 7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23" name="Rectangle 7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12" name="Group 76"/>
          <p:cNvGrpSpPr>
            <a:grpSpLocks/>
          </p:cNvGrpSpPr>
          <p:nvPr/>
        </p:nvGrpSpPr>
        <p:grpSpPr bwMode="auto">
          <a:xfrm>
            <a:off x="2944813" y="3636963"/>
            <a:ext cx="504825" cy="431800"/>
            <a:chOff x="657" y="1253"/>
            <a:chExt cx="318" cy="272"/>
          </a:xfrm>
        </p:grpSpPr>
        <p:sp>
          <p:nvSpPr>
            <p:cNvPr id="6220" name="Rectangle 7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21" name="Rectangle 7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16" name="Line 80"/>
          <p:cNvSpPr>
            <a:spLocks noChangeShapeType="1"/>
          </p:cNvSpPr>
          <p:nvPr/>
        </p:nvSpPr>
        <p:spPr bwMode="auto">
          <a:xfrm flipV="1">
            <a:off x="2233613" y="37322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17" name="Group 81"/>
          <p:cNvGrpSpPr>
            <a:grpSpLocks/>
          </p:cNvGrpSpPr>
          <p:nvPr/>
        </p:nvGrpSpPr>
        <p:grpSpPr bwMode="auto">
          <a:xfrm>
            <a:off x="3921125" y="3636963"/>
            <a:ext cx="504825" cy="431800"/>
            <a:chOff x="657" y="1253"/>
            <a:chExt cx="318" cy="272"/>
          </a:xfrm>
        </p:grpSpPr>
        <p:sp>
          <p:nvSpPr>
            <p:cNvPr id="6218" name="Rectangle 8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19" name="Rectangle 8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20" name="Group 84"/>
          <p:cNvGrpSpPr>
            <a:grpSpLocks/>
          </p:cNvGrpSpPr>
          <p:nvPr/>
        </p:nvGrpSpPr>
        <p:grpSpPr bwMode="auto">
          <a:xfrm>
            <a:off x="4033838" y="3956050"/>
            <a:ext cx="288925" cy="304800"/>
            <a:chOff x="2043" y="1454"/>
            <a:chExt cx="182" cy="192"/>
          </a:xfrm>
        </p:grpSpPr>
        <p:sp>
          <p:nvSpPr>
            <p:cNvPr id="6214" name="Line 8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8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8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8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25" name="Line 89"/>
          <p:cNvSpPr>
            <a:spLocks noChangeShapeType="1"/>
          </p:cNvSpPr>
          <p:nvPr/>
        </p:nvSpPr>
        <p:spPr bwMode="auto">
          <a:xfrm flipV="1">
            <a:off x="3209925" y="37322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26" name="Text Box 90"/>
          <p:cNvSpPr txBox="1">
            <a:spLocks noChangeArrowheads="1"/>
          </p:cNvSpPr>
          <p:nvPr/>
        </p:nvSpPr>
        <p:spPr bwMode="auto">
          <a:xfrm>
            <a:off x="363538" y="4181475"/>
            <a:ext cx="1403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prepend 11:</a:t>
            </a:r>
          </a:p>
        </p:txBody>
      </p:sp>
      <p:grpSp>
        <p:nvGrpSpPr>
          <p:cNvPr id="14427" name="Group 91"/>
          <p:cNvGrpSpPr>
            <a:grpSpLocks/>
          </p:cNvGrpSpPr>
          <p:nvPr/>
        </p:nvGrpSpPr>
        <p:grpSpPr bwMode="auto">
          <a:xfrm>
            <a:off x="609600" y="3573463"/>
            <a:ext cx="742950" cy="366712"/>
            <a:chOff x="371" y="1203"/>
            <a:chExt cx="468" cy="231"/>
          </a:xfrm>
        </p:grpSpPr>
        <p:sp>
          <p:nvSpPr>
            <p:cNvPr id="6212" name="Rectangle 9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13" name="Text Box 9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30" name="Line 94"/>
          <p:cNvSpPr>
            <a:spLocks noChangeShapeType="1"/>
          </p:cNvSpPr>
          <p:nvPr/>
        </p:nvSpPr>
        <p:spPr bwMode="auto">
          <a:xfrm>
            <a:off x="1106488" y="37560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31" name="Group 95"/>
          <p:cNvGrpSpPr>
            <a:grpSpLocks/>
          </p:cNvGrpSpPr>
          <p:nvPr/>
        </p:nvGrpSpPr>
        <p:grpSpPr bwMode="auto">
          <a:xfrm>
            <a:off x="1979613" y="4716463"/>
            <a:ext cx="504825" cy="431800"/>
            <a:chOff x="657" y="1253"/>
            <a:chExt cx="318" cy="272"/>
          </a:xfrm>
        </p:grpSpPr>
        <p:sp>
          <p:nvSpPr>
            <p:cNvPr id="6210" name="Rectangle 9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11</a:t>
              </a:r>
            </a:p>
          </p:txBody>
        </p:sp>
        <p:sp>
          <p:nvSpPr>
            <p:cNvPr id="6211" name="Rectangle 9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4" name="Group 98"/>
          <p:cNvGrpSpPr>
            <a:grpSpLocks/>
          </p:cNvGrpSpPr>
          <p:nvPr/>
        </p:nvGrpSpPr>
        <p:grpSpPr bwMode="auto">
          <a:xfrm>
            <a:off x="2951163" y="4716463"/>
            <a:ext cx="504825" cy="431800"/>
            <a:chOff x="657" y="1253"/>
            <a:chExt cx="318" cy="272"/>
          </a:xfrm>
        </p:grpSpPr>
        <p:sp>
          <p:nvSpPr>
            <p:cNvPr id="6208" name="Rectangle 9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09" name="Rectangle 10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7" name="Group 101"/>
          <p:cNvGrpSpPr>
            <a:grpSpLocks/>
          </p:cNvGrpSpPr>
          <p:nvPr/>
        </p:nvGrpSpPr>
        <p:grpSpPr bwMode="auto">
          <a:xfrm>
            <a:off x="3924300" y="4716463"/>
            <a:ext cx="504825" cy="431800"/>
            <a:chOff x="657" y="1253"/>
            <a:chExt cx="318" cy="272"/>
          </a:xfrm>
        </p:grpSpPr>
        <p:sp>
          <p:nvSpPr>
            <p:cNvPr id="6206" name="Rectangle 10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07" name="Rectangle 10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40" name="Line 104"/>
          <p:cNvSpPr>
            <a:spLocks noChangeShapeType="1"/>
          </p:cNvSpPr>
          <p:nvPr/>
        </p:nvSpPr>
        <p:spPr bwMode="auto">
          <a:xfrm flipV="1">
            <a:off x="2236788" y="48196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41" name="Line 105"/>
          <p:cNvSpPr>
            <a:spLocks noChangeShapeType="1"/>
          </p:cNvSpPr>
          <p:nvPr/>
        </p:nvSpPr>
        <p:spPr bwMode="auto">
          <a:xfrm flipV="1">
            <a:off x="3213100" y="48117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42" name="Group 106"/>
          <p:cNvGrpSpPr>
            <a:grpSpLocks/>
          </p:cNvGrpSpPr>
          <p:nvPr/>
        </p:nvGrpSpPr>
        <p:grpSpPr bwMode="auto">
          <a:xfrm>
            <a:off x="4900613" y="4716463"/>
            <a:ext cx="504825" cy="431800"/>
            <a:chOff x="657" y="1253"/>
            <a:chExt cx="318" cy="272"/>
          </a:xfrm>
        </p:grpSpPr>
        <p:sp>
          <p:nvSpPr>
            <p:cNvPr id="6204" name="Rectangle 10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05" name="Rectangle 10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45" name="Group 109"/>
          <p:cNvGrpSpPr>
            <a:grpSpLocks/>
          </p:cNvGrpSpPr>
          <p:nvPr/>
        </p:nvGrpSpPr>
        <p:grpSpPr bwMode="auto">
          <a:xfrm>
            <a:off x="5013325" y="5035550"/>
            <a:ext cx="288925" cy="304800"/>
            <a:chOff x="2043" y="1454"/>
            <a:chExt cx="182" cy="192"/>
          </a:xfrm>
        </p:grpSpPr>
        <p:sp>
          <p:nvSpPr>
            <p:cNvPr id="6200" name="Line 110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111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112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113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50" name="Line 114"/>
          <p:cNvSpPr>
            <a:spLocks noChangeShapeType="1"/>
          </p:cNvSpPr>
          <p:nvPr/>
        </p:nvSpPr>
        <p:spPr bwMode="auto">
          <a:xfrm flipV="1">
            <a:off x="4189413" y="48117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51" name="Group 115"/>
          <p:cNvGrpSpPr>
            <a:grpSpLocks/>
          </p:cNvGrpSpPr>
          <p:nvPr/>
        </p:nvGrpSpPr>
        <p:grpSpPr bwMode="auto">
          <a:xfrm>
            <a:off x="611188" y="4652963"/>
            <a:ext cx="742950" cy="366712"/>
            <a:chOff x="371" y="1203"/>
            <a:chExt cx="468" cy="231"/>
          </a:xfrm>
        </p:grpSpPr>
        <p:sp>
          <p:nvSpPr>
            <p:cNvPr id="6198" name="Rectangle 116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9" name="Text Box 117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54" name="Line 118"/>
          <p:cNvSpPr>
            <a:spLocks noChangeShapeType="1"/>
          </p:cNvSpPr>
          <p:nvPr/>
        </p:nvSpPr>
        <p:spPr bwMode="auto">
          <a:xfrm>
            <a:off x="1108075" y="48355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55" name="Text Box 119"/>
          <p:cNvSpPr txBox="1">
            <a:spLocks noChangeArrowheads="1"/>
          </p:cNvSpPr>
          <p:nvPr/>
        </p:nvSpPr>
        <p:spPr bwMode="auto">
          <a:xfrm>
            <a:off x="363538" y="5367338"/>
            <a:ext cx="1085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clear list:</a:t>
            </a:r>
          </a:p>
        </p:txBody>
      </p:sp>
      <p:grpSp>
        <p:nvGrpSpPr>
          <p:cNvPr id="14476" name="Group 140"/>
          <p:cNvGrpSpPr>
            <a:grpSpLocks/>
          </p:cNvGrpSpPr>
          <p:nvPr/>
        </p:nvGrpSpPr>
        <p:grpSpPr bwMode="auto">
          <a:xfrm>
            <a:off x="611188" y="5830888"/>
            <a:ext cx="742950" cy="366712"/>
            <a:chOff x="371" y="1203"/>
            <a:chExt cx="468" cy="231"/>
          </a:xfrm>
        </p:grpSpPr>
        <p:sp>
          <p:nvSpPr>
            <p:cNvPr id="6196" name="Rectangle 141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7" name="Text Box 142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4470" name="Group 134"/>
          <p:cNvGrpSpPr>
            <a:grpSpLocks/>
          </p:cNvGrpSpPr>
          <p:nvPr/>
        </p:nvGrpSpPr>
        <p:grpSpPr bwMode="auto">
          <a:xfrm>
            <a:off x="947738" y="6011863"/>
            <a:ext cx="288925" cy="304800"/>
            <a:chOff x="2043" y="1454"/>
            <a:chExt cx="182" cy="192"/>
          </a:xfrm>
        </p:grpSpPr>
        <p:sp>
          <p:nvSpPr>
            <p:cNvPr id="6192" name="Line 13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13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13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13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80" name="Text Box 144"/>
          <p:cNvSpPr txBox="1">
            <a:spLocks noChangeArrowheads="1"/>
          </p:cNvSpPr>
          <p:nvPr/>
        </p:nvSpPr>
        <p:spPr bwMode="auto">
          <a:xfrm>
            <a:off x="6227763" y="2925763"/>
            <a:ext cx="20351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</p:txBody>
      </p:sp>
      <p:sp>
        <p:nvSpPr>
          <p:cNvPr id="14481" name="Text Box 145"/>
          <p:cNvSpPr txBox="1">
            <a:spLocks noChangeArrowheads="1"/>
          </p:cNvSpPr>
          <p:nvPr/>
        </p:nvSpPr>
        <p:spPr bwMode="auto">
          <a:xfrm>
            <a:off x="2484438" y="5895975"/>
            <a:ext cx="27384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single-linked list</a:t>
            </a:r>
          </a:p>
        </p:txBody>
      </p:sp>
      <p:sp>
        <p:nvSpPr>
          <p:cNvPr id="14482" name="Text Box 146"/>
          <p:cNvSpPr txBox="1">
            <a:spLocks noChangeArrowheads="1"/>
          </p:cNvSpPr>
          <p:nvPr/>
        </p:nvSpPr>
        <p:spPr bwMode="auto">
          <a:xfrm>
            <a:off x="6251575" y="4508500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05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71" grpId="0" animBg="1"/>
      <p:bldP spid="14372" grpId="0" animBg="1"/>
      <p:bldP spid="14381" grpId="0" animBg="1"/>
      <p:bldP spid="14382" grpId="0"/>
      <p:bldP spid="14392" grpId="0"/>
      <p:bldP spid="14405" grpId="0" animBg="1"/>
      <p:bldP spid="14416" grpId="0" animBg="1"/>
      <p:bldP spid="14425" grpId="0" animBg="1"/>
      <p:bldP spid="14426" grpId="0"/>
      <p:bldP spid="14430" grpId="0" animBg="1"/>
      <p:bldP spid="14440" grpId="0" animBg="1"/>
      <p:bldP spid="14441" grpId="0" animBg="1"/>
      <p:bldP spid="14450" grpId="0" animBg="1"/>
      <p:bldP spid="14454" grpId="0" animBg="1"/>
      <p:bldP spid="14455" grpId="0"/>
      <p:bldP spid="14480" grpId="0" animBg="1"/>
      <p:bldP spid="14481" grpId="0" animBg="1"/>
      <p:bldP spid="1448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create list &amp; item</a:t>
            </a:r>
          </a:p>
        </p:txBody>
      </p:sp>
      <p:sp>
        <p:nvSpPr>
          <p:cNvPr id="7171" name="Text Box 5"/>
          <p:cNvSpPr txBox="1">
            <a:spLocks noChangeArrowheads="1"/>
          </p:cNvSpPr>
          <p:nvPr/>
        </p:nvSpPr>
        <p:spPr bwMode="auto">
          <a:xfrm>
            <a:off x="592138" y="1290638"/>
            <a:ext cx="5283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value); /* wrong!!! */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3;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3851275" y="5084763"/>
            <a:ext cx="2570163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7427" name="Group 19"/>
          <p:cNvGrpSpPr>
            <a:grpSpLocks/>
          </p:cNvGrpSpPr>
          <p:nvPr/>
        </p:nvGrpSpPr>
        <p:grpSpPr bwMode="auto">
          <a:xfrm>
            <a:off x="5340350" y="4011613"/>
            <a:ext cx="768350" cy="366712"/>
            <a:chOff x="3364" y="2527"/>
            <a:chExt cx="484" cy="231"/>
          </a:xfrm>
        </p:grpSpPr>
        <p:sp>
          <p:nvSpPr>
            <p:cNvPr id="7180" name="Rectangle 10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7181" name="Text Box 11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7420" name="Group 12"/>
          <p:cNvGrpSpPr>
            <a:grpSpLocks/>
          </p:cNvGrpSpPr>
          <p:nvPr/>
        </p:nvGrpSpPr>
        <p:grpSpPr bwMode="auto">
          <a:xfrm>
            <a:off x="5708650" y="4203700"/>
            <a:ext cx="288925" cy="304800"/>
            <a:chOff x="2043" y="1454"/>
            <a:chExt cx="182" cy="192"/>
          </a:xfrm>
        </p:grpSpPr>
        <p:sp>
          <p:nvSpPr>
            <p:cNvPr id="7176" name="Line 1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1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Line 18"/>
          <p:cNvSpPr>
            <a:spLocks noChangeShapeType="1"/>
          </p:cNvSpPr>
          <p:nvPr/>
        </p:nvSpPr>
        <p:spPr bwMode="auto">
          <a:xfrm>
            <a:off x="179388" y="42687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558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2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(incorrect)</a:t>
            </a:r>
          </a:p>
        </p:txBody>
      </p:sp>
      <p:sp>
        <p:nvSpPr>
          <p:cNvPr id="8195" name="Text Box 3"/>
          <p:cNvSpPr txBox="1">
            <a:spLocks noChangeArrowheads="1"/>
          </p:cNvSpPr>
          <p:nvPr/>
        </p:nvSpPr>
        <p:spPr bwMode="auto">
          <a:xfrm>
            <a:off x="466725" y="3286125"/>
            <a:ext cx="40465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28" name="Group 4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8242" name="Rectangle 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8243" name="Rectangle 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7" name="Group 7"/>
          <p:cNvGrpSpPr>
            <a:grpSpLocks/>
          </p:cNvGrpSpPr>
          <p:nvPr/>
        </p:nvGrpSpPr>
        <p:grpSpPr bwMode="auto">
          <a:xfrm>
            <a:off x="5451475" y="1836738"/>
            <a:ext cx="504825" cy="431800"/>
            <a:chOff x="657" y="1253"/>
            <a:chExt cx="318" cy="272"/>
          </a:xfrm>
        </p:grpSpPr>
        <p:sp>
          <p:nvSpPr>
            <p:cNvPr id="8240" name="Rectangle 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8241" name="Rectangle 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8" name="Group 10"/>
          <p:cNvGrpSpPr>
            <a:grpSpLocks/>
          </p:cNvGrpSpPr>
          <p:nvPr/>
        </p:nvGrpSpPr>
        <p:grpSpPr bwMode="auto">
          <a:xfrm>
            <a:off x="6424613" y="1836738"/>
            <a:ext cx="504825" cy="431800"/>
            <a:chOff x="657" y="1253"/>
            <a:chExt cx="318" cy="272"/>
          </a:xfrm>
        </p:grpSpPr>
        <p:sp>
          <p:nvSpPr>
            <p:cNvPr id="8238" name="Rectangle 1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8239" name="Rectangle 1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8199" name="Line 13"/>
          <p:cNvSpPr>
            <a:spLocks noChangeShapeType="1"/>
          </p:cNvSpPr>
          <p:nvPr/>
        </p:nvSpPr>
        <p:spPr bwMode="auto">
          <a:xfrm flipV="1">
            <a:off x="57134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0" name="Group 14"/>
          <p:cNvGrpSpPr>
            <a:grpSpLocks/>
          </p:cNvGrpSpPr>
          <p:nvPr/>
        </p:nvGrpSpPr>
        <p:grpSpPr bwMode="auto">
          <a:xfrm>
            <a:off x="7400925" y="1836738"/>
            <a:ext cx="504825" cy="431800"/>
            <a:chOff x="657" y="1253"/>
            <a:chExt cx="318" cy="272"/>
          </a:xfrm>
        </p:grpSpPr>
        <p:sp>
          <p:nvSpPr>
            <p:cNvPr id="8236" name="Rectangle 1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8237" name="Rectangle 1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201" name="Group 17"/>
          <p:cNvGrpSpPr>
            <a:grpSpLocks/>
          </p:cNvGrpSpPr>
          <p:nvPr/>
        </p:nvGrpSpPr>
        <p:grpSpPr bwMode="auto">
          <a:xfrm>
            <a:off x="7513638" y="2155825"/>
            <a:ext cx="288925" cy="304800"/>
            <a:chOff x="2043" y="1454"/>
            <a:chExt cx="182" cy="192"/>
          </a:xfrm>
        </p:grpSpPr>
        <p:sp>
          <p:nvSpPr>
            <p:cNvPr id="8232" name="Line 1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1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2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2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2" name="Line 22"/>
          <p:cNvSpPr>
            <a:spLocks noChangeShapeType="1"/>
          </p:cNvSpPr>
          <p:nvPr/>
        </p:nvSpPr>
        <p:spPr bwMode="auto">
          <a:xfrm flipV="1">
            <a:off x="66897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3" name="Group 23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8230" name="Rectangle 24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31" name="Text Box 25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8204" name="Line 26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Text Box 27"/>
          <p:cNvSpPr txBox="1">
            <a:spLocks noChangeArrowheads="1"/>
          </p:cNvSpPr>
          <p:nvPr/>
        </p:nvSpPr>
        <p:spPr bwMode="auto">
          <a:xfrm>
            <a:off x="508000" y="1774825"/>
            <a:ext cx="15430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prepend(l, 23);</a:t>
            </a:r>
          </a:p>
        </p:txBody>
      </p:sp>
      <p:grpSp>
        <p:nvGrpSpPr>
          <p:cNvPr id="26652" name="Group 28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8228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9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5" name="Line 31"/>
          <p:cNvSpPr>
            <a:spLocks noChangeShapeType="1"/>
          </p:cNvSpPr>
          <p:nvPr/>
        </p:nvSpPr>
        <p:spPr bwMode="auto">
          <a:xfrm flipV="1">
            <a:off x="5692775" y="2236788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56" name="Group 32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8226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7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9" name="Line 35"/>
          <p:cNvSpPr>
            <a:spLocks noChangeShapeType="1"/>
          </p:cNvSpPr>
          <p:nvPr/>
        </p:nvSpPr>
        <p:spPr bwMode="auto">
          <a:xfrm flipH="1" flipV="1">
            <a:off x="5867400" y="2276475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0" name="Line 36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37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62" name="Group 38"/>
          <p:cNvGrpSpPr>
            <a:grpSpLocks/>
          </p:cNvGrpSpPr>
          <p:nvPr/>
        </p:nvGrpSpPr>
        <p:grpSpPr bwMode="auto">
          <a:xfrm>
            <a:off x="5700713" y="2276475"/>
            <a:ext cx="815975" cy="2089150"/>
            <a:chOff x="3591" y="1434"/>
            <a:chExt cx="514" cy="1316"/>
          </a:xfrm>
        </p:grpSpPr>
        <p:sp>
          <p:nvSpPr>
            <p:cNvPr id="8224" name="Line 39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40"/>
            <p:cNvSpPr>
              <a:spLocks noChangeShapeType="1"/>
            </p:cNvSpPr>
            <p:nvPr/>
          </p:nvSpPr>
          <p:spPr bwMode="auto">
            <a:xfrm flipH="1" flipV="1">
              <a:off x="3606" y="1434"/>
              <a:ext cx="499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65" name="Line 41"/>
          <p:cNvSpPr>
            <a:spLocks noChangeShapeType="1"/>
          </p:cNvSpPr>
          <p:nvPr/>
        </p:nvSpPr>
        <p:spPr bwMode="auto">
          <a:xfrm>
            <a:off x="5692775" y="3559175"/>
            <a:ext cx="0" cy="503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6" name="Line 42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7" name="Line 43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8" name="Line 44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9" name="Line 45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Text Box 46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71" name="Group 47"/>
          <p:cNvGrpSpPr>
            <a:grpSpLocks/>
          </p:cNvGrpSpPr>
          <p:nvPr/>
        </p:nvGrpSpPr>
        <p:grpSpPr bwMode="auto">
          <a:xfrm>
            <a:off x="5556250" y="4364038"/>
            <a:ext cx="288925" cy="304800"/>
            <a:chOff x="2043" y="1454"/>
            <a:chExt cx="182" cy="192"/>
          </a:xfrm>
        </p:grpSpPr>
        <p:sp>
          <p:nvSpPr>
            <p:cNvPr id="8220" name="Line 4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4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5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5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027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55" grpId="0" animBg="1"/>
      <p:bldP spid="26655" grpId="1" animBg="1"/>
      <p:bldP spid="26659" grpId="0" animBg="1"/>
      <p:bldP spid="26659" grpId="1" animBg="1"/>
      <p:bldP spid="26660" grpId="0" animBg="1"/>
      <p:bldP spid="26660" grpId="1" animBg="1"/>
      <p:bldP spid="26665" grpId="0" animBg="1"/>
      <p:bldP spid="26665" grpId="1" animBg="1"/>
      <p:bldP spid="26666" grpId="0" animBg="1"/>
      <p:bldP spid="26666" grpId="1" animBg="1"/>
      <p:bldP spid="26667" grpId="0" animBg="1"/>
      <p:bldP spid="26667" grpId="1" animBg="1"/>
      <p:bldP spid="26668" grpId="0" animBg="1"/>
      <p:bldP spid="26669" grpId="0" animBg="1"/>
      <p:bldP spid="26669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(correct)</a:t>
            </a:r>
          </a:p>
        </p:txBody>
      </p:sp>
      <p:sp>
        <p:nvSpPr>
          <p:cNvPr id="9219" name="Text Box 5"/>
          <p:cNvSpPr txBox="1">
            <a:spLocks noChangeArrowheads="1"/>
          </p:cNvSpPr>
          <p:nvPr/>
        </p:nvSpPr>
        <p:spPr bwMode="auto">
          <a:xfrm>
            <a:off x="466725" y="3286125"/>
            <a:ext cx="41608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558" name="Group 6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927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7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1" name="Group 9"/>
          <p:cNvGrpSpPr>
            <a:grpSpLocks/>
          </p:cNvGrpSpPr>
          <p:nvPr/>
        </p:nvGrpSpPr>
        <p:grpSpPr bwMode="auto">
          <a:xfrm>
            <a:off x="6429375" y="1836738"/>
            <a:ext cx="504825" cy="431800"/>
            <a:chOff x="657" y="1253"/>
            <a:chExt cx="318" cy="272"/>
          </a:xfrm>
        </p:grpSpPr>
        <p:sp>
          <p:nvSpPr>
            <p:cNvPr id="927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927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2" name="Group 12"/>
          <p:cNvGrpSpPr>
            <a:grpSpLocks/>
          </p:cNvGrpSpPr>
          <p:nvPr/>
        </p:nvGrpSpPr>
        <p:grpSpPr bwMode="auto">
          <a:xfrm>
            <a:off x="7402513" y="1836738"/>
            <a:ext cx="504825" cy="431800"/>
            <a:chOff x="657" y="1253"/>
            <a:chExt cx="318" cy="272"/>
          </a:xfrm>
        </p:grpSpPr>
        <p:sp>
          <p:nvSpPr>
            <p:cNvPr id="9269" name="Rectangle 1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9270" name="Rectangle 1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9223" name="Line 16"/>
          <p:cNvSpPr>
            <a:spLocks noChangeShapeType="1"/>
          </p:cNvSpPr>
          <p:nvPr/>
        </p:nvSpPr>
        <p:spPr bwMode="auto">
          <a:xfrm flipV="1">
            <a:off x="66913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4" name="Group 17"/>
          <p:cNvGrpSpPr>
            <a:grpSpLocks/>
          </p:cNvGrpSpPr>
          <p:nvPr/>
        </p:nvGrpSpPr>
        <p:grpSpPr bwMode="auto">
          <a:xfrm>
            <a:off x="8378825" y="1836738"/>
            <a:ext cx="504825" cy="431800"/>
            <a:chOff x="657" y="1253"/>
            <a:chExt cx="318" cy="272"/>
          </a:xfrm>
        </p:grpSpPr>
        <p:sp>
          <p:nvSpPr>
            <p:cNvPr id="9267" name="Rectangle 1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9268" name="Rectangle 1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5" name="Group 20"/>
          <p:cNvGrpSpPr>
            <a:grpSpLocks/>
          </p:cNvGrpSpPr>
          <p:nvPr/>
        </p:nvGrpSpPr>
        <p:grpSpPr bwMode="auto">
          <a:xfrm>
            <a:off x="8491538" y="2155825"/>
            <a:ext cx="288925" cy="304800"/>
            <a:chOff x="2043" y="1454"/>
            <a:chExt cx="182" cy="192"/>
          </a:xfrm>
        </p:grpSpPr>
        <p:sp>
          <p:nvSpPr>
            <p:cNvPr id="9263" name="Line 2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2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2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2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6" name="Line 25"/>
          <p:cNvSpPr>
            <a:spLocks noChangeShapeType="1"/>
          </p:cNvSpPr>
          <p:nvPr/>
        </p:nvSpPr>
        <p:spPr bwMode="auto">
          <a:xfrm flipV="1">
            <a:off x="76676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7" name="Group 26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9261" name="Rectangle 2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2" name="Text Box 2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1" name="Line 29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Text Box 30"/>
          <p:cNvSpPr txBox="1">
            <a:spLocks noChangeArrowheads="1"/>
          </p:cNvSpPr>
          <p:nvPr/>
        </p:nvSpPr>
        <p:spPr bwMode="auto">
          <a:xfrm>
            <a:off x="508000" y="1774825"/>
            <a:ext cx="17208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>
                <a:latin typeface="Times New Roman" panose="02020603050405020304" pitchFamily="18" charset="0"/>
              </a:rPr>
              <a:t>l, 23);</a:t>
            </a:r>
          </a:p>
        </p:txBody>
      </p:sp>
      <p:grpSp>
        <p:nvGrpSpPr>
          <p:cNvPr id="23583" name="Group 31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9259" name="Rectangle 32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0" name="Text Box 33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6" name="Line 34"/>
          <p:cNvSpPr>
            <a:spLocks noChangeShapeType="1"/>
          </p:cNvSpPr>
          <p:nvPr/>
        </p:nvSpPr>
        <p:spPr bwMode="auto">
          <a:xfrm flipH="1" flipV="1">
            <a:off x="4572000" y="2060575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90" name="Group 38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9257" name="Rectangle 36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58" name="Text Box 37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91" name="Line 39"/>
          <p:cNvSpPr>
            <a:spLocks noChangeShapeType="1"/>
          </p:cNvSpPr>
          <p:nvPr/>
        </p:nvSpPr>
        <p:spPr bwMode="auto">
          <a:xfrm flipH="1" flipV="1">
            <a:off x="6732588" y="2276475"/>
            <a:ext cx="695325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2" name="Line 40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Line 41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16" name="Group 64"/>
          <p:cNvGrpSpPr>
            <a:grpSpLocks/>
          </p:cNvGrpSpPr>
          <p:nvPr/>
        </p:nvGrpSpPr>
        <p:grpSpPr bwMode="auto">
          <a:xfrm>
            <a:off x="5700713" y="2276475"/>
            <a:ext cx="958850" cy="2089150"/>
            <a:chOff x="3591" y="1434"/>
            <a:chExt cx="604" cy="1316"/>
          </a:xfrm>
        </p:grpSpPr>
        <p:sp>
          <p:nvSpPr>
            <p:cNvPr id="9255" name="Line 42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43"/>
            <p:cNvSpPr>
              <a:spLocks noChangeShapeType="1"/>
            </p:cNvSpPr>
            <p:nvPr/>
          </p:nvSpPr>
          <p:spPr bwMode="auto">
            <a:xfrm flipV="1">
              <a:off x="4105" y="1434"/>
              <a:ext cx="90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98" name="Line 46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9" name="Line 47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05" name="Group 53"/>
          <p:cNvGrpSpPr>
            <a:grpSpLocks/>
          </p:cNvGrpSpPr>
          <p:nvPr/>
        </p:nvGrpSpPr>
        <p:grpSpPr bwMode="auto">
          <a:xfrm>
            <a:off x="4579938" y="1965325"/>
            <a:ext cx="863600" cy="2176463"/>
            <a:chOff x="2880" y="1258"/>
            <a:chExt cx="544" cy="1371"/>
          </a:xfrm>
        </p:grpSpPr>
        <p:sp>
          <p:nvSpPr>
            <p:cNvPr id="9253" name="Line 44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52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2" name="Text Box 54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607" name="Group 55"/>
          <p:cNvGrpSpPr>
            <a:grpSpLocks/>
          </p:cNvGrpSpPr>
          <p:nvPr/>
        </p:nvGrpSpPr>
        <p:grpSpPr bwMode="auto">
          <a:xfrm>
            <a:off x="5554663" y="4365625"/>
            <a:ext cx="288925" cy="304800"/>
            <a:chOff x="2043" y="1454"/>
            <a:chExt cx="182" cy="192"/>
          </a:xfrm>
        </p:grpSpPr>
        <p:sp>
          <p:nvSpPr>
            <p:cNvPr id="9249" name="Line 56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57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58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59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612" name="Group 60"/>
          <p:cNvGrpSpPr>
            <a:grpSpLocks/>
          </p:cNvGrpSpPr>
          <p:nvPr/>
        </p:nvGrpSpPr>
        <p:grpSpPr bwMode="auto">
          <a:xfrm>
            <a:off x="5435600" y="1844675"/>
            <a:ext cx="504825" cy="431800"/>
            <a:chOff x="657" y="1253"/>
            <a:chExt cx="318" cy="272"/>
          </a:xfrm>
        </p:grpSpPr>
        <p:sp>
          <p:nvSpPr>
            <p:cNvPr id="9247" name="Rectangle 6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48" name="Rectangle 6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3615" name="Line 63"/>
          <p:cNvSpPr>
            <a:spLocks noChangeShapeType="1"/>
          </p:cNvSpPr>
          <p:nvPr/>
        </p:nvSpPr>
        <p:spPr bwMode="auto">
          <a:xfrm flipV="1">
            <a:off x="5708650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17" name="Line 65"/>
          <p:cNvSpPr>
            <a:spLocks noChangeShapeType="1"/>
          </p:cNvSpPr>
          <p:nvPr/>
        </p:nvSpPr>
        <p:spPr bwMode="auto">
          <a:xfrm>
            <a:off x="4619625" y="1955800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543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81" grpId="0" animBg="1"/>
      <p:bldP spid="23586" grpId="0" animBg="1"/>
      <p:bldP spid="23586" grpId="1" animBg="1"/>
      <p:bldP spid="23591" grpId="0" animBg="1"/>
      <p:bldP spid="23591" grpId="1" animBg="1"/>
      <p:bldP spid="23592" grpId="0" animBg="1"/>
      <p:bldP spid="23592" grpId="1" animBg="1"/>
      <p:bldP spid="23598" grpId="0" animBg="1"/>
      <p:bldP spid="23598" grpId="1" animBg="1"/>
      <p:bldP spid="23599" grpId="0" animBg="1"/>
      <p:bldP spid="23599" grpId="1" animBg="1"/>
      <p:bldP spid="23600" grpId="0" animBg="1"/>
      <p:bldP spid="23601" grpId="0" animBg="1"/>
      <p:bldP spid="23601" grpId="1" animBg="1"/>
      <p:bldP spid="23615" grpId="0" animBg="1"/>
      <p:bldP spid="2361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Interludium: </a:t>
            </a:r>
            <a:r>
              <a:rPr lang="en-US" altLang="nl-BE">
                <a:latin typeface="Times New Roman" panose="02020603050405020304" pitchFamily="18" charset="0"/>
              </a:rPr>
              <a:t>typedef</a:t>
            </a:r>
          </a:p>
        </p:txBody>
      </p:sp>
      <p:sp>
        <p:nvSpPr>
          <p:cNvPr id="10243" name="Rectangle 5"/>
          <p:cNvSpPr>
            <a:spLocks noChangeArrowheads="1"/>
          </p:cNvSpPr>
          <p:nvPr/>
        </p:nvSpPr>
        <p:spPr bwMode="auto">
          <a:xfrm>
            <a:off x="539750" y="1412875"/>
            <a:ext cx="4176713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**</a:t>
            </a:r>
            <a:r>
              <a:rPr lang="en-US" altLang="nl-BE">
                <a:latin typeface="Times New Roman" panose="02020603050405020304" pitchFamily="18" charset="0"/>
              </a:rPr>
              <a:t>list, int value);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851275" y="3814763"/>
            <a:ext cx="27876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rgbClr val="3366FF"/>
                </a:solidFill>
              </a:rPr>
              <a:t>Item</a:t>
            </a:r>
            <a:r>
              <a:rPr lang="en-US" altLang="nl-BE"/>
              <a:t>;</a:t>
            </a:r>
          </a:p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chemeClr val="folHlink"/>
                </a:solidFill>
              </a:rPr>
              <a:t>List</a:t>
            </a:r>
            <a:r>
              <a:rPr lang="en-US" altLang="nl-BE"/>
              <a:t>;</a:t>
            </a:r>
          </a:p>
        </p:txBody>
      </p:sp>
      <p:sp>
        <p:nvSpPr>
          <p:cNvPr id="20488" name="Rectangle 8"/>
          <p:cNvSpPr>
            <a:spLocks noChangeArrowheads="1"/>
          </p:cNvSpPr>
          <p:nvPr/>
        </p:nvSpPr>
        <p:spPr bwMode="auto">
          <a:xfrm>
            <a:off x="539750" y="4005263"/>
            <a:ext cx="4176713" cy="256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 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 *list, int value);</a:t>
            </a:r>
          </a:p>
        </p:txBody>
      </p:sp>
      <p:grpSp>
        <p:nvGrpSpPr>
          <p:cNvPr id="20501" name="Group 21"/>
          <p:cNvGrpSpPr>
            <a:grpSpLocks/>
          </p:cNvGrpSpPr>
          <p:nvPr/>
        </p:nvGrpSpPr>
        <p:grpSpPr bwMode="auto">
          <a:xfrm>
            <a:off x="4754563" y="3357563"/>
            <a:ext cx="1878012" cy="509587"/>
            <a:chOff x="3676" y="2016"/>
            <a:chExt cx="1183" cy="321"/>
          </a:xfrm>
        </p:grpSpPr>
        <p:sp>
          <p:nvSpPr>
            <p:cNvPr id="10261" name="AutoShape 9"/>
            <p:cNvSpPr>
              <a:spLocks/>
            </p:cNvSpPr>
            <p:nvPr/>
          </p:nvSpPr>
          <p:spPr bwMode="auto">
            <a:xfrm rot="5400000">
              <a:off x="4017" y="1906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2" name="AutoShape 12"/>
            <p:cNvSpPr>
              <a:spLocks/>
            </p:cNvSpPr>
            <p:nvPr/>
          </p:nvSpPr>
          <p:spPr bwMode="auto">
            <a:xfrm rot="5400000">
              <a:off x="4583" y="2161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3" name="Text Box 14"/>
            <p:cNvSpPr txBox="1">
              <a:spLocks noChangeArrowheads="1"/>
            </p:cNvSpPr>
            <p:nvPr/>
          </p:nvSpPr>
          <p:spPr bwMode="auto">
            <a:xfrm>
              <a:off x="3877" y="2016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4" name="Text Box 15"/>
            <p:cNvSpPr txBox="1">
              <a:spLocks noChangeArrowheads="1"/>
            </p:cNvSpPr>
            <p:nvPr/>
          </p:nvSpPr>
          <p:spPr bwMode="auto">
            <a:xfrm>
              <a:off x="4447" y="2016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grpSp>
        <p:nvGrpSpPr>
          <p:cNvPr id="20500" name="Group 20"/>
          <p:cNvGrpSpPr>
            <a:grpSpLocks/>
          </p:cNvGrpSpPr>
          <p:nvPr/>
        </p:nvGrpSpPr>
        <p:grpSpPr bwMode="auto">
          <a:xfrm>
            <a:off x="4754563" y="4445000"/>
            <a:ext cx="1800225" cy="436563"/>
            <a:chOff x="3676" y="2701"/>
            <a:chExt cx="1134" cy="275"/>
          </a:xfrm>
        </p:grpSpPr>
        <p:sp>
          <p:nvSpPr>
            <p:cNvPr id="10257" name="AutoShape 10"/>
            <p:cNvSpPr>
              <a:spLocks/>
            </p:cNvSpPr>
            <p:nvPr/>
          </p:nvSpPr>
          <p:spPr bwMode="auto">
            <a:xfrm rot="16200000" flipV="1">
              <a:off x="4017" y="2360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8" name="AutoShape 11"/>
            <p:cNvSpPr>
              <a:spLocks/>
            </p:cNvSpPr>
            <p:nvPr/>
          </p:nvSpPr>
          <p:spPr bwMode="auto">
            <a:xfrm rot="16200000" flipV="1">
              <a:off x="4543" y="2615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9" name="Text Box 13"/>
            <p:cNvSpPr txBox="1">
              <a:spLocks noChangeArrowheads="1"/>
            </p:cNvSpPr>
            <p:nvPr/>
          </p:nvSpPr>
          <p:spPr bwMode="auto">
            <a:xfrm>
              <a:off x="3877" y="2745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0" name="Text Box 16"/>
            <p:cNvSpPr txBox="1">
              <a:spLocks noChangeArrowheads="1"/>
            </p:cNvSpPr>
            <p:nvPr/>
          </p:nvSpPr>
          <p:spPr bwMode="auto">
            <a:xfrm>
              <a:off x="4398" y="2745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sp>
        <p:nvSpPr>
          <p:cNvPr id="20497" name="Text Box 17"/>
          <p:cNvSpPr txBox="1">
            <a:spLocks noChangeArrowheads="1"/>
          </p:cNvSpPr>
          <p:nvPr/>
        </p:nvSpPr>
        <p:spPr bwMode="auto">
          <a:xfrm>
            <a:off x="5665788" y="1628775"/>
            <a:ext cx="17859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verbose!!!</a:t>
            </a:r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>
            <a:off x="1187450" y="3500438"/>
            <a:ext cx="0" cy="433387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4498975" y="2439988"/>
            <a:ext cx="4321175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semantically ambiguous!!!</a:t>
            </a:r>
          </a:p>
        </p:txBody>
      </p:sp>
      <p:grpSp>
        <p:nvGrpSpPr>
          <p:cNvPr id="20525" name="Group 45"/>
          <p:cNvGrpSpPr>
            <a:grpSpLocks/>
          </p:cNvGrpSpPr>
          <p:nvPr/>
        </p:nvGrpSpPr>
        <p:grpSpPr bwMode="auto">
          <a:xfrm>
            <a:off x="6564313" y="4365625"/>
            <a:ext cx="1924050" cy="936625"/>
            <a:chOff x="4135" y="2750"/>
            <a:chExt cx="1212" cy="590"/>
          </a:xfrm>
        </p:grpSpPr>
        <p:sp>
          <p:nvSpPr>
            <p:cNvPr id="10255" name="Text Box 43"/>
            <p:cNvSpPr txBox="1">
              <a:spLocks noChangeArrowheads="1"/>
            </p:cNvSpPr>
            <p:nvPr/>
          </p:nvSpPr>
          <p:spPr bwMode="auto">
            <a:xfrm>
              <a:off x="4497" y="2930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list</a:t>
              </a:r>
            </a:p>
          </p:txBody>
        </p:sp>
        <p:sp>
          <p:nvSpPr>
            <p:cNvPr id="10256" name="Line 44"/>
            <p:cNvSpPr>
              <a:spLocks noChangeShapeType="1"/>
            </p:cNvSpPr>
            <p:nvPr/>
          </p:nvSpPr>
          <p:spPr bwMode="auto">
            <a:xfrm flipH="1" flipV="1">
              <a:off x="4135" y="2750"/>
              <a:ext cx="363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27" name="Group 47"/>
          <p:cNvGrpSpPr>
            <a:grpSpLocks/>
          </p:cNvGrpSpPr>
          <p:nvPr/>
        </p:nvGrpSpPr>
        <p:grpSpPr bwMode="auto">
          <a:xfrm>
            <a:off x="6564313" y="3305175"/>
            <a:ext cx="2068512" cy="700088"/>
            <a:chOff x="4135" y="2082"/>
            <a:chExt cx="1303" cy="441"/>
          </a:xfrm>
        </p:grpSpPr>
        <p:sp>
          <p:nvSpPr>
            <p:cNvPr id="10253" name="Text Box 22"/>
            <p:cNvSpPr txBox="1">
              <a:spLocks noChangeArrowheads="1"/>
            </p:cNvSpPr>
            <p:nvPr/>
          </p:nvSpPr>
          <p:spPr bwMode="auto">
            <a:xfrm>
              <a:off x="4500" y="2082"/>
              <a:ext cx="93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item</a:t>
              </a:r>
            </a:p>
          </p:txBody>
        </p:sp>
        <p:sp>
          <p:nvSpPr>
            <p:cNvPr id="10254" name="Line 46"/>
            <p:cNvSpPr>
              <a:spLocks noChangeShapeType="1"/>
            </p:cNvSpPr>
            <p:nvPr/>
          </p:nvSpPr>
          <p:spPr bwMode="auto">
            <a:xfrm flipH="1">
              <a:off x="4135" y="2251"/>
              <a:ext cx="363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964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0488" grpId="0"/>
      <p:bldP spid="20497" grpId="0" animBg="1"/>
      <p:bldP spid="20498" grpId="0" animBg="1"/>
      <p:bldP spid="2049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flow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468313" y="1290638"/>
            <a:ext cx="3314700" cy="2838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5;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prepend(&amp;l,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8677" name="Group 5"/>
          <p:cNvGrpSpPr>
            <a:grpSpLocks/>
          </p:cNvGrpSpPr>
          <p:nvPr/>
        </p:nvGrpSpPr>
        <p:grpSpPr bwMode="auto">
          <a:xfrm>
            <a:off x="4787900" y="2884488"/>
            <a:ext cx="768350" cy="366712"/>
            <a:chOff x="3364" y="2527"/>
            <a:chExt cx="484" cy="231"/>
          </a:xfrm>
        </p:grpSpPr>
        <p:sp>
          <p:nvSpPr>
            <p:cNvPr id="11325" name="Rectangle 6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26" name="Text Box 7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80" name="Group 8"/>
          <p:cNvGrpSpPr>
            <a:grpSpLocks/>
          </p:cNvGrpSpPr>
          <p:nvPr/>
        </p:nvGrpSpPr>
        <p:grpSpPr bwMode="auto">
          <a:xfrm>
            <a:off x="5156200" y="3076575"/>
            <a:ext cx="288925" cy="304800"/>
            <a:chOff x="2043" y="1454"/>
            <a:chExt cx="182" cy="192"/>
          </a:xfrm>
        </p:grpSpPr>
        <p:sp>
          <p:nvSpPr>
            <p:cNvPr id="11321" name="Line 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2" name="Line 1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3" name="Line 1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4" name="Line 1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85" name="Line 13"/>
          <p:cNvSpPr>
            <a:spLocks noChangeShapeType="1"/>
          </p:cNvSpPr>
          <p:nvPr/>
        </p:nvSpPr>
        <p:spPr bwMode="auto">
          <a:xfrm>
            <a:off x="211138" y="2884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Text Box 14"/>
          <p:cNvSpPr txBox="1">
            <a:spLocks noChangeArrowheads="1"/>
          </p:cNvSpPr>
          <p:nvPr/>
        </p:nvSpPr>
        <p:spPr bwMode="auto">
          <a:xfrm>
            <a:off x="487363" y="4365625"/>
            <a:ext cx="3417887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1272" name="Line 15"/>
          <p:cNvSpPr>
            <a:spLocks noChangeShapeType="1"/>
          </p:cNvSpPr>
          <p:nvPr/>
        </p:nvSpPr>
        <p:spPr bwMode="auto">
          <a:xfrm>
            <a:off x="250825" y="42926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88" name="Group 16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19" name="Rectangle 1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20" name="Rectangle 1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691" name="Group 19"/>
          <p:cNvGrpSpPr>
            <a:grpSpLocks/>
          </p:cNvGrpSpPr>
          <p:nvPr/>
        </p:nvGrpSpPr>
        <p:grpSpPr bwMode="auto">
          <a:xfrm>
            <a:off x="5683250" y="4460875"/>
            <a:ext cx="960438" cy="366713"/>
            <a:chOff x="4135" y="1718"/>
            <a:chExt cx="605" cy="231"/>
          </a:xfrm>
        </p:grpSpPr>
        <p:sp>
          <p:nvSpPr>
            <p:cNvPr id="11317" name="Rectangle 20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8" name="Text Box 21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8694" name="Line 22"/>
          <p:cNvSpPr>
            <a:spLocks noChangeShapeType="1"/>
          </p:cNvSpPr>
          <p:nvPr/>
        </p:nvSpPr>
        <p:spPr bwMode="auto">
          <a:xfrm flipH="1" flipV="1">
            <a:off x="5275263" y="3163888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95" name="Group 23"/>
          <p:cNvGrpSpPr>
            <a:grpSpLocks/>
          </p:cNvGrpSpPr>
          <p:nvPr/>
        </p:nvGrpSpPr>
        <p:grpSpPr bwMode="auto">
          <a:xfrm>
            <a:off x="7339013" y="4460875"/>
            <a:ext cx="1047750" cy="366713"/>
            <a:chOff x="4180" y="2432"/>
            <a:chExt cx="660" cy="231"/>
          </a:xfrm>
        </p:grpSpPr>
        <p:sp>
          <p:nvSpPr>
            <p:cNvPr id="11315" name="Rectangle 24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6" name="Text Box 25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98" name="Group 26"/>
          <p:cNvGrpSpPr>
            <a:grpSpLocks/>
          </p:cNvGrpSpPr>
          <p:nvPr/>
        </p:nvGrpSpPr>
        <p:grpSpPr bwMode="auto">
          <a:xfrm>
            <a:off x="5283200" y="3068638"/>
            <a:ext cx="863600" cy="2176462"/>
            <a:chOff x="2880" y="1258"/>
            <a:chExt cx="544" cy="1371"/>
          </a:xfrm>
        </p:grpSpPr>
        <p:sp>
          <p:nvSpPr>
            <p:cNvPr id="11313" name="Line 27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4" name="Line 28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04" name="Group 32"/>
          <p:cNvGrpSpPr>
            <a:grpSpLocks/>
          </p:cNvGrpSpPr>
          <p:nvPr/>
        </p:nvGrpSpPr>
        <p:grpSpPr bwMode="auto">
          <a:xfrm>
            <a:off x="7980363" y="4652963"/>
            <a:ext cx="288925" cy="304800"/>
            <a:chOff x="2043" y="1454"/>
            <a:chExt cx="182" cy="192"/>
          </a:xfrm>
        </p:grpSpPr>
        <p:sp>
          <p:nvSpPr>
            <p:cNvPr id="11309" name="Line 3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0" name="Line 3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1" name="Line 3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2" name="Line 3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09" name="Line 37"/>
          <p:cNvSpPr>
            <a:spLocks noChangeShapeType="1"/>
          </p:cNvSpPr>
          <p:nvPr/>
        </p:nvSpPr>
        <p:spPr bwMode="auto">
          <a:xfrm>
            <a:off x="211138" y="45815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0" name="Line 38"/>
          <p:cNvSpPr>
            <a:spLocks noChangeShapeType="1"/>
          </p:cNvSpPr>
          <p:nvPr/>
        </p:nvSpPr>
        <p:spPr bwMode="auto">
          <a:xfrm>
            <a:off x="211138" y="48688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1" name="Line 39"/>
          <p:cNvSpPr>
            <a:spLocks noChangeShapeType="1"/>
          </p:cNvSpPr>
          <p:nvPr/>
        </p:nvSpPr>
        <p:spPr bwMode="auto">
          <a:xfrm>
            <a:off x="211138" y="51260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2" name="Line 40"/>
          <p:cNvSpPr>
            <a:spLocks noChangeShapeType="1"/>
          </p:cNvSpPr>
          <p:nvPr/>
        </p:nvSpPr>
        <p:spPr bwMode="auto">
          <a:xfrm>
            <a:off x="211138" y="53736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3" name="Line 41"/>
          <p:cNvSpPr>
            <a:spLocks noChangeShapeType="1"/>
          </p:cNvSpPr>
          <p:nvPr/>
        </p:nvSpPr>
        <p:spPr bwMode="auto">
          <a:xfrm>
            <a:off x="211138" y="56610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4" name="Line 42"/>
          <p:cNvSpPr>
            <a:spLocks noChangeShapeType="1"/>
          </p:cNvSpPr>
          <p:nvPr/>
        </p:nvSpPr>
        <p:spPr bwMode="auto">
          <a:xfrm>
            <a:off x="211138" y="34290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20" name="Group 48"/>
          <p:cNvGrpSpPr>
            <a:grpSpLocks/>
          </p:cNvGrpSpPr>
          <p:nvPr/>
        </p:nvGrpSpPr>
        <p:grpSpPr bwMode="auto">
          <a:xfrm>
            <a:off x="8172450" y="2957513"/>
            <a:ext cx="504825" cy="431800"/>
            <a:chOff x="657" y="1253"/>
            <a:chExt cx="318" cy="272"/>
          </a:xfrm>
        </p:grpSpPr>
        <p:sp>
          <p:nvSpPr>
            <p:cNvPr id="11307" name="Rectangle 4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08" name="Rectangle 5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723" name="Group 51"/>
          <p:cNvGrpSpPr>
            <a:grpSpLocks/>
          </p:cNvGrpSpPr>
          <p:nvPr/>
        </p:nvGrpSpPr>
        <p:grpSpPr bwMode="auto">
          <a:xfrm>
            <a:off x="8277225" y="3284538"/>
            <a:ext cx="288925" cy="304800"/>
            <a:chOff x="2043" y="1454"/>
            <a:chExt cx="182" cy="192"/>
          </a:xfrm>
        </p:grpSpPr>
        <p:sp>
          <p:nvSpPr>
            <p:cNvPr id="11303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4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5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6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28" name="Line 56"/>
          <p:cNvSpPr>
            <a:spLocks noChangeShapeType="1"/>
          </p:cNvSpPr>
          <p:nvPr/>
        </p:nvSpPr>
        <p:spPr bwMode="auto">
          <a:xfrm>
            <a:off x="5292725" y="3068638"/>
            <a:ext cx="28797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29" name="Line 57"/>
          <p:cNvSpPr>
            <a:spLocks noChangeShapeType="1"/>
          </p:cNvSpPr>
          <p:nvPr/>
        </p:nvSpPr>
        <p:spPr bwMode="auto">
          <a:xfrm flipV="1">
            <a:off x="8116888" y="3429000"/>
            <a:ext cx="142875" cy="1223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0" name="Group 58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01" name="Rectangle 5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2" name="Rectangle 6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3" name="Line 61"/>
          <p:cNvSpPr>
            <a:spLocks noChangeShapeType="1"/>
          </p:cNvSpPr>
          <p:nvPr/>
        </p:nvSpPr>
        <p:spPr bwMode="auto">
          <a:xfrm flipV="1">
            <a:off x="6380163" y="3109913"/>
            <a:ext cx="1800225" cy="2374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4" name="Group 62"/>
          <p:cNvGrpSpPr>
            <a:grpSpLocks/>
          </p:cNvGrpSpPr>
          <p:nvPr/>
        </p:nvGrpSpPr>
        <p:grpSpPr bwMode="auto">
          <a:xfrm>
            <a:off x="7019925" y="2957513"/>
            <a:ext cx="504825" cy="431800"/>
            <a:chOff x="657" y="1253"/>
            <a:chExt cx="318" cy="272"/>
          </a:xfrm>
        </p:grpSpPr>
        <p:sp>
          <p:nvSpPr>
            <p:cNvPr id="11299" name="Rectangle 6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0" name="Rectangle 6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7" name="Line 65"/>
          <p:cNvSpPr>
            <a:spLocks noChangeShapeType="1"/>
          </p:cNvSpPr>
          <p:nvPr/>
        </p:nvSpPr>
        <p:spPr bwMode="auto">
          <a:xfrm flipV="1">
            <a:off x="7235825" y="3068638"/>
            <a:ext cx="936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38" name="Line 66"/>
          <p:cNvSpPr>
            <a:spLocks noChangeShapeType="1"/>
          </p:cNvSpPr>
          <p:nvPr/>
        </p:nvSpPr>
        <p:spPr bwMode="auto">
          <a:xfrm>
            <a:off x="5292725" y="3068638"/>
            <a:ext cx="172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15" name="Group 43"/>
          <p:cNvGrpSpPr>
            <a:grpSpLocks/>
          </p:cNvGrpSpPr>
          <p:nvPr/>
        </p:nvGrpSpPr>
        <p:grpSpPr bwMode="auto">
          <a:xfrm>
            <a:off x="6243638" y="5484813"/>
            <a:ext cx="288925" cy="304800"/>
            <a:chOff x="2043" y="1454"/>
            <a:chExt cx="182" cy="192"/>
          </a:xfrm>
        </p:grpSpPr>
        <p:sp>
          <p:nvSpPr>
            <p:cNvPr id="11295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6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7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8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43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clickPar">
                      <p:stCondLst>
                        <p:cond delay="indefinite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5" grpId="0" animBg="1"/>
      <p:bldP spid="28685" grpId="1" animBg="1"/>
      <p:bldP spid="28694" grpId="0" animBg="1"/>
      <p:bldP spid="28694" grpId="1" animBg="1"/>
      <p:bldP spid="28694" grpId="2" animBg="1"/>
      <p:bldP spid="28694" grpId="3" animBg="1"/>
      <p:bldP spid="28709" grpId="0" animBg="1"/>
      <p:bldP spid="28709" grpId="1" animBg="1"/>
      <p:bldP spid="28709" grpId="2" animBg="1"/>
      <p:bldP spid="28709" grpId="3" animBg="1"/>
      <p:bldP spid="28710" grpId="0" animBg="1"/>
      <p:bldP spid="28710" grpId="1" animBg="1"/>
      <p:bldP spid="28710" grpId="2" animBg="1"/>
      <p:bldP spid="28710" grpId="3" animBg="1"/>
      <p:bldP spid="28711" grpId="0" animBg="1"/>
      <p:bldP spid="28711" grpId="1" animBg="1"/>
      <p:bldP spid="28711" grpId="2" animBg="1"/>
      <p:bldP spid="28711" grpId="3" animBg="1"/>
      <p:bldP spid="28712" grpId="0" animBg="1"/>
      <p:bldP spid="28712" grpId="1" animBg="1"/>
      <p:bldP spid="28712" grpId="2" animBg="1"/>
      <p:bldP spid="28712" grpId="3" animBg="1"/>
      <p:bldP spid="28713" grpId="0" animBg="1"/>
      <p:bldP spid="28713" grpId="1" animBg="1"/>
      <p:bldP spid="28713" grpId="2" animBg="1"/>
      <p:bldP spid="28713" grpId="3" animBg="1"/>
      <p:bldP spid="28714" grpId="0" animBg="1"/>
      <p:bldP spid="28714" grpId="1" animBg="1"/>
      <p:bldP spid="28714" grpId="2" animBg="1"/>
      <p:bldP spid="28714" grpId="3" animBg="1"/>
      <p:bldP spid="28714" grpId="4" animBg="1"/>
      <p:bldP spid="28728" grpId="0" animBg="1"/>
      <p:bldP spid="28728" grpId="1" animBg="1"/>
      <p:bldP spid="28728" grpId="2" animBg="1"/>
      <p:bldP spid="28729" grpId="0" animBg="1"/>
      <p:bldP spid="28729" grpId="1" animBg="1"/>
      <p:bldP spid="28733" grpId="0" animBg="1"/>
      <p:bldP spid="28733" grpId="1" animBg="1"/>
      <p:bldP spid="28737" grpId="0" animBg="1"/>
      <p:bldP spid="2873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2292" name="Text Box 6"/>
          <p:cNvSpPr txBox="1">
            <a:spLocks noChangeArrowheads="1"/>
          </p:cNvSpPr>
          <p:nvPr/>
        </p:nvSpPr>
        <p:spPr bwMode="auto">
          <a:xfrm>
            <a:off x="508000" y="1341438"/>
            <a:ext cx="23018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7)) {….}</a:t>
            </a:r>
          </a:p>
        </p:txBody>
      </p:sp>
      <p:sp>
        <p:nvSpPr>
          <p:cNvPr id="12293" name="Line 7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4" name="Group 8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232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232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5" name="Group 11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232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232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2296" name="Line 14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7" name="Group 15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2322" name="Rectangle 1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2323" name="Rectangle 1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8" name="Group 18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2318" name="Line 1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2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2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1" name="Line 2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99" name="Line 23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300" name="Group 24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2316" name="Rectangle 25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7" name="Text Box 26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2301" name="Line 27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48" name="Group 28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2314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5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1" name="Line 31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52" name="Group 32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2312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3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5" name="Line 35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6" name="Line 36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8" name="Line 38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9" name="Line 39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0" name="Line 40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1" name="Line 41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009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5" grpId="0" animBg="1"/>
      <p:bldP spid="30755" grpId="1" animBg="1"/>
      <p:bldP spid="30756" grpId="0" animBg="1"/>
      <p:bldP spid="30756" grpId="1" animBg="1"/>
      <p:bldP spid="30757" grpId="0" animBg="1"/>
      <p:bldP spid="30757" grpId="1" animBg="1"/>
      <p:bldP spid="30758" grpId="0" animBg="1"/>
      <p:bldP spid="30759" grpId="0" animBg="1"/>
      <p:bldP spid="30759" grpId="1" animBg="1"/>
      <p:bldP spid="30759" grpId="2" animBg="1"/>
      <p:bldP spid="30759" grpId="3" animBg="1"/>
      <p:bldP spid="30760" grpId="0" animBg="1"/>
      <p:bldP spid="30760" grpId="1" animBg="1"/>
      <p:bldP spid="3076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 (cont.)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24161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12)) {….}</a:t>
            </a: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18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3357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3358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19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3355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3356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3320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1" name="Group 13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3353" name="Rectangle 1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3354" name="Rectangle 1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22" name="Group 16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3349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0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1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2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23" name="Line 21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4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3347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8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3325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8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3345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6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89" name="Line 29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9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3343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4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9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5" name="Line 35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7" name="Line 37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9" name="Line 39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1" name="Text Box 41"/>
          <p:cNvSpPr txBox="1">
            <a:spLocks noChangeArrowheads="1"/>
          </p:cNvSpPr>
          <p:nvPr/>
        </p:nvSpPr>
        <p:spPr bwMode="auto">
          <a:xfrm>
            <a:off x="4284663" y="5059363"/>
            <a:ext cx="4679950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Item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while (list != NULL &amp;&amp; list-&gt;value != value)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list = list-&gt;next;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1002" name="Line 42"/>
          <p:cNvSpPr>
            <a:spLocks noChangeShapeType="1"/>
          </p:cNvSpPr>
          <p:nvPr/>
        </p:nvSpPr>
        <p:spPr bwMode="auto">
          <a:xfrm flipV="1">
            <a:off x="7667625" y="2060575"/>
            <a:ext cx="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03" name="Group 43"/>
          <p:cNvGrpSpPr>
            <a:grpSpLocks/>
          </p:cNvGrpSpPr>
          <p:nvPr/>
        </p:nvGrpSpPr>
        <p:grpSpPr bwMode="auto">
          <a:xfrm>
            <a:off x="7508875" y="3355975"/>
            <a:ext cx="288925" cy="304800"/>
            <a:chOff x="2043" y="1454"/>
            <a:chExt cx="182" cy="192"/>
          </a:xfrm>
        </p:grpSpPr>
        <p:sp>
          <p:nvSpPr>
            <p:cNvPr id="13339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0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1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2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8" name="Line 48"/>
          <p:cNvSpPr>
            <a:spLocks noChangeShapeType="1"/>
          </p:cNvSpPr>
          <p:nvPr/>
        </p:nvSpPr>
        <p:spPr bwMode="auto">
          <a:xfrm>
            <a:off x="179388" y="584517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992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89" grpId="0" animBg="1"/>
      <p:bldP spid="40993" grpId="0" animBg="1"/>
      <p:bldP spid="40993" grpId="1" animBg="1"/>
      <p:bldP spid="40994" grpId="0" animBg="1"/>
      <p:bldP spid="40994" grpId="1" animBg="1"/>
      <p:bldP spid="40995" grpId="0" animBg="1"/>
      <p:bldP spid="40995" grpId="1" animBg="1"/>
      <p:bldP spid="40997" grpId="0" animBg="1"/>
      <p:bldP spid="40997" grpId="1" animBg="1"/>
      <p:bldP spid="40997" grpId="2" animBg="1"/>
      <p:bldP spid="40997" grpId="3" animBg="1"/>
      <p:bldP spid="40997" grpId="4" animBg="1"/>
      <p:bldP spid="40997" grpId="5" animBg="1"/>
      <p:bldP spid="40998" grpId="0" animBg="1"/>
      <p:bldP spid="40998" grpId="1" animBg="1"/>
      <p:bldP spid="40998" grpId="2" animBg="1"/>
      <p:bldP spid="40998" grpId="3" animBg="1"/>
      <p:bldP spid="40998" grpId="4" animBg="1"/>
      <p:bldP spid="40998" grpId="5" animBg="1"/>
      <p:bldP spid="40999" grpId="0" animBg="1"/>
      <p:bldP spid="40999" grpId="1" animBg="1"/>
      <p:bldP spid="41001" grpId="0" animBg="1"/>
      <p:bldP spid="41002" grpId="0" animBg="1"/>
      <p:bldP spid="41002" grpId="1" animBg="1"/>
      <p:bldP spid="4100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append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608388" cy="3113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append(List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newItem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(*list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*list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*list;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while (tmp-&gt;next)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tmp-&gt;next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15303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append(&amp;l, 3);</a:t>
            </a:r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42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439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439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43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439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439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44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56" name="Group 16"/>
          <p:cNvGrpSpPr>
            <a:grpSpLocks/>
          </p:cNvGrpSpPr>
          <p:nvPr/>
        </p:nvGrpSpPr>
        <p:grpSpPr bwMode="auto">
          <a:xfrm>
            <a:off x="6740525" y="1938338"/>
            <a:ext cx="288925" cy="304800"/>
            <a:chOff x="2043" y="1454"/>
            <a:chExt cx="182" cy="192"/>
          </a:xfrm>
        </p:grpSpPr>
        <p:sp>
          <p:nvSpPr>
            <p:cNvPr id="14387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8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9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90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46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4385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6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347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6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4383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4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H="1" flipV="1">
            <a:off x="4859338" y="1844675"/>
            <a:ext cx="1049337" cy="15208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7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4381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2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>
            <a:off x="179388" y="33242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7" name="Line 37"/>
          <p:cNvSpPr>
            <a:spLocks noChangeShapeType="1"/>
          </p:cNvSpPr>
          <p:nvPr/>
        </p:nvSpPr>
        <p:spPr bwMode="auto">
          <a:xfrm>
            <a:off x="179388" y="447675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9" name="Line 39"/>
          <p:cNvSpPr>
            <a:spLocks noChangeShapeType="1"/>
          </p:cNvSpPr>
          <p:nvPr/>
        </p:nvSpPr>
        <p:spPr bwMode="auto">
          <a:xfrm flipH="1" flipV="1">
            <a:off x="7019925" y="2060575"/>
            <a:ext cx="64770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7" name="Group 47"/>
          <p:cNvGrpSpPr>
            <a:grpSpLocks/>
          </p:cNvGrpSpPr>
          <p:nvPr/>
        </p:nvGrpSpPr>
        <p:grpSpPr bwMode="auto">
          <a:xfrm>
            <a:off x="6635750" y="4221163"/>
            <a:ext cx="504825" cy="431800"/>
            <a:chOff x="657" y="1253"/>
            <a:chExt cx="318" cy="272"/>
          </a:xfrm>
        </p:grpSpPr>
        <p:sp>
          <p:nvSpPr>
            <p:cNvPr id="14379" name="Rectangle 4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80" name="Rectangle 4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893" name="Group 53"/>
          <p:cNvGrpSpPr>
            <a:grpSpLocks/>
          </p:cNvGrpSpPr>
          <p:nvPr/>
        </p:nvGrpSpPr>
        <p:grpSpPr bwMode="auto">
          <a:xfrm>
            <a:off x="4643438" y="4141788"/>
            <a:ext cx="1512887" cy="366712"/>
            <a:chOff x="2925" y="2609"/>
            <a:chExt cx="953" cy="231"/>
          </a:xfrm>
        </p:grpSpPr>
        <p:sp>
          <p:nvSpPr>
            <p:cNvPr id="14377" name="Rectangle 51"/>
            <p:cNvSpPr>
              <a:spLocks noChangeArrowheads="1"/>
            </p:cNvSpPr>
            <p:nvPr/>
          </p:nvSpPr>
          <p:spPr bwMode="auto">
            <a:xfrm>
              <a:off x="3560" y="265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78" name="Text Box 52"/>
            <p:cNvSpPr txBox="1">
              <a:spLocks noChangeArrowheads="1"/>
            </p:cNvSpPr>
            <p:nvPr/>
          </p:nvSpPr>
          <p:spPr bwMode="auto">
            <a:xfrm>
              <a:off x="2925" y="2609"/>
              <a:ext cx="6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newItem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94" name="Line 54"/>
          <p:cNvSpPr>
            <a:spLocks noChangeShapeType="1"/>
          </p:cNvSpPr>
          <p:nvPr/>
        </p:nvSpPr>
        <p:spPr bwMode="auto">
          <a:xfrm>
            <a:off x="5915025" y="4333875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2" name="Group 42"/>
          <p:cNvGrpSpPr>
            <a:grpSpLocks/>
          </p:cNvGrpSpPr>
          <p:nvPr/>
        </p:nvGrpSpPr>
        <p:grpSpPr bwMode="auto">
          <a:xfrm>
            <a:off x="6740525" y="4548188"/>
            <a:ext cx="288925" cy="304800"/>
            <a:chOff x="2043" y="1454"/>
            <a:chExt cx="182" cy="192"/>
          </a:xfrm>
        </p:grpSpPr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895" name="Line 55"/>
          <p:cNvSpPr>
            <a:spLocks noChangeShapeType="1"/>
          </p:cNvSpPr>
          <p:nvPr/>
        </p:nvSpPr>
        <p:spPr bwMode="auto">
          <a:xfrm>
            <a:off x="179388" y="5805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96" name="Line 56"/>
          <p:cNvSpPr>
            <a:spLocks noChangeShapeType="1"/>
          </p:cNvSpPr>
          <p:nvPr/>
        </p:nvSpPr>
        <p:spPr bwMode="auto">
          <a:xfrm>
            <a:off x="6877050" y="1939925"/>
            <a:ext cx="0" cy="2232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97" name="Group 57"/>
          <p:cNvGrpSpPr>
            <a:grpSpLocks/>
          </p:cNvGrpSpPr>
          <p:nvPr/>
        </p:nvGrpSpPr>
        <p:grpSpPr bwMode="auto">
          <a:xfrm>
            <a:off x="7667625" y="1620838"/>
            <a:ext cx="504825" cy="431800"/>
            <a:chOff x="657" y="1253"/>
            <a:chExt cx="318" cy="272"/>
          </a:xfrm>
        </p:grpSpPr>
        <p:sp>
          <p:nvSpPr>
            <p:cNvPr id="14371" name="Rectangle 5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72" name="Rectangle 5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900" name="Group 60"/>
          <p:cNvGrpSpPr>
            <a:grpSpLocks/>
          </p:cNvGrpSpPr>
          <p:nvPr/>
        </p:nvGrpSpPr>
        <p:grpSpPr bwMode="auto">
          <a:xfrm>
            <a:off x="7772400" y="1947863"/>
            <a:ext cx="288925" cy="304800"/>
            <a:chOff x="2043" y="1454"/>
            <a:chExt cx="182" cy="192"/>
          </a:xfrm>
        </p:grpSpPr>
        <p:sp>
          <p:nvSpPr>
            <p:cNvPr id="14367" name="Line 6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8" name="Line 6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9" name="Line 6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0" name="Line 6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905" name="Line 65"/>
          <p:cNvSpPr>
            <a:spLocks noChangeShapeType="1"/>
          </p:cNvSpPr>
          <p:nvPr/>
        </p:nvSpPr>
        <p:spPr bwMode="auto">
          <a:xfrm flipV="1">
            <a:off x="6877050" y="1700213"/>
            <a:ext cx="79057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9" grpId="0" animBg="1"/>
      <p:bldP spid="35869" grpId="1" animBg="1"/>
      <p:bldP spid="35873" grpId="0" animBg="1"/>
      <p:bldP spid="35873" grpId="1" animBg="1"/>
      <p:bldP spid="35874" grpId="0" animBg="1"/>
      <p:bldP spid="35874" grpId="1" animBg="1"/>
      <p:bldP spid="35875" grpId="0" animBg="1"/>
      <p:bldP spid="35875" grpId="1" animBg="1"/>
      <p:bldP spid="35876" grpId="0" animBg="1"/>
      <p:bldP spid="35876" grpId="1" animBg="1"/>
      <p:bldP spid="35877" grpId="0" animBg="1"/>
      <p:bldP spid="35877" grpId="1" animBg="1"/>
      <p:bldP spid="35878" grpId="0" animBg="1"/>
      <p:bldP spid="35878" grpId="1" animBg="1"/>
      <p:bldP spid="35879" grpId="0" animBg="1"/>
      <p:bldP spid="35879" grpId="1" animBg="1"/>
      <p:bldP spid="35894" grpId="0" animBg="1"/>
      <p:bldP spid="35894" grpId="1" animBg="1"/>
      <p:bldP spid="35895" grpId="0" animBg="1"/>
      <p:bldP spid="35895" grpId="1" animBg="1"/>
      <p:bldP spid="35896" grpId="0" animBg="1"/>
      <p:bldP spid="35896" grpId="1" animBg="1"/>
      <p:bldP spid="3590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Binary trees</a:t>
            </a:r>
          </a:p>
        </p:txBody>
      </p:sp>
      <p:grpSp>
        <p:nvGrpSpPr>
          <p:cNvPr id="15363" name="Group 10"/>
          <p:cNvGrpSpPr>
            <a:grpSpLocks/>
          </p:cNvGrpSpPr>
          <p:nvPr/>
        </p:nvGrpSpPr>
        <p:grpSpPr bwMode="auto">
          <a:xfrm>
            <a:off x="2628900" y="1924050"/>
            <a:ext cx="863600" cy="425450"/>
            <a:chOff x="975" y="1212"/>
            <a:chExt cx="544" cy="268"/>
          </a:xfrm>
        </p:grpSpPr>
        <p:sp>
          <p:nvSpPr>
            <p:cNvPr id="15417" name="Rectangle 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8" name="Rectangle 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9" name="Rectangle 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"+"</a:t>
              </a:r>
            </a:p>
          </p:txBody>
        </p:sp>
      </p:grpSp>
      <p:grpSp>
        <p:nvGrpSpPr>
          <p:cNvPr id="15364" name="Group 11"/>
          <p:cNvGrpSpPr>
            <a:grpSpLocks/>
          </p:cNvGrpSpPr>
          <p:nvPr/>
        </p:nvGrpSpPr>
        <p:grpSpPr bwMode="auto">
          <a:xfrm>
            <a:off x="1692275" y="2755900"/>
            <a:ext cx="863600" cy="425450"/>
            <a:chOff x="975" y="1212"/>
            <a:chExt cx="544" cy="268"/>
          </a:xfrm>
        </p:grpSpPr>
        <p:sp>
          <p:nvSpPr>
            <p:cNvPr id="15414" name="Rectangle 12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5" name="Rectangle 13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6" name="Rectangle 14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"*"</a:t>
              </a:r>
            </a:p>
          </p:txBody>
        </p:sp>
      </p:grpSp>
      <p:grpSp>
        <p:nvGrpSpPr>
          <p:cNvPr id="15365" name="Group 15"/>
          <p:cNvGrpSpPr>
            <a:grpSpLocks/>
          </p:cNvGrpSpPr>
          <p:nvPr/>
        </p:nvGrpSpPr>
        <p:grpSpPr bwMode="auto">
          <a:xfrm>
            <a:off x="755650" y="3597275"/>
            <a:ext cx="863600" cy="425450"/>
            <a:chOff x="975" y="1212"/>
            <a:chExt cx="544" cy="268"/>
          </a:xfrm>
        </p:grpSpPr>
        <p:sp>
          <p:nvSpPr>
            <p:cNvPr id="15411" name="Rectangle 1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2" name="Rectangle 1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3" name="Rectangle 1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"3"</a:t>
              </a:r>
            </a:p>
          </p:txBody>
        </p:sp>
      </p:grpSp>
      <p:grpSp>
        <p:nvGrpSpPr>
          <p:cNvPr id="15366" name="Group 19"/>
          <p:cNvGrpSpPr>
            <a:grpSpLocks/>
          </p:cNvGrpSpPr>
          <p:nvPr/>
        </p:nvGrpSpPr>
        <p:grpSpPr bwMode="auto">
          <a:xfrm>
            <a:off x="2700338" y="3597275"/>
            <a:ext cx="863600" cy="425450"/>
            <a:chOff x="975" y="1212"/>
            <a:chExt cx="544" cy="268"/>
          </a:xfrm>
        </p:grpSpPr>
        <p:sp>
          <p:nvSpPr>
            <p:cNvPr id="15408" name="Rectangle 20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9" name="Rectangle 21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0" name="Rectangle 22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"5"</a:t>
              </a:r>
            </a:p>
          </p:txBody>
        </p:sp>
      </p:grpSp>
      <p:grpSp>
        <p:nvGrpSpPr>
          <p:cNvPr id="15367" name="Group 23"/>
          <p:cNvGrpSpPr>
            <a:grpSpLocks/>
          </p:cNvGrpSpPr>
          <p:nvPr/>
        </p:nvGrpSpPr>
        <p:grpSpPr bwMode="auto">
          <a:xfrm>
            <a:off x="3636963" y="2757488"/>
            <a:ext cx="863600" cy="425450"/>
            <a:chOff x="975" y="1212"/>
            <a:chExt cx="544" cy="268"/>
          </a:xfrm>
        </p:grpSpPr>
        <p:sp>
          <p:nvSpPr>
            <p:cNvPr id="15405" name="Rectangle 24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6" name="Rectangle 25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7" name="Rectangle 26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"7"</a:t>
              </a:r>
            </a:p>
          </p:txBody>
        </p:sp>
      </p:grpSp>
      <p:sp>
        <p:nvSpPr>
          <p:cNvPr id="15368" name="Line 27"/>
          <p:cNvSpPr>
            <a:spLocks noChangeShapeType="1"/>
          </p:cNvSpPr>
          <p:nvPr/>
        </p:nvSpPr>
        <p:spPr bwMode="auto">
          <a:xfrm>
            <a:off x="3276600" y="225266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9" name="Line 28"/>
          <p:cNvSpPr>
            <a:spLocks noChangeShapeType="1"/>
          </p:cNvSpPr>
          <p:nvPr/>
        </p:nvSpPr>
        <p:spPr bwMode="auto">
          <a:xfrm flipH="1">
            <a:off x="2139950" y="225266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0" name="Line 29"/>
          <p:cNvSpPr>
            <a:spLocks noChangeShapeType="1"/>
          </p:cNvSpPr>
          <p:nvPr/>
        </p:nvSpPr>
        <p:spPr bwMode="auto">
          <a:xfrm>
            <a:off x="2339975" y="308451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30"/>
          <p:cNvSpPr>
            <a:spLocks noChangeShapeType="1"/>
          </p:cNvSpPr>
          <p:nvPr/>
        </p:nvSpPr>
        <p:spPr bwMode="auto">
          <a:xfrm flipH="1">
            <a:off x="1203325" y="308451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72" name="Group 31"/>
          <p:cNvGrpSpPr>
            <a:grpSpLocks/>
          </p:cNvGrpSpPr>
          <p:nvPr/>
        </p:nvGrpSpPr>
        <p:grpSpPr bwMode="auto">
          <a:xfrm>
            <a:off x="4132263" y="3084513"/>
            <a:ext cx="288925" cy="304800"/>
            <a:chOff x="2043" y="1454"/>
            <a:chExt cx="182" cy="192"/>
          </a:xfrm>
        </p:grpSpPr>
        <p:sp>
          <p:nvSpPr>
            <p:cNvPr id="15401" name="Line 3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2" name="Line 3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3" name="Line 3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3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3" name="Group 36"/>
          <p:cNvGrpSpPr>
            <a:grpSpLocks/>
          </p:cNvGrpSpPr>
          <p:nvPr/>
        </p:nvGrpSpPr>
        <p:grpSpPr bwMode="auto">
          <a:xfrm>
            <a:off x="3698875" y="3084513"/>
            <a:ext cx="288925" cy="304800"/>
            <a:chOff x="2043" y="1454"/>
            <a:chExt cx="182" cy="192"/>
          </a:xfrm>
        </p:grpSpPr>
        <p:sp>
          <p:nvSpPr>
            <p:cNvPr id="15397" name="Line 3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8" name="Line 3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9" name="Line 3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0" name="Line 4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4" name="Group 41"/>
          <p:cNvGrpSpPr>
            <a:grpSpLocks/>
          </p:cNvGrpSpPr>
          <p:nvPr/>
        </p:nvGrpSpPr>
        <p:grpSpPr bwMode="auto">
          <a:xfrm>
            <a:off x="3197225" y="3916363"/>
            <a:ext cx="288925" cy="304800"/>
            <a:chOff x="2043" y="1454"/>
            <a:chExt cx="182" cy="192"/>
          </a:xfrm>
        </p:grpSpPr>
        <p:sp>
          <p:nvSpPr>
            <p:cNvPr id="15393" name="Line 4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4" name="Line 4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5" name="Line 4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6" name="Line 4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5" name="Group 46"/>
          <p:cNvGrpSpPr>
            <a:grpSpLocks/>
          </p:cNvGrpSpPr>
          <p:nvPr/>
        </p:nvGrpSpPr>
        <p:grpSpPr bwMode="auto">
          <a:xfrm>
            <a:off x="2763838" y="3916363"/>
            <a:ext cx="288925" cy="304800"/>
            <a:chOff x="2043" y="1454"/>
            <a:chExt cx="182" cy="192"/>
          </a:xfrm>
        </p:grpSpPr>
        <p:sp>
          <p:nvSpPr>
            <p:cNvPr id="15389" name="Line 4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0" name="Line 4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1" name="Line 4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2" name="Line 5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6" name="Group 51"/>
          <p:cNvGrpSpPr>
            <a:grpSpLocks/>
          </p:cNvGrpSpPr>
          <p:nvPr/>
        </p:nvGrpSpPr>
        <p:grpSpPr bwMode="auto">
          <a:xfrm>
            <a:off x="1260475" y="3917950"/>
            <a:ext cx="288925" cy="304800"/>
            <a:chOff x="2043" y="1454"/>
            <a:chExt cx="182" cy="192"/>
          </a:xfrm>
        </p:grpSpPr>
        <p:sp>
          <p:nvSpPr>
            <p:cNvPr id="15385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6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7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8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7" name="Group 56"/>
          <p:cNvGrpSpPr>
            <a:grpSpLocks/>
          </p:cNvGrpSpPr>
          <p:nvPr/>
        </p:nvGrpSpPr>
        <p:grpSpPr bwMode="auto">
          <a:xfrm>
            <a:off x="827088" y="3917950"/>
            <a:ext cx="288925" cy="304800"/>
            <a:chOff x="2043" y="1454"/>
            <a:chExt cx="182" cy="192"/>
          </a:xfrm>
        </p:grpSpPr>
        <p:sp>
          <p:nvSpPr>
            <p:cNvPr id="15381" name="Line 5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2" name="Line 5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3" name="Line 5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4" name="Line 6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949" name="Text Box 61"/>
          <p:cNvSpPr txBox="1">
            <a:spLocks noChangeArrowheads="1"/>
          </p:cNvSpPr>
          <p:nvPr/>
        </p:nvSpPr>
        <p:spPr bwMode="auto">
          <a:xfrm>
            <a:off x="5292725" y="1866900"/>
            <a:ext cx="2727325" cy="2573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Node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char *data;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struct Node *left, *right;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*Tree;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*Node;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Tree parseStr(char str[]);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evaluate(Tree tree);</a:t>
            </a:r>
          </a:p>
        </p:txBody>
      </p:sp>
      <p:sp>
        <p:nvSpPr>
          <p:cNvPr id="37951" name="Text Box 63"/>
          <p:cNvSpPr txBox="1">
            <a:spLocks noChangeArrowheads="1"/>
          </p:cNvSpPr>
          <p:nvPr/>
        </p:nvSpPr>
        <p:spPr bwMode="auto">
          <a:xfrm>
            <a:off x="8172450" y="3952875"/>
            <a:ext cx="565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???</a:t>
            </a:r>
          </a:p>
        </p:txBody>
      </p:sp>
      <p:sp>
        <p:nvSpPr>
          <p:cNvPr id="37952" name="Text Box 64"/>
          <p:cNvSpPr txBox="1">
            <a:spLocks noChangeArrowheads="1"/>
          </p:cNvSpPr>
          <p:nvPr/>
        </p:nvSpPr>
        <p:spPr bwMode="auto">
          <a:xfrm>
            <a:off x="3492500" y="5157788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25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49" grpId="0" animBg="1"/>
      <p:bldP spid="37951" grpId="0"/>
      <p:bldP spid="3795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Useful data structures</a:t>
            </a:r>
            <a:endParaRPr lang="nl-BE" altLang="en-US"/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/>
              <a:t>n-dimensional array</a:t>
            </a:r>
          </a:p>
          <a:p>
            <a:pPr lvl="1" eaLnBrk="1" hangingPunct="1"/>
            <a:r>
              <a:rPr lang="en-US" altLang="en-US" sz="1800" dirty="0"/>
              <a:t>represent domain of given size</a:t>
            </a:r>
          </a:p>
          <a:p>
            <a:pPr eaLnBrk="1" hangingPunct="1"/>
            <a:r>
              <a:rPr lang="en-US" altLang="en-US" sz="2000" dirty="0"/>
              <a:t>list (stack, queue)</a:t>
            </a:r>
          </a:p>
          <a:p>
            <a:pPr lvl="1" eaLnBrk="1" hangingPunct="1"/>
            <a:r>
              <a:rPr lang="en-US" altLang="en-US" sz="1800" dirty="0"/>
              <a:t>a-priori unknown length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set</a:t>
            </a:r>
          </a:p>
          <a:p>
            <a:pPr lvl="1" eaLnBrk="1" hangingPunct="1"/>
            <a:r>
              <a:rPr lang="en-US" altLang="en-US" sz="1800" dirty="0"/>
              <a:t>unique elements</a:t>
            </a:r>
          </a:p>
          <a:p>
            <a:pPr eaLnBrk="1" hangingPunct="1"/>
            <a:r>
              <a:rPr lang="en-US" altLang="en-US" sz="2000" dirty="0"/>
              <a:t>map (dictionary)</a:t>
            </a:r>
          </a:p>
          <a:p>
            <a:pPr lvl="1" eaLnBrk="1" hangingPunct="1"/>
            <a:r>
              <a:rPr lang="en-US" altLang="en-US" sz="1800" dirty="0"/>
              <a:t>encode associations</a:t>
            </a:r>
          </a:p>
          <a:p>
            <a:pPr eaLnBrk="1" hangingPunct="1"/>
            <a:r>
              <a:rPr lang="en-US" altLang="en-US" sz="2000" dirty="0"/>
              <a:t>tree</a:t>
            </a:r>
          </a:p>
          <a:p>
            <a:pPr lvl="1" eaLnBrk="1" hangingPunct="1"/>
            <a:r>
              <a:rPr lang="en-US" altLang="en-US" sz="1800" dirty="0"/>
              <a:t>hierarchical data</a:t>
            </a:r>
          </a:p>
          <a:p>
            <a:pPr eaLnBrk="1" hangingPunct="1"/>
            <a:r>
              <a:rPr lang="en-US" altLang="en-US" sz="2000" dirty="0"/>
              <a:t>graph</a:t>
            </a:r>
          </a:p>
          <a:p>
            <a:pPr lvl="1" eaLnBrk="1" hangingPunct="1"/>
            <a:r>
              <a:rPr lang="en-US" altLang="en-US" sz="1800" dirty="0"/>
              <a:t>a-priori unknown topology</a:t>
            </a:r>
            <a:endParaRPr lang="nl-BE" alt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489965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File I/O &amp; command line arguments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7 &amp; 5, File I/O &amp; command line arguments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39874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Input/output</a:t>
            </a: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468313" y="3006725"/>
            <a:ext cx="2943225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isQuit(char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 flipH="1">
            <a:off x="2555875" y="4452938"/>
            <a:ext cx="151130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/>
          <p:cNvSpPr>
            <a:spLocks noChangeShapeType="1"/>
          </p:cNvSpPr>
          <p:nvPr/>
        </p:nvSpPr>
        <p:spPr bwMode="auto">
          <a:xfrm flipH="1">
            <a:off x="2700338" y="4668838"/>
            <a:ext cx="1366837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/>
          <p:cNvSpPr>
            <a:spLocks noChangeShapeType="1"/>
          </p:cNvSpPr>
          <p:nvPr/>
        </p:nvSpPr>
        <p:spPr bwMode="auto">
          <a:xfrm flipH="1" flipV="1">
            <a:off x="2771775" y="4879975"/>
            <a:ext cx="1295400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/>
          <p:cNvSpPr>
            <a:spLocks noChangeShapeType="1"/>
          </p:cNvSpPr>
          <p:nvPr/>
        </p:nvSpPr>
        <p:spPr bwMode="auto">
          <a:xfrm flipV="1">
            <a:off x="3419475" y="4597400"/>
            <a:ext cx="647700" cy="1079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/>
          <p:cNvSpPr>
            <a:spLocks noChangeShapeType="1"/>
          </p:cNvSpPr>
          <p:nvPr/>
        </p:nvSpPr>
        <p:spPr bwMode="auto">
          <a:xfrm flipV="1">
            <a:off x="3419475" y="4813300"/>
            <a:ext cx="6477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/>
          <p:cNvSpPr>
            <a:spLocks noChangeShapeType="1"/>
          </p:cNvSpPr>
          <p:nvPr/>
        </p:nvSpPr>
        <p:spPr bwMode="auto">
          <a:xfrm flipV="1">
            <a:off x="3419475" y="5029200"/>
            <a:ext cx="64770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Text Box 16"/>
          <p:cNvSpPr txBox="1">
            <a:spLocks noChangeArrowheads="1"/>
          </p:cNvSpPr>
          <p:nvPr/>
        </p:nvSpPr>
        <p:spPr bwMode="auto">
          <a:xfrm>
            <a:off x="2895600" y="41862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9233" name="Text Box 17"/>
          <p:cNvSpPr txBox="1">
            <a:spLocks noChangeArrowheads="1"/>
          </p:cNvSpPr>
          <p:nvPr/>
        </p:nvSpPr>
        <p:spPr bwMode="auto">
          <a:xfrm>
            <a:off x="2771775" y="51752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pic>
        <p:nvPicPr>
          <p:cNvPr id="4108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59385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9" name="Picture 2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275" y="1809750"/>
            <a:ext cx="14287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10" name="Text Box 23"/>
          <p:cNvSpPr txBox="1">
            <a:spLocks noChangeArrowheads="1"/>
          </p:cNvSpPr>
          <p:nvPr/>
        </p:nvSpPr>
        <p:spPr bwMode="auto">
          <a:xfrm>
            <a:off x="4121150" y="183038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4111" name="Line 24"/>
          <p:cNvSpPr>
            <a:spLocks noChangeShapeType="1"/>
          </p:cNvSpPr>
          <p:nvPr/>
        </p:nvSpPr>
        <p:spPr bwMode="auto">
          <a:xfrm>
            <a:off x="3276600" y="202565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25"/>
          <p:cNvSpPr>
            <a:spLocks noChangeShapeType="1"/>
          </p:cNvSpPr>
          <p:nvPr/>
        </p:nvSpPr>
        <p:spPr bwMode="auto">
          <a:xfrm>
            <a:off x="5580063" y="19129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Text Box 26"/>
          <p:cNvSpPr txBox="1">
            <a:spLocks noChangeArrowheads="1"/>
          </p:cNvSpPr>
          <p:nvPr/>
        </p:nvSpPr>
        <p:spPr bwMode="auto">
          <a:xfrm>
            <a:off x="3276600" y="16589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4114" name="Text Box 27"/>
          <p:cNvSpPr txBox="1">
            <a:spLocks noChangeArrowheads="1"/>
          </p:cNvSpPr>
          <p:nvPr/>
        </p:nvSpPr>
        <p:spPr bwMode="auto">
          <a:xfrm>
            <a:off x="5557838" y="154622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4115" name="Line 28"/>
          <p:cNvSpPr>
            <a:spLocks noChangeShapeType="1"/>
          </p:cNvSpPr>
          <p:nvPr/>
        </p:nvSpPr>
        <p:spPr bwMode="auto">
          <a:xfrm>
            <a:off x="5580063" y="21542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Text Box 29"/>
          <p:cNvSpPr txBox="1">
            <a:spLocks noChangeArrowheads="1"/>
          </p:cNvSpPr>
          <p:nvPr/>
        </p:nvSpPr>
        <p:spPr bwMode="auto">
          <a:xfrm>
            <a:off x="5557838" y="210026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pic>
        <p:nvPicPr>
          <p:cNvPr id="9246" name="Picture 3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200" y="3727450"/>
            <a:ext cx="4391025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47" name="Line 31"/>
          <p:cNvSpPr>
            <a:spLocks noChangeShapeType="1"/>
          </p:cNvSpPr>
          <p:nvPr/>
        </p:nvSpPr>
        <p:spPr bwMode="auto">
          <a:xfrm flipH="1" flipV="1">
            <a:off x="2555875" y="4879975"/>
            <a:ext cx="15113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99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9224" grpId="0" animBg="1"/>
      <p:bldP spid="9227" grpId="0" animBg="1"/>
      <p:bldP spid="9228" grpId="0" animBg="1"/>
      <p:bldP spid="9229" grpId="0" animBg="1"/>
      <p:bldP spid="9230" grpId="0" animBg="1"/>
      <p:bldP spid="9231" grpId="0" animBg="1"/>
      <p:bldP spid="9232" grpId="0"/>
      <p:bldP spid="9233" grpId="0"/>
      <p:bldP spid="924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reading</a:t>
            </a:r>
          </a:p>
        </p:txBody>
      </p:sp>
      <p:pic>
        <p:nvPicPr>
          <p:cNvPr id="51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24460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7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5125" name="Line 8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9"/>
          <p:cNvSpPr>
            <a:spLocks noChangeShapeType="1"/>
          </p:cNvSpPr>
          <p:nvPr/>
        </p:nvSpPr>
        <p:spPr bwMode="auto">
          <a:xfrm>
            <a:off x="5580063" y="15636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Text Box 11"/>
          <p:cNvSpPr txBox="1">
            <a:spLocks noChangeArrowheads="1"/>
          </p:cNvSpPr>
          <p:nvPr/>
        </p:nvSpPr>
        <p:spPr bwMode="auto">
          <a:xfrm>
            <a:off x="5557838" y="119697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5128" name="Line 12"/>
          <p:cNvSpPr>
            <a:spLocks noChangeShapeType="1"/>
          </p:cNvSpPr>
          <p:nvPr/>
        </p:nvSpPr>
        <p:spPr bwMode="auto">
          <a:xfrm>
            <a:off x="5580063" y="18049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Text Box 13"/>
          <p:cNvSpPr txBox="1">
            <a:spLocks noChangeArrowheads="1"/>
          </p:cNvSpPr>
          <p:nvPr/>
        </p:nvSpPr>
        <p:spPr bwMode="auto">
          <a:xfrm>
            <a:off x="5557838" y="175101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grpSp>
        <p:nvGrpSpPr>
          <p:cNvPr id="5130" name="Group 19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5148" name="AutoShape 1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5149" name="Line 1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1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1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1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1" name="Text Box 42"/>
          <p:cNvSpPr txBox="1">
            <a:spLocks noChangeArrowheads="1"/>
          </p:cNvSpPr>
          <p:nvPr/>
        </p:nvSpPr>
        <p:spPr bwMode="auto">
          <a:xfrm>
            <a:off x="1403350" y="2276475"/>
            <a:ext cx="4078288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FILE *</a:t>
            </a:r>
            <a:r>
              <a:rPr lang="en-US" altLang="nl-BE" sz="1800">
                <a:latin typeface="Times New Roman" panose="02020603050405020304" pitchFamily="18" charset="0"/>
              </a:rPr>
              <a:t>names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= fopen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"names.txt"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"r"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while (!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feof</a:t>
            </a:r>
            <a:r>
              <a:rPr lang="en-US" altLang="nl-BE" sz="180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fscanf</a:t>
            </a:r>
            <a:r>
              <a:rPr lang="en-US" altLang="nl-BE" sz="1800">
                <a:latin typeface="Times New Roman" panose="02020603050405020304" pitchFamily="18" charset="0"/>
              </a:rPr>
              <a:t>(names, "%s", str)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5132" name="Group 46"/>
          <p:cNvGrpSpPr>
            <a:grpSpLocks/>
          </p:cNvGrpSpPr>
          <p:nvPr/>
        </p:nvGrpSpPr>
        <p:grpSpPr bwMode="auto">
          <a:xfrm>
            <a:off x="34925" y="3660775"/>
            <a:ext cx="1066800" cy="1281113"/>
            <a:chOff x="847" y="1748"/>
            <a:chExt cx="672" cy="807"/>
          </a:xfrm>
        </p:grpSpPr>
        <p:sp>
          <p:nvSpPr>
            <p:cNvPr id="5146" name="AutoShape 43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5147" name="Text Box 45"/>
            <p:cNvSpPr txBox="1">
              <a:spLocks noChangeArrowheads="1"/>
            </p:cNvSpPr>
            <p:nvPr/>
          </p:nvSpPr>
          <p:spPr bwMode="auto">
            <a:xfrm>
              <a:off x="847" y="1748"/>
              <a:ext cx="6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pic>
        <p:nvPicPr>
          <p:cNvPr id="12335" name="Picture 4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4941888"/>
            <a:ext cx="4391025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38" name="Line 50"/>
          <p:cNvSpPr>
            <a:spLocks noChangeShapeType="1"/>
          </p:cNvSpPr>
          <p:nvPr/>
        </p:nvSpPr>
        <p:spPr bwMode="auto">
          <a:xfrm>
            <a:off x="1260475" y="433387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0" name="Line 52"/>
          <p:cNvSpPr>
            <a:spLocks noChangeShapeType="1"/>
          </p:cNvSpPr>
          <p:nvPr/>
        </p:nvSpPr>
        <p:spPr bwMode="auto">
          <a:xfrm>
            <a:off x="3635375" y="4868863"/>
            <a:ext cx="1008063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1" name="Text Box 53"/>
          <p:cNvSpPr txBox="1">
            <a:spLocks noChangeArrowheads="1"/>
          </p:cNvSpPr>
          <p:nvPr/>
        </p:nvSpPr>
        <p:spPr bwMode="auto">
          <a:xfrm>
            <a:off x="3687763" y="2297113"/>
            <a:ext cx="1311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solidFill>
                  <a:srgbClr val="0000FF"/>
                </a:solidFill>
              </a:rPr>
              <a:t>name</a:t>
            </a:r>
            <a:r>
              <a:rPr lang="en-US" altLang="nl-BE" sz="1800"/>
              <a:t> of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file to open</a:t>
            </a:r>
          </a:p>
        </p:txBody>
      </p:sp>
      <p:sp>
        <p:nvSpPr>
          <p:cNvPr id="12342" name="Line 54"/>
          <p:cNvSpPr>
            <a:spLocks noChangeShapeType="1"/>
          </p:cNvSpPr>
          <p:nvPr/>
        </p:nvSpPr>
        <p:spPr bwMode="auto">
          <a:xfrm>
            <a:off x="4356100" y="2947988"/>
            <a:ext cx="0" cy="265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3" name="Text Box 55"/>
          <p:cNvSpPr txBox="1">
            <a:spLocks noChangeArrowheads="1"/>
          </p:cNvSpPr>
          <p:nvPr/>
        </p:nvSpPr>
        <p:spPr bwMode="auto">
          <a:xfrm>
            <a:off x="5672138" y="241617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for reading</a:t>
            </a:r>
          </a:p>
        </p:txBody>
      </p:sp>
      <p:sp>
        <p:nvSpPr>
          <p:cNvPr id="12344" name="Line 56"/>
          <p:cNvSpPr>
            <a:spLocks noChangeShapeType="1"/>
          </p:cNvSpPr>
          <p:nvPr/>
        </p:nvSpPr>
        <p:spPr bwMode="auto">
          <a:xfrm flipH="1">
            <a:off x="5164138" y="2757488"/>
            <a:ext cx="503237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5" name="Text Box 57"/>
          <p:cNvSpPr txBox="1">
            <a:spLocks noChangeArrowheads="1"/>
          </p:cNvSpPr>
          <p:nvPr/>
        </p:nvSpPr>
        <p:spPr bwMode="auto">
          <a:xfrm>
            <a:off x="87313" y="5157788"/>
            <a:ext cx="127952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be polite: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/>
              <a:t>what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you've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ed</a:t>
            </a:r>
          </a:p>
        </p:txBody>
      </p:sp>
      <p:sp>
        <p:nvSpPr>
          <p:cNvPr id="12346" name="Line 58"/>
          <p:cNvSpPr>
            <a:spLocks noChangeShapeType="1"/>
          </p:cNvSpPr>
          <p:nvPr/>
        </p:nvSpPr>
        <p:spPr bwMode="auto">
          <a:xfrm flipV="1">
            <a:off x="1363663" y="5300663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7" name="Text Box 5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2348" name="Line 60"/>
          <p:cNvSpPr>
            <a:spLocks noChangeShapeType="1"/>
          </p:cNvSpPr>
          <p:nvPr/>
        </p:nvSpPr>
        <p:spPr bwMode="auto">
          <a:xfrm>
            <a:off x="1066800" y="3429000"/>
            <a:ext cx="576263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9" name="Text Box 61"/>
          <p:cNvSpPr txBox="1">
            <a:spLocks noChangeArrowheads="1"/>
          </p:cNvSpPr>
          <p:nvPr/>
        </p:nvSpPr>
        <p:spPr bwMode="auto">
          <a:xfrm>
            <a:off x="6280150" y="3448050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reading</a:t>
            </a:r>
          </a:p>
        </p:txBody>
      </p:sp>
      <p:sp>
        <p:nvSpPr>
          <p:cNvPr id="12350" name="Line 62"/>
          <p:cNvSpPr>
            <a:spLocks noChangeShapeType="1"/>
          </p:cNvSpPr>
          <p:nvPr/>
        </p:nvSpPr>
        <p:spPr bwMode="auto">
          <a:xfrm flipH="1" flipV="1">
            <a:off x="5484813" y="3357563"/>
            <a:ext cx="792162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222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38" grpId="0" animBg="1"/>
      <p:bldP spid="12340" grpId="0" animBg="1"/>
      <p:bldP spid="12341" grpId="0" animBg="1"/>
      <p:bldP spid="12342" grpId="0" animBg="1"/>
      <p:bldP spid="12343" grpId="0" animBg="1"/>
      <p:bldP spid="12344" grpId="0" animBg="1"/>
      <p:bldP spid="12345" grpId="0" animBg="1"/>
      <p:bldP spid="12346" grpId="0" animBg="1"/>
      <p:bldP spid="12347" grpId="0" animBg="1"/>
      <p:bldP spid="12348" grpId="0" animBg="1"/>
      <p:bldP spid="12349" grpId="0" animBg="1"/>
      <p:bldP spid="1235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writing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6148" name="Line 5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8"/>
          <p:cNvSpPr>
            <a:spLocks noChangeShapeType="1"/>
          </p:cNvSpPr>
          <p:nvPr/>
        </p:nvSpPr>
        <p:spPr bwMode="auto">
          <a:xfrm>
            <a:off x="5580063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0" name="Group 10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6174" name="AutoShape 11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5" name="Line 12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13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14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15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Text Box 16"/>
          <p:cNvSpPr txBox="1">
            <a:spLocks noChangeArrowheads="1"/>
          </p:cNvSpPr>
          <p:nvPr/>
        </p:nvSpPr>
        <p:spPr bwMode="auto">
          <a:xfrm>
            <a:off x="1403350" y="2276475"/>
            <a:ext cx="4675188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stdio.h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stdlib.h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anose="02020603050405020304" pitchFamily="18" charset="0"/>
              </a:rPr>
              <a:t>int</a:t>
            </a:r>
            <a:r>
              <a:rPr lang="en-US" altLang="nl-BE" sz="1800" dirty="0">
                <a:latin typeface="Times New Roman" panose="02020603050405020304" pitchFamily="18" charset="0"/>
              </a:rPr>
              <a:t>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*names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(“names.txt", "r");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*greetings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</a:t>
            </a:r>
            <a:r>
              <a:rPr lang="en-US" altLang="nl-BE" sz="1800" dirty="0">
                <a:solidFill>
                  <a:srgbClr val="0000FF"/>
                </a:solidFill>
                <a:latin typeface="Times New Roman" panose="02020603050405020304" pitchFamily="18" charset="0"/>
              </a:rPr>
              <a:t>"greetings.txt"</a:t>
            </a:r>
            <a:r>
              <a:rPr lang="en-US" altLang="nl-BE" sz="1800" dirty="0">
                <a:latin typeface="Times New Roman" panose="02020603050405020304" pitchFamily="18" charset="0"/>
              </a:rPr>
              <a:t>, </a:t>
            </a:r>
            <a:r>
              <a:rPr lang="en-US" altLang="nl-BE" sz="1800" dirty="0">
                <a:solidFill>
                  <a:schemeClr val="folHlink"/>
                </a:solidFill>
                <a:latin typeface="Times New Roman" panose="02020603050405020304" pitchFamily="18" charset="0"/>
              </a:rPr>
              <a:t>"w"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(greetings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while (!</a:t>
            </a:r>
            <a:r>
              <a:rPr lang="en-US" altLang="nl-BE" sz="1800" dirty="0" err="1">
                <a:latin typeface="Times New Roman" panose="02020603050405020304" pitchFamily="18" charset="0"/>
              </a:rPr>
              <a:t>feof</a:t>
            </a:r>
            <a:r>
              <a:rPr lang="en-US" altLang="nl-BE" sz="1800" dirty="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char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if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fscanf</a:t>
            </a:r>
            <a:r>
              <a:rPr lang="en-US" altLang="nl-BE" sz="1800" dirty="0">
                <a:latin typeface="Times New Roman" panose="02020603050405020304" pitchFamily="18" charset="0"/>
              </a:rPr>
              <a:t>(names, "%s",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fprintf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(greetings, "hello %s!\n",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6152" name="Group 17"/>
          <p:cNvGrpSpPr>
            <a:grpSpLocks/>
          </p:cNvGrpSpPr>
          <p:nvPr/>
        </p:nvGrpSpPr>
        <p:grpSpPr bwMode="auto">
          <a:xfrm>
            <a:off x="34927" y="3660775"/>
            <a:ext cx="1076326" cy="1281113"/>
            <a:chOff x="847" y="1748"/>
            <a:chExt cx="678" cy="807"/>
          </a:xfrm>
        </p:grpSpPr>
        <p:sp>
          <p:nvSpPr>
            <p:cNvPr id="6172" name="AutoShape 18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6173" name="Text Box 19"/>
            <p:cNvSpPr txBox="1">
              <a:spLocks noChangeArrowheads="1"/>
            </p:cNvSpPr>
            <p:nvPr/>
          </p:nvSpPr>
          <p:spPr bwMode="auto">
            <a:xfrm>
              <a:off x="847" y="1748"/>
              <a:ext cx="6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sp>
        <p:nvSpPr>
          <p:cNvPr id="15381" name="Line 21"/>
          <p:cNvSpPr>
            <a:spLocks noChangeShapeType="1"/>
          </p:cNvSpPr>
          <p:nvPr/>
        </p:nvSpPr>
        <p:spPr bwMode="auto">
          <a:xfrm>
            <a:off x="1187450" y="4868863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Text Box 25"/>
          <p:cNvSpPr txBox="1">
            <a:spLocks noChangeArrowheads="1"/>
          </p:cNvSpPr>
          <p:nvPr/>
        </p:nvSpPr>
        <p:spPr bwMode="auto">
          <a:xfrm>
            <a:off x="6300788" y="2781300"/>
            <a:ext cx="1412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 for writing</a:t>
            </a:r>
          </a:p>
        </p:txBody>
      </p:sp>
      <p:sp>
        <p:nvSpPr>
          <p:cNvPr id="15386" name="Line 26"/>
          <p:cNvSpPr>
            <a:spLocks noChangeShapeType="1"/>
          </p:cNvSpPr>
          <p:nvPr/>
        </p:nvSpPr>
        <p:spPr bwMode="auto">
          <a:xfrm flipH="1">
            <a:off x="5795963" y="3122613"/>
            <a:ext cx="500062" cy="593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Text Box 27"/>
          <p:cNvSpPr txBox="1">
            <a:spLocks noChangeArrowheads="1"/>
          </p:cNvSpPr>
          <p:nvPr/>
        </p:nvSpPr>
        <p:spPr bwMode="auto">
          <a:xfrm>
            <a:off x="87313" y="5157788"/>
            <a:ext cx="13747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stream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flushed!</a:t>
            </a:r>
          </a:p>
        </p:txBody>
      </p:sp>
      <p:sp>
        <p:nvSpPr>
          <p:cNvPr id="15388" name="Line 28"/>
          <p:cNvSpPr>
            <a:spLocks noChangeShapeType="1"/>
          </p:cNvSpPr>
          <p:nvPr/>
        </p:nvSpPr>
        <p:spPr bwMode="auto">
          <a:xfrm>
            <a:off x="1476375" y="5589588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Text Box 2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5390" name="Line 30"/>
          <p:cNvSpPr>
            <a:spLocks noChangeShapeType="1"/>
          </p:cNvSpPr>
          <p:nvPr/>
        </p:nvSpPr>
        <p:spPr bwMode="auto">
          <a:xfrm>
            <a:off x="1066800" y="3429000"/>
            <a:ext cx="55245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Text Box 31"/>
          <p:cNvSpPr txBox="1">
            <a:spLocks noChangeArrowheads="1"/>
          </p:cNvSpPr>
          <p:nvPr/>
        </p:nvSpPr>
        <p:spPr bwMode="auto">
          <a:xfrm>
            <a:off x="7394575" y="364172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writing</a:t>
            </a:r>
          </a:p>
        </p:txBody>
      </p:sp>
      <p:sp>
        <p:nvSpPr>
          <p:cNvPr id="15392" name="Line 32"/>
          <p:cNvSpPr>
            <a:spLocks noChangeShapeType="1"/>
          </p:cNvSpPr>
          <p:nvPr/>
        </p:nvSpPr>
        <p:spPr bwMode="auto">
          <a:xfrm flipH="1">
            <a:off x="6084888" y="3838575"/>
            <a:ext cx="1306512" cy="22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62" name="Group 33"/>
          <p:cNvGrpSpPr>
            <a:grpSpLocks/>
          </p:cNvGrpSpPr>
          <p:nvPr/>
        </p:nvGrpSpPr>
        <p:grpSpPr bwMode="auto">
          <a:xfrm>
            <a:off x="6516688" y="1412875"/>
            <a:ext cx="431800" cy="576263"/>
            <a:chOff x="1474" y="1706"/>
            <a:chExt cx="272" cy="363"/>
          </a:xfrm>
        </p:grpSpPr>
        <p:sp>
          <p:nvSpPr>
            <p:cNvPr id="6167" name="AutoShape 3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68" name="Line 3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3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3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3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6516688" y="4646613"/>
            <a:ext cx="1584325" cy="1446212"/>
            <a:chOff x="4136" y="2927"/>
            <a:chExt cx="1057" cy="1002"/>
          </a:xfrm>
        </p:grpSpPr>
        <p:sp>
          <p:nvSpPr>
            <p:cNvPr id="6165" name="AutoShape 41"/>
            <p:cNvSpPr>
              <a:spLocks noChangeArrowheads="1"/>
            </p:cNvSpPr>
            <p:nvPr/>
          </p:nvSpPr>
          <p:spPr bwMode="auto">
            <a:xfrm>
              <a:off x="4202" y="3159"/>
              <a:ext cx="991" cy="770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Aleph!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Beth!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Gimel!</a:t>
              </a:r>
            </a:p>
          </p:txBody>
        </p:sp>
        <p:sp>
          <p:nvSpPr>
            <p:cNvPr id="6166" name="Text Box 42"/>
            <p:cNvSpPr txBox="1">
              <a:spLocks noChangeArrowheads="1"/>
            </p:cNvSpPr>
            <p:nvPr/>
          </p:nvSpPr>
          <p:spPr bwMode="auto">
            <a:xfrm>
              <a:off x="4136" y="2927"/>
              <a:ext cx="881" cy="2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greetings.txt</a:t>
              </a:r>
            </a:p>
          </p:txBody>
        </p:sp>
      </p:grpSp>
      <p:sp>
        <p:nvSpPr>
          <p:cNvPr id="15403" name="Line 43"/>
          <p:cNvSpPr>
            <a:spLocks noChangeShapeType="1"/>
          </p:cNvSpPr>
          <p:nvPr/>
        </p:nvSpPr>
        <p:spPr bwMode="auto">
          <a:xfrm>
            <a:off x="5795963" y="522922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295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81" grpId="0" animBg="1"/>
      <p:bldP spid="15385" grpId="0" animBg="1"/>
      <p:bldP spid="15386" grpId="0" animBg="1"/>
      <p:bldP spid="15387" grpId="0" animBg="1"/>
      <p:bldP spid="15388" grpId="0" animBg="1"/>
      <p:bldP spid="15389" grpId="0" animBg="1"/>
      <p:bldP spid="15390" grpId="0" animBg="1"/>
      <p:bldP spid="15391" grpId="0" animBg="1"/>
      <p:bldP spid="15392" grpId="0" animBg="1"/>
      <p:bldP spid="1540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tidbits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fclose</a:t>
            </a:r>
            <a:r>
              <a:rPr lang="en-US" altLang="nl-BE" sz="2800"/>
              <a:t> what you </a:t>
            </a:r>
            <a:r>
              <a:rPr lang="en-US" altLang="nl-BE" sz="2800">
                <a:latin typeface="Times New Roman" panose="02020603050405020304" pitchFamily="18" charset="0"/>
              </a:rPr>
              <a:t>fopen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I/O modes: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r</a:t>
            </a:r>
            <a:r>
              <a:rPr lang="en-US" altLang="nl-BE" sz="2400"/>
              <a:t>: open file for reading, fails if file doesn't exist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w</a:t>
            </a:r>
            <a:r>
              <a:rPr lang="en-US" altLang="nl-BE" sz="2400"/>
              <a:t>: open file for writing, if file exists, original contents is lost, otherwise, create it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a</a:t>
            </a:r>
            <a:r>
              <a:rPr lang="en-US" altLang="nl-BE" sz="2400"/>
              <a:t>: open file for writing, if file exists, append to it, otherwise, create it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FILE *</a:t>
            </a:r>
            <a:r>
              <a:rPr lang="en-US" altLang="nl-BE" sz="2800"/>
              <a:t>: file pointer, predefined: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stdin</a:t>
            </a:r>
            <a:r>
              <a:rPr lang="en-US" altLang="nl-BE" sz="2400"/>
              <a:t>: keyboard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stdout</a:t>
            </a:r>
            <a:r>
              <a:rPr lang="en-US" altLang="nl-BE" sz="2400"/>
              <a:t>: terminal, intended for normal output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stderr</a:t>
            </a:r>
            <a:r>
              <a:rPr lang="en-US" altLang="nl-BE" sz="2400"/>
              <a:t>: terminal, intended for warnings, error</a:t>
            </a:r>
            <a:br>
              <a:rPr lang="en-US" altLang="nl-BE" sz="2400"/>
            </a:br>
            <a:r>
              <a:rPr lang="en-US" altLang="nl-BE" sz="2400"/>
              <a:t>          messages, diagnostics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051050" y="6091238"/>
            <a:ext cx="51847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printf(formatStr,…)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fprintf(stdout, formatStr,…)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scanf(formatStr,…)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fscanf(stdin, formatStr, …)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64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1741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Format strings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539750" y="1339850"/>
            <a:ext cx="19621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format code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%d: int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%ld: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%u: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%lu: unsigned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%c: char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%s: char 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%lf: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%le: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%lg: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%p: </a:t>
            </a:r>
            <a:r>
              <a:rPr lang="en-US" altLang="nl-BE" sz="1800"/>
              <a:t>pointer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%%: </a:t>
            </a:r>
            <a:r>
              <a:rPr lang="en-US" altLang="nl-BE" sz="1800"/>
              <a:t>literal </a:t>
            </a:r>
            <a:r>
              <a:rPr lang="en-US" altLang="nl-BE" sz="1800">
                <a:latin typeface="Times New Roman" panose="02020603050405020304" pitchFamily="18" charset="0"/>
              </a:rPr>
              <a:t>'%'</a:t>
            </a:r>
          </a:p>
        </p:txBody>
      </p:sp>
      <p:sp>
        <p:nvSpPr>
          <p:cNvPr id="8196" name="Text Box 7"/>
          <p:cNvSpPr txBox="1">
            <a:spLocks noChangeArrowheads="1"/>
          </p:cNvSpPr>
          <p:nvPr/>
        </p:nvSpPr>
        <p:spPr bwMode="auto">
          <a:xfrm>
            <a:off x="2555875" y="1341438"/>
            <a:ext cx="199390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'\0'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30431.3454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3.04313454e4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</a:t>
            </a:r>
            <a:r>
              <a:rPr lang="en-US" altLang="nl-BE" sz="1800">
                <a:latin typeface="Times New Roman" panose="02020603050405020304" pitchFamily="18" charset="0"/>
              </a:rPr>
              <a:t> 30.4313454e3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</p:txBody>
      </p:sp>
      <p:sp>
        <p:nvSpPr>
          <p:cNvPr id="19464" name="Text Box 8"/>
          <p:cNvSpPr txBox="1">
            <a:spLocks noChangeArrowheads="1"/>
          </p:cNvSpPr>
          <p:nvPr/>
        </p:nvSpPr>
        <p:spPr bwMode="auto">
          <a:xfrm>
            <a:off x="4787900" y="1341438"/>
            <a:ext cx="23304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whitespace</a:t>
            </a:r>
            <a:r>
              <a:rPr lang="en-US" altLang="nl-BE" sz="1800"/>
              <a:t>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79388" y="4852988"/>
            <a:ext cx="996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width 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%0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%-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  <a:endParaRPr lang="en-US" altLang="nl-BE" sz="1800"/>
          </a:p>
        </p:txBody>
      </p:sp>
      <p:sp>
        <p:nvSpPr>
          <p:cNvPr id="19467" name="Text Box 11"/>
          <p:cNvSpPr txBox="1">
            <a:spLocks noChangeArrowheads="1"/>
          </p:cNvSpPr>
          <p:nvPr/>
        </p:nvSpPr>
        <p:spPr bwMode="auto">
          <a:xfrm>
            <a:off x="1116013" y="5121275"/>
            <a:ext cx="225107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printf("%05d",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printf("%-5d",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100000)</a:t>
            </a:r>
          </a:p>
        </p:txBody>
      </p:sp>
      <p:sp>
        <p:nvSpPr>
          <p:cNvPr id="19485" name="Text Box 29"/>
          <p:cNvSpPr txBox="1">
            <a:spLocks noChangeArrowheads="1"/>
          </p:cNvSpPr>
          <p:nvPr/>
        </p:nvSpPr>
        <p:spPr bwMode="auto">
          <a:xfrm>
            <a:off x="3563938" y="5389563"/>
            <a:ext cx="755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00003</a:t>
            </a:r>
          </a:p>
        </p:txBody>
      </p:sp>
      <p:grpSp>
        <p:nvGrpSpPr>
          <p:cNvPr id="2" name="Group 97"/>
          <p:cNvGrpSpPr>
            <a:grpSpLocks/>
          </p:cNvGrpSpPr>
          <p:nvPr/>
        </p:nvGrpSpPr>
        <p:grpSpPr bwMode="auto">
          <a:xfrm>
            <a:off x="3678238" y="5100638"/>
            <a:ext cx="650875" cy="366712"/>
            <a:chOff x="2153" y="3314"/>
            <a:chExt cx="410" cy="231"/>
          </a:xfrm>
        </p:grpSpPr>
        <p:sp>
          <p:nvSpPr>
            <p:cNvPr id="8240" name="Text Box 12"/>
            <p:cNvSpPr txBox="1">
              <a:spLocks noChangeArrowheads="1"/>
            </p:cNvSpPr>
            <p:nvPr/>
          </p:nvSpPr>
          <p:spPr bwMode="auto">
            <a:xfrm>
              <a:off x="2375" y="3314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41" name="Group 25"/>
            <p:cNvGrpSpPr>
              <a:grpSpLocks/>
            </p:cNvGrpSpPr>
            <p:nvPr/>
          </p:nvGrpSpPr>
          <p:grpSpPr bwMode="auto">
            <a:xfrm>
              <a:off x="2153" y="3449"/>
              <a:ext cx="48" cy="46"/>
              <a:chOff x="4059" y="3516"/>
              <a:chExt cx="96" cy="50"/>
            </a:xfrm>
          </p:grpSpPr>
          <p:sp>
            <p:nvSpPr>
              <p:cNvPr id="8254" name="Line 2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5" name="Line 2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6" name="Line 2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2" name="Group 30"/>
            <p:cNvGrpSpPr>
              <a:grpSpLocks/>
            </p:cNvGrpSpPr>
            <p:nvPr/>
          </p:nvGrpSpPr>
          <p:grpSpPr bwMode="auto">
            <a:xfrm>
              <a:off x="2226" y="3450"/>
              <a:ext cx="48" cy="46"/>
              <a:chOff x="4059" y="3516"/>
              <a:chExt cx="96" cy="50"/>
            </a:xfrm>
          </p:grpSpPr>
          <p:sp>
            <p:nvSpPr>
              <p:cNvPr id="8251" name="Line 31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2" name="Line 32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3" name="Line 33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3" name="Group 34"/>
            <p:cNvGrpSpPr>
              <a:grpSpLocks/>
            </p:cNvGrpSpPr>
            <p:nvPr/>
          </p:nvGrpSpPr>
          <p:grpSpPr bwMode="auto">
            <a:xfrm>
              <a:off x="2302" y="3450"/>
              <a:ext cx="48" cy="46"/>
              <a:chOff x="4059" y="3516"/>
              <a:chExt cx="96" cy="50"/>
            </a:xfrm>
          </p:grpSpPr>
          <p:sp>
            <p:nvSpPr>
              <p:cNvPr id="8248" name="Line 35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Line 36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0" name="Line 37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4" name="Group 38"/>
            <p:cNvGrpSpPr>
              <a:grpSpLocks/>
            </p:cNvGrpSpPr>
            <p:nvPr/>
          </p:nvGrpSpPr>
          <p:grpSpPr bwMode="auto">
            <a:xfrm>
              <a:off x="2377" y="3451"/>
              <a:ext cx="48" cy="46"/>
              <a:chOff x="4059" y="3516"/>
              <a:chExt cx="96" cy="50"/>
            </a:xfrm>
          </p:grpSpPr>
          <p:sp>
            <p:nvSpPr>
              <p:cNvPr id="8245" name="Line 39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Line 40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Line 41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575050" y="5668963"/>
            <a:ext cx="655638" cy="366712"/>
            <a:chOff x="2088" y="3672"/>
            <a:chExt cx="413" cy="231"/>
          </a:xfrm>
        </p:grpSpPr>
        <p:sp>
          <p:nvSpPr>
            <p:cNvPr id="8223" name="Text Box 42"/>
            <p:cNvSpPr txBox="1">
              <a:spLocks noChangeArrowheads="1"/>
            </p:cNvSpPr>
            <p:nvPr/>
          </p:nvSpPr>
          <p:spPr bwMode="auto">
            <a:xfrm>
              <a:off x="2088" y="367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24" name="Group 59"/>
            <p:cNvGrpSpPr>
              <a:grpSpLocks/>
            </p:cNvGrpSpPr>
            <p:nvPr/>
          </p:nvGrpSpPr>
          <p:grpSpPr bwMode="auto">
            <a:xfrm>
              <a:off x="2229" y="3805"/>
              <a:ext cx="48" cy="46"/>
              <a:chOff x="4059" y="3516"/>
              <a:chExt cx="96" cy="50"/>
            </a:xfrm>
          </p:grpSpPr>
          <p:sp>
            <p:nvSpPr>
              <p:cNvPr id="8237" name="Line 60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Line 61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Line 62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5" name="Group 63"/>
            <p:cNvGrpSpPr>
              <a:grpSpLocks/>
            </p:cNvGrpSpPr>
            <p:nvPr/>
          </p:nvGrpSpPr>
          <p:grpSpPr bwMode="auto">
            <a:xfrm>
              <a:off x="2302" y="3806"/>
              <a:ext cx="48" cy="46"/>
              <a:chOff x="4059" y="3516"/>
              <a:chExt cx="96" cy="50"/>
            </a:xfrm>
          </p:grpSpPr>
          <p:sp>
            <p:nvSpPr>
              <p:cNvPr id="8234" name="Line 64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Line 65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Line 66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6" name="Group 67"/>
            <p:cNvGrpSpPr>
              <a:grpSpLocks/>
            </p:cNvGrpSpPr>
            <p:nvPr/>
          </p:nvGrpSpPr>
          <p:grpSpPr bwMode="auto">
            <a:xfrm>
              <a:off x="2378" y="3806"/>
              <a:ext cx="48" cy="46"/>
              <a:chOff x="4059" y="3516"/>
              <a:chExt cx="96" cy="50"/>
            </a:xfrm>
          </p:grpSpPr>
          <p:sp>
            <p:nvSpPr>
              <p:cNvPr id="8231" name="Line 68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Line 69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Line 70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7" name="Group 71"/>
            <p:cNvGrpSpPr>
              <a:grpSpLocks/>
            </p:cNvGrpSpPr>
            <p:nvPr/>
          </p:nvGrpSpPr>
          <p:grpSpPr bwMode="auto">
            <a:xfrm>
              <a:off x="2453" y="3807"/>
              <a:ext cx="48" cy="46"/>
              <a:chOff x="4059" y="3516"/>
              <a:chExt cx="96" cy="50"/>
            </a:xfrm>
          </p:grpSpPr>
          <p:sp>
            <p:nvSpPr>
              <p:cNvPr id="8228" name="Line 72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9" name="Line 73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0" name="Line 74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31" name="Text Box 75"/>
          <p:cNvSpPr txBox="1">
            <a:spLocks noChangeArrowheads="1"/>
          </p:cNvSpPr>
          <p:nvPr/>
        </p:nvSpPr>
        <p:spPr bwMode="auto">
          <a:xfrm>
            <a:off x="1236663" y="6365875"/>
            <a:ext cx="2111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all output</a:t>
            </a:r>
          </a:p>
        </p:txBody>
      </p:sp>
      <p:sp>
        <p:nvSpPr>
          <p:cNvPr id="19532" name="Text Box 76"/>
          <p:cNvSpPr txBox="1">
            <a:spLocks noChangeArrowheads="1"/>
          </p:cNvSpPr>
          <p:nvPr/>
        </p:nvSpPr>
        <p:spPr bwMode="auto">
          <a:xfrm>
            <a:off x="4987925" y="4852988"/>
            <a:ext cx="13398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precision 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533" name="Text Box 77"/>
          <p:cNvSpPr txBox="1">
            <a:spLocks noChangeArrowheads="1"/>
          </p:cNvSpPr>
          <p:nvPr/>
        </p:nvSpPr>
        <p:spPr bwMode="auto">
          <a:xfrm>
            <a:off x="5995988" y="5124450"/>
            <a:ext cx="1984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printf("%.2f", 3.5)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printf("%5.2f", 3.5)</a:t>
            </a:r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8301038" y="5126038"/>
            <a:ext cx="584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3.50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8380413" y="5407025"/>
            <a:ext cx="584200" cy="366713"/>
            <a:chOff x="5214" y="3507"/>
            <a:chExt cx="368" cy="231"/>
          </a:xfrm>
        </p:grpSpPr>
        <p:sp>
          <p:nvSpPr>
            <p:cNvPr id="8218" name="Text Box 80"/>
            <p:cNvSpPr txBox="1">
              <a:spLocks noChangeArrowheads="1"/>
            </p:cNvSpPr>
            <p:nvPr/>
          </p:nvSpPr>
          <p:spPr bwMode="auto">
            <a:xfrm>
              <a:off x="5214" y="3507"/>
              <a:ext cx="3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3.50</a:t>
              </a:r>
            </a:p>
          </p:txBody>
        </p:sp>
        <p:grpSp>
          <p:nvGrpSpPr>
            <p:cNvPr id="8219" name="Group 85"/>
            <p:cNvGrpSpPr>
              <a:grpSpLocks/>
            </p:cNvGrpSpPr>
            <p:nvPr/>
          </p:nvGrpSpPr>
          <p:grpSpPr bwMode="auto">
            <a:xfrm>
              <a:off x="5226" y="3656"/>
              <a:ext cx="48" cy="46"/>
              <a:chOff x="4059" y="3516"/>
              <a:chExt cx="96" cy="50"/>
            </a:xfrm>
          </p:grpSpPr>
          <p:sp>
            <p:nvSpPr>
              <p:cNvPr id="8220" name="Line 8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1" name="Line 8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2" name="Line 8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45" name="Text Box 89"/>
          <p:cNvSpPr txBox="1">
            <a:spLocks noChangeArrowheads="1"/>
          </p:cNvSpPr>
          <p:nvPr/>
        </p:nvSpPr>
        <p:spPr bwMode="auto">
          <a:xfrm>
            <a:off x="6356350" y="6365875"/>
            <a:ext cx="1730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f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8209" name="Line 90"/>
          <p:cNvSpPr>
            <a:spLocks noChangeShapeType="1"/>
          </p:cNvSpPr>
          <p:nvPr/>
        </p:nvSpPr>
        <p:spPr bwMode="auto">
          <a:xfrm>
            <a:off x="4716463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91"/>
          <p:cNvSpPr>
            <a:spLocks noChangeShapeType="1"/>
          </p:cNvSpPr>
          <p:nvPr/>
        </p:nvSpPr>
        <p:spPr bwMode="auto">
          <a:xfrm>
            <a:off x="248443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92"/>
          <p:cNvSpPr>
            <a:spLocks noChangeShapeType="1"/>
          </p:cNvSpPr>
          <p:nvPr/>
        </p:nvSpPr>
        <p:spPr bwMode="auto">
          <a:xfrm>
            <a:off x="539750" y="1676400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93"/>
          <p:cNvSpPr>
            <a:spLocks noChangeShapeType="1"/>
          </p:cNvSpPr>
          <p:nvPr/>
        </p:nvSpPr>
        <p:spPr bwMode="auto">
          <a:xfrm>
            <a:off x="539750" y="4797425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94"/>
          <p:cNvSpPr>
            <a:spLocks noChangeShapeType="1"/>
          </p:cNvSpPr>
          <p:nvPr/>
        </p:nvSpPr>
        <p:spPr bwMode="auto">
          <a:xfrm>
            <a:off x="738028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95"/>
          <p:cNvSpPr>
            <a:spLocks noChangeShapeType="1"/>
          </p:cNvSpPr>
          <p:nvPr/>
        </p:nvSpPr>
        <p:spPr bwMode="auto">
          <a:xfrm>
            <a:off x="539750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96"/>
          <p:cNvSpPr>
            <a:spLocks noChangeShapeType="1"/>
          </p:cNvSpPr>
          <p:nvPr/>
        </p:nvSpPr>
        <p:spPr bwMode="auto">
          <a:xfrm>
            <a:off x="539750" y="1404938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5940425" y="2420938"/>
            <a:ext cx="26384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whitespace: </a:t>
            </a:r>
            <a:r>
              <a:rPr lang="en-US" altLang="nl-BE" sz="1800">
                <a:latin typeface="Times New Roman" panose="02020603050405020304" pitchFamily="18" charset="0"/>
              </a:rPr>
              <a:t>' ', '\t', '\r', '\n'</a:t>
            </a:r>
          </a:p>
        </p:txBody>
      </p:sp>
      <p:sp>
        <p:nvSpPr>
          <p:cNvPr id="19557" name="Text Box 101"/>
          <p:cNvSpPr txBox="1">
            <a:spLocks noChangeArrowheads="1"/>
          </p:cNvSpPr>
          <p:nvPr/>
        </p:nvSpPr>
        <p:spPr bwMode="auto">
          <a:xfrm>
            <a:off x="3463925" y="5938838"/>
            <a:ext cx="99218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100000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371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4" grpId="0"/>
      <p:bldP spid="19466" grpId="0"/>
      <p:bldP spid="19467" grpId="0"/>
      <p:bldP spid="19485" grpId="0"/>
      <p:bldP spid="19531" grpId="0" animBg="1"/>
      <p:bldP spid="19532" grpId="0"/>
      <p:bldP spid="19533" grpId="0"/>
      <p:bldP spid="19535" grpId="0"/>
      <p:bldP spid="19545" grpId="0" animBg="1"/>
      <p:bldP spid="19465" grpId="0" animBg="1"/>
      <p:bldP spid="1955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Other file I/O function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fgetc(FILE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</a:t>
            </a:r>
            <a:r>
              <a:rPr lang="en-US" altLang="nl-BE" sz="2000">
                <a:latin typeface="Times New Roman" panose="02020603050405020304" pitchFamily="18" charset="0"/>
              </a:rPr>
              <a:t>char</a:t>
            </a:r>
            <a:r>
              <a:rPr lang="en-US" altLang="nl-BE" sz="2000"/>
              <a:t>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char *fgets(char *s, int n,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string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of at most n-1 chars, end it with </a:t>
            </a:r>
            <a:r>
              <a:rPr lang="en-US" altLang="nl-BE" sz="2000">
                <a:latin typeface="Times New Roman" panose="02020603050405020304" pitchFamily="18" charset="0"/>
              </a:rPr>
              <a:t>'\0'</a:t>
            </a:r>
            <a:r>
              <a:rPr lang="en-US" altLang="nl-BE" sz="2000"/>
              <a:t> or until a </a:t>
            </a:r>
            <a:r>
              <a:rPr lang="en-US" altLang="nl-BE" sz="2000">
                <a:latin typeface="Times New Roman" panose="02020603050405020304" pitchFamily="18" charset="0"/>
              </a:rPr>
              <a:t>'\n'</a:t>
            </a:r>
            <a:r>
              <a:rPr lang="en-US" altLang="nl-BE" sz="2000"/>
              <a:t> is encountered, return string or </a:t>
            </a:r>
            <a:r>
              <a:rPr lang="en-US" altLang="nl-BE" sz="2000">
                <a:latin typeface="Times New Roman" panose="02020603050405020304" pitchFamily="18" charset="0"/>
              </a:rPr>
              <a:t>NULL</a:t>
            </a:r>
            <a:r>
              <a:rPr lang="en-US" altLang="nl-BE" sz="2000"/>
              <a:t> on error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fputs(const char *s,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string </a:t>
            </a:r>
            <a:r>
              <a:rPr lang="en-US" altLang="nl-BE" sz="2000">
                <a:latin typeface="Times New Roman" panose="02020603050405020304" pitchFamily="18" charset="0"/>
              </a:rPr>
              <a:t>s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ungetc(int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back into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after it has been read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fflush(FILE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ensure that output stream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is written to file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372225" y="4276725"/>
            <a:ext cx="199072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stdio.h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035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  <p:bldP spid="225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539750" y="4076700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024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68116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4787900" y="4433888"/>
            <a:ext cx="327342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argc</a:t>
            </a:r>
            <a:r>
              <a:rPr lang="en-US" altLang="nl-BE" sz="1800"/>
              <a:t>: number of arguments + 1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argv</a:t>
            </a:r>
            <a:r>
              <a:rPr lang="en-US" altLang="nl-BE" sz="1800"/>
              <a:t>: array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 pointers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840288" y="6040438"/>
            <a:ext cx="1920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  <a:r>
              <a:rPr lang="en-US" altLang="nl-BE" sz="1800"/>
              <a:t> holds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84" name="Line 8"/>
          <p:cNvSpPr>
            <a:spLocks noChangeShapeType="1"/>
          </p:cNvSpPr>
          <p:nvPr/>
        </p:nvSpPr>
        <p:spPr bwMode="auto">
          <a:xfrm flipH="1" flipV="1">
            <a:off x="4260850" y="5805488"/>
            <a:ext cx="574675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3492500" y="1536700"/>
            <a:ext cx="287338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>
            <a:off x="3779838" y="1536700"/>
            <a:ext cx="0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>
            <a:off x="37798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3400425" y="1196975"/>
            <a:ext cx="2749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command line arguments</a:t>
            </a:r>
          </a:p>
        </p:txBody>
      </p:sp>
      <p:sp>
        <p:nvSpPr>
          <p:cNvPr id="24589" name="Text Box 13"/>
          <p:cNvSpPr txBox="1">
            <a:spLocks noChangeArrowheads="1"/>
          </p:cNvSpPr>
          <p:nvPr/>
        </p:nvSpPr>
        <p:spPr bwMode="auto">
          <a:xfrm>
            <a:off x="1004888" y="1201738"/>
            <a:ext cx="1911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90" name="Line 14"/>
          <p:cNvSpPr>
            <a:spLocks noChangeShapeType="1"/>
          </p:cNvSpPr>
          <p:nvPr/>
        </p:nvSpPr>
        <p:spPr bwMode="auto">
          <a:xfrm>
            <a:off x="22685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/>
          <p:cNvSpPr>
            <a:spLocks noChangeShapeType="1"/>
          </p:cNvSpPr>
          <p:nvPr/>
        </p:nvSpPr>
        <p:spPr bwMode="auto">
          <a:xfrm flipH="1">
            <a:off x="3779838" y="4797425"/>
            <a:ext cx="1008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Text Box 16"/>
          <p:cNvSpPr txBox="1">
            <a:spLocks noChangeArrowheads="1"/>
          </p:cNvSpPr>
          <p:nvPr/>
        </p:nvSpPr>
        <p:spPr bwMode="auto">
          <a:xfrm>
            <a:off x="950913" y="350361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24593" name="Text Box 17"/>
          <p:cNvSpPr txBox="1">
            <a:spLocks noChangeArrowheads="1"/>
          </p:cNvSpPr>
          <p:nvPr/>
        </p:nvSpPr>
        <p:spPr bwMode="auto">
          <a:xfrm>
            <a:off x="33480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24594" name="Text Box 18"/>
          <p:cNvSpPr txBox="1">
            <a:spLocks noChangeArrowheads="1"/>
          </p:cNvSpPr>
          <p:nvPr/>
        </p:nvSpPr>
        <p:spPr bwMode="auto">
          <a:xfrm>
            <a:off x="22685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24595" name="Text Box 19"/>
          <p:cNvSpPr txBox="1">
            <a:spLocks noChangeArrowheads="1"/>
          </p:cNvSpPr>
          <p:nvPr/>
        </p:nvSpPr>
        <p:spPr bwMode="auto">
          <a:xfrm>
            <a:off x="4429125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24596" name="Line 20"/>
          <p:cNvSpPr>
            <a:spLocks noChangeShapeType="1"/>
          </p:cNvSpPr>
          <p:nvPr/>
        </p:nvSpPr>
        <p:spPr bwMode="auto">
          <a:xfrm flipH="1">
            <a:off x="1547813" y="234950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7" name="Line 21"/>
          <p:cNvSpPr>
            <a:spLocks noChangeShapeType="1"/>
          </p:cNvSpPr>
          <p:nvPr/>
        </p:nvSpPr>
        <p:spPr bwMode="auto">
          <a:xfrm flipH="1">
            <a:off x="2771775" y="234950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8" name="Line 22"/>
          <p:cNvSpPr>
            <a:spLocks noChangeShapeType="1"/>
          </p:cNvSpPr>
          <p:nvPr/>
        </p:nvSpPr>
        <p:spPr bwMode="auto">
          <a:xfrm>
            <a:off x="3779838" y="234950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/>
          <p:cNvSpPr>
            <a:spLocks noChangeShapeType="1"/>
          </p:cNvSpPr>
          <p:nvPr/>
        </p:nvSpPr>
        <p:spPr bwMode="auto">
          <a:xfrm>
            <a:off x="4211638" y="234950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4527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 animBg="1"/>
      <p:bldP spid="24583" grpId="0" animBg="1"/>
      <p:bldP spid="24584" grpId="0" animBg="1"/>
      <p:bldP spid="24585" grpId="0" animBg="1"/>
      <p:bldP spid="24586" grpId="0" animBg="1"/>
      <p:bldP spid="24587" grpId="0" animBg="1"/>
      <p:bldP spid="24588" grpId="0"/>
      <p:bldP spid="24589" grpId="0"/>
      <p:bldP spid="24590" grpId="0" animBg="1"/>
      <p:bldP spid="24591" grpId="0" animBg="1"/>
      <p:bldP spid="24592" grpId="0"/>
      <p:bldP spid="24593" grpId="0"/>
      <p:bldP spid="24594" grpId="0"/>
      <p:bldP spid="24595" grpId="0"/>
      <p:bldP spid="24596" grpId="0" animBg="1"/>
      <p:bldP spid="24597" grpId="0" animBg="1"/>
      <p:bldP spid="24598" grpId="0" animBg="1"/>
      <p:bldP spid="24599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 2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85750" y="3711575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126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35731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Text Box 16"/>
          <p:cNvSpPr txBox="1">
            <a:spLocks noChangeArrowheads="1"/>
          </p:cNvSpPr>
          <p:nvPr/>
        </p:nvSpPr>
        <p:spPr bwMode="auto">
          <a:xfrm>
            <a:off x="950913" y="317976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11270" name="Text Box 17"/>
          <p:cNvSpPr txBox="1">
            <a:spLocks noChangeArrowheads="1"/>
          </p:cNvSpPr>
          <p:nvPr/>
        </p:nvSpPr>
        <p:spPr bwMode="auto">
          <a:xfrm>
            <a:off x="33480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22685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11272" name="Text Box 19"/>
          <p:cNvSpPr txBox="1">
            <a:spLocks noChangeArrowheads="1"/>
          </p:cNvSpPr>
          <p:nvPr/>
        </p:nvSpPr>
        <p:spPr bwMode="auto">
          <a:xfrm>
            <a:off x="4429125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11273" name="Line 20"/>
          <p:cNvSpPr>
            <a:spLocks noChangeShapeType="1"/>
          </p:cNvSpPr>
          <p:nvPr/>
        </p:nvSpPr>
        <p:spPr bwMode="auto">
          <a:xfrm flipH="1">
            <a:off x="1547813" y="202565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21"/>
          <p:cNvSpPr>
            <a:spLocks noChangeShapeType="1"/>
          </p:cNvSpPr>
          <p:nvPr/>
        </p:nvSpPr>
        <p:spPr bwMode="auto">
          <a:xfrm flipH="1">
            <a:off x="2771775" y="202565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22"/>
          <p:cNvSpPr>
            <a:spLocks noChangeShapeType="1"/>
          </p:cNvSpPr>
          <p:nvPr/>
        </p:nvSpPr>
        <p:spPr bwMode="auto">
          <a:xfrm>
            <a:off x="3779838" y="202565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23"/>
          <p:cNvSpPr>
            <a:spLocks noChangeShapeType="1"/>
          </p:cNvSpPr>
          <p:nvPr/>
        </p:nvSpPr>
        <p:spPr bwMode="auto">
          <a:xfrm>
            <a:off x="4211638" y="202565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33"/>
          <p:cNvGrpSpPr>
            <a:grpSpLocks/>
          </p:cNvGrpSpPr>
          <p:nvPr/>
        </p:nvGrpSpPr>
        <p:grpSpPr bwMode="auto">
          <a:xfrm>
            <a:off x="5357813" y="4511675"/>
            <a:ext cx="2428875" cy="369888"/>
            <a:chOff x="5357818" y="4511798"/>
            <a:chExt cx="2428892" cy="369332"/>
          </a:xfrm>
        </p:grpSpPr>
        <p:sp>
          <p:nvSpPr>
            <p:cNvPr id="11372" name="TextBox 23"/>
            <p:cNvSpPr txBox="1">
              <a:spLocks noChangeArrowheads="1"/>
            </p:cNvSpPr>
            <p:nvPr/>
          </p:nvSpPr>
          <p:spPr bwMode="auto">
            <a:xfrm>
              <a:off x="5357818" y="4511798"/>
              <a:ext cx="6549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argv: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72198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58082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0826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29454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grpSp>
        <p:nvGrpSpPr>
          <p:cNvPr id="3" name="Group 129"/>
          <p:cNvGrpSpPr>
            <a:grpSpLocks/>
          </p:cNvGrpSpPr>
          <p:nvPr/>
        </p:nvGrpSpPr>
        <p:grpSpPr bwMode="auto">
          <a:xfrm>
            <a:off x="6108700" y="3770313"/>
            <a:ext cx="2901950" cy="373062"/>
            <a:chOff x="5857884" y="5072074"/>
            <a:chExt cx="2900924" cy="373656"/>
          </a:xfrm>
        </p:grpSpPr>
        <p:grpSp>
          <p:nvGrpSpPr>
            <p:cNvPr id="11342" name="Group 48"/>
            <p:cNvGrpSpPr>
              <a:grpSpLocks/>
            </p:cNvGrpSpPr>
            <p:nvPr/>
          </p:nvGrpSpPr>
          <p:grpSpPr bwMode="auto">
            <a:xfrm>
              <a:off x="8381782" y="5074924"/>
              <a:ext cx="377026" cy="369332"/>
              <a:chOff x="8579326" y="5884526"/>
              <a:chExt cx="377026" cy="369332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64372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71" name="TextBox 37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3" name="Group 49"/>
            <p:cNvGrpSpPr>
              <a:grpSpLocks/>
            </p:cNvGrpSpPr>
            <p:nvPr/>
          </p:nvGrpSpPr>
          <p:grpSpPr bwMode="auto">
            <a:xfrm>
              <a:off x="8142994" y="5074924"/>
              <a:ext cx="305508" cy="369332"/>
              <a:chOff x="8624210" y="5884526"/>
              <a:chExt cx="305508" cy="36933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864333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9" name="TextBox 51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4" name="Group 52"/>
            <p:cNvGrpSpPr>
              <a:grpSpLocks/>
            </p:cNvGrpSpPr>
            <p:nvPr/>
          </p:nvGrpSpPr>
          <p:grpSpPr bwMode="auto">
            <a:xfrm>
              <a:off x="7874812" y="5076398"/>
              <a:ext cx="286272" cy="369332"/>
              <a:chOff x="8643446" y="5884526"/>
              <a:chExt cx="286272" cy="369332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643518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7" name="TextBox 54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5" name="Group 55"/>
            <p:cNvGrpSpPr>
              <a:grpSpLocks/>
            </p:cNvGrpSpPr>
            <p:nvPr/>
          </p:nvGrpSpPr>
          <p:grpSpPr bwMode="auto">
            <a:xfrm>
              <a:off x="7571904" y="5076398"/>
              <a:ext cx="305508" cy="369332"/>
              <a:chOff x="8624210" y="5884526"/>
              <a:chExt cx="305508" cy="369332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8643127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5" name="TextBox 5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6" name="Group 58"/>
            <p:cNvGrpSpPr>
              <a:grpSpLocks/>
            </p:cNvGrpSpPr>
            <p:nvPr/>
          </p:nvGrpSpPr>
          <p:grpSpPr bwMode="auto">
            <a:xfrm>
              <a:off x="7304866" y="5074924"/>
              <a:ext cx="292684" cy="369332"/>
              <a:chOff x="8637034" y="5884526"/>
              <a:chExt cx="292684" cy="36933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643688" y="5929377"/>
                <a:ext cx="285648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3" name="TextBox 60"/>
              <p:cNvSpPr txBox="1">
                <a:spLocks noChangeArrowheads="1"/>
              </p:cNvSpPr>
              <p:nvPr/>
            </p:nvSpPr>
            <p:spPr bwMode="auto">
              <a:xfrm>
                <a:off x="8637034" y="5884526"/>
                <a:ext cx="26161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7" name="Group 61"/>
            <p:cNvGrpSpPr>
              <a:grpSpLocks/>
            </p:cNvGrpSpPr>
            <p:nvPr/>
          </p:nvGrpSpPr>
          <p:grpSpPr bwMode="auto">
            <a:xfrm>
              <a:off x="7001958" y="5074924"/>
              <a:ext cx="311920" cy="369332"/>
              <a:chOff x="8617798" y="5884526"/>
              <a:chExt cx="311920" cy="369332"/>
            </a:xfrm>
          </p:grpSpPr>
          <p:sp>
            <p:nvSpPr>
              <p:cNvPr id="63" name="Rectangle 62"/>
              <p:cNvSpPr/>
              <p:nvPr/>
            </p:nvSpPr>
            <p:spPr>
              <a:xfrm>
                <a:off x="8643298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1" name="TextBox 63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8" name="Group 64"/>
            <p:cNvGrpSpPr>
              <a:grpSpLocks/>
            </p:cNvGrpSpPr>
            <p:nvPr/>
          </p:nvGrpSpPr>
          <p:grpSpPr bwMode="auto">
            <a:xfrm>
              <a:off x="6729830" y="5076398"/>
              <a:ext cx="286272" cy="369332"/>
              <a:chOff x="8643446" y="5884526"/>
              <a:chExt cx="286272" cy="369332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8642730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9" name="TextBox 66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9" name="Group 67"/>
            <p:cNvGrpSpPr>
              <a:grpSpLocks/>
            </p:cNvGrpSpPr>
            <p:nvPr/>
          </p:nvGrpSpPr>
          <p:grpSpPr bwMode="auto">
            <a:xfrm>
              <a:off x="6446158" y="5076398"/>
              <a:ext cx="286272" cy="369332"/>
              <a:chOff x="8643446" y="5884526"/>
              <a:chExt cx="286272" cy="369332"/>
            </a:xfrm>
          </p:grpSpPr>
          <p:sp>
            <p:nvSpPr>
              <p:cNvPr id="69" name="Rectangle 68"/>
              <p:cNvSpPr/>
              <p:nvPr/>
            </p:nvSpPr>
            <p:spPr>
              <a:xfrm>
                <a:off x="8643927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7" name="TextBox 6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0" name="Group 70"/>
            <p:cNvGrpSpPr>
              <a:grpSpLocks/>
            </p:cNvGrpSpPr>
            <p:nvPr/>
          </p:nvGrpSpPr>
          <p:grpSpPr bwMode="auto">
            <a:xfrm>
              <a:off x="6147968" y="5072074"/>
              <a:ext cx="305508" cy="369332"/>
              <a:chOff x="8624210" y="5884526"/>
              <a:chExt cx="305508" cy="369332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8643579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5" name="TextBox 7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1" name="Group 73"/>
            <p:cNvGrpSpPr>
              <a:grpSpLocks/>
            </p:cNvGrpSpPr>
            <p:nvPr/>
          </p:nvGrpSpPr>
          <p:grpSpPr bwMode="auto">
            <a:xfrm>
              <a:off x="5857884" y="5072074"/>
              <a:ext cx="311920" cy="369332"/>
              <a:chOff x="8617798" y="5884526"/>
              <a:chExt cx="311920" cy="36933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8644776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3" name="TextBox 75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4" name="Group 130"/>
          <p:cNvGrpSpPr>
            <a:grpSpLocks/>
          </p:cNvGrpSpPr>
          <p:nvPr/>
        </p:nvGrpSpPr>
        <p:grpSpPr bwMode="auto">
          <a:xfrm>
            <a:off x="6500813" y="6286500"/>
            <a:ext cx="1782762" cy="371475"/>
            <a:chOff x="6572264" y="5715016"/>
            <a:chExt cx="1782498" cy="370806"/>
          </a:xfrm>
        </p:grpSpPr>
        <p:grpSp>
          <p:nvGrpSpPr>
            <p:cNvPr id="11324" name="Group 76"/>
            <p:cNvGrpSpPr>
              <a:grpSpLocks/>
            </p:cNvGrpSpPr>
            <p:nvPr/>
          </p:nvGrpSpPr>
          <p:grpSpPr bwMode="auto">
            <a:xfrm>
              <a:off x="7977736" y="5715016"/>
              <a:ext cx="377026" cy="369332"/>
              <a:chOff x="8579326" y="5884526"/>
              <a:chExt cx="377026" cy="369332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41" name="TextBox 78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5" name="Group 79"/>
            <p:cNvGrpSpPr>
              <a:grpSpLocks/>
            </p:cNvGrpSpPr>
            <p:nvPr/>
          </p:nvGrpSpPr>
          <p:grpSpPr bwMode="auto">
            <a:xfrm>
              <a:off x="7732536" y="5715016"/>
              <a:ext cx="311920" cy="369332"/>
              <a:chOff x="8617798" y="5884526"/>
              <a:chExt cx="311920" cy="369332"/>
            </a:xfrm>
          </p:grpSpPr>
          <p:sp>
            <p:nvSpPr>
              <p:cNvPr id="81" name="Rectangle 80"/>
              <p:cNvSpPr/>
              <p:nvPr/>
            </p:nvSpPr>
            <p:spPr>
              <a:xfrm>
                <a:off x="864480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9" name="TextBox 81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6" name="Group 82"/>
            <p:cNvGrpSpPr>
              <a:grpSpLocks/>
            </p:cNvGrpSpPr>
            <p:nvPr/>
          </p:nvGrpSpPr>
          <p:grpSpPr bwMode="auto">
            <a:xfrm>
              <a:off x="7445118" y="5716490"/>
              <a:ext cx="311920" cy="369332"/>
              <a:chOff x="8617798" y="5884526"/>
              <a:chExt cx="311920" cy="36933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7" name="TextBox 84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7" name="Group 85"/>
            <p:cNvGrpSpPr>
              <a:grpSpLocks/>
            </p:cNvGrpSpPr>
            <p:nvPr/>
          </p:nvGrpSpPr>
          <p:grpSpPr bwMode="auto">
            <a:xfrm>
              <a:off x="7167858" y="5716490"/>
              <a:ext cx="305508" cy="369332"/>
              <a:chOff x="8624210" y="5884526"/>
              <a:chExt cx="305508" cy="369332"/>
            </a:xfrm>
          </p:grpSpPr>
          <p:sp>
            <p:nvSpPr>
              <p:cNvPr id="87" name="Rectangle 86"/>
              <p:cNvSpPr/>
              <p:nvPr/>
            </p:nvSpPr>
            <p:spPr>
              <a:xfrm>
                <a:off x="8642887" y="5929007"/>
                <a:ext cx="287296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5" name="TextBox 8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8" name="Group 88"/>
            <p:cNvGrpSpPr>
              <a:grpSpLocks/>
            </p:cNvGrpSpPr>
            <p:nvPr/>
          </p:nvGrpSpPr>
          <p:grpSpPr bwMode="auto">
            <a:xfrm>
              <a:off x="6907232" y="5715016"/>
              <a:ext cx="286272" cy="369332"/>
              <a:chOff x="8643446" y="5884526"/>
              <a:chExt cx="286272" cy="369332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3" name="TextBox 9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9" name="Group 91"/>
            <p:cNvGrpSpPr>
              <a:grpSpLocks/>
            </p:cNvGrpSpPr>
            <p:nvPr/>
          </p:nvGrpSpPr>
          <p:grpSpPr bwMode="auto">
            <a:xfrm>
              <a:off x="6572264" y="5715016"/>
              <a:ext cx="351379" cy="369332"/>
              <a:chOff x="8592150" y="5884526"/>
              <a:chExt cx="351379" cy="369332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1" name="TextBox 93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1" name="Group 132"/>
          <p:cNvGrpSpPr>
            <a:grpSpLocks/>
          </p:cNvGrpSpPr>
          <p:nvPr/>
        </p:nvGrpSpPr>
        <p:grpSpPr bwMode="auto">
          <a:xfrm>
            <a:off x="7361238" y="5286375"/>
            <a:ext cx="1782762" cy="371475"/>
            <a:chOff x="6724664" y="6272904"/>
            <a:chExt cx="1782498" cy="370806"/>
          </a:xfrm>
        </p:grpSpPr>
        <p:grpSp>
          <p:nvGrpSpPr>
            <p:cNvPr id="11306" name="Group 94"/>
            <p:cNvGrpSpPr>
              <a:grpSpLocks/>
            </p:cNvGrpSpPr>
            <p:nvPr/>
          </p:nvGrpSpPr>
          <p:grpSpPr bwMode="auto">
            <a:xfrm>
              <a:off x="8130136" y="6272904"/>
              <a:ext cx="377026" cy="369332"/>
              <a:chOff x="8579326" y="5884526"/>
              <a:chExt cx="377026" cy="369332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3" name="TextBox 96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7" name="Group 97"/>
            <p:cNvGrpSpPr>
              <a:grpSpLocks/>
            </p:cNvGrpSpPr>
            <p:nvPr/>
          </p:nvGrpSpPr>
          <p:grpSpPr bwMode="auto">
            <a:xfrm>
              <a:off x="7910584" y="6272904"/>
              <a:ext cx="286272" cy="369332"/>
              <a:chOff x="8643446" y="5884526"/>
              <a:chExt cx="286272" cy="369332"/>
            </a:xfrm>
          </p:grpSpPr>
          <p:sp>
            <p:nvSpPr>
              <p:cNvPr id="99" name="Rectangle 98"/>
              <p:cNvSpPr/>
              <p:nvPr/>
            </p:nvSpPr>
            <p:spPr>
              <a:xfrm>
                <a:off x="8643212" y="5928896"/>
                <a:ext cx="287296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1" name="TextBox 9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8" name="Group 100"/>
            <p:cNvGrpSpPr>
              <a:grpSpLocks/>
            </p:cNvGrpSpPr>
            <p:nvPr/>
          </p:nvGrpSpPr>
          <p:grpSpPr bwMode="auto">
            <a:xfrm>
              <a:off x="7603930" y="6274378"/>
              <a:ext cx="305508" cy="369332"/>
              <a:chOff x="8624210" y="5884526"/>
              <a:chExt cx="305508" cy="369332"/>
            </a:xfrm>
          </p:grpSpPr>
          <p:sp>
            <p:nvSpPr>
              <p:cNvPr id="102" name="Rectangle 101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9" name="TextBox 10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9" name="Group 103"/>
            <p:cNvGrpSpPr>
              <a:grpSpLocks/>
            </p:cNvGrpSpPr>
            <p:nvPr/>
          </p:nvGrpSpPr>
          <p:grpSpPr bwMode="auto">
            <a:xfrm>
              <a:off x="7281786" y="6274378"/>
              <a:ext cx="364203" cy="369332"/>
              <a:chOff x="8585738" y="5884526"/>
              <a:chExt cx="364203" cy="369332"/>
            </a:xfrm>
          </p:grpSpPr>
          <p:sp>
            <p:nvSpPr>
              <p:cNvPr id="105" name="Rectangle 104"/>
              <p:cNvSpPr/>
              <p:nvPr/>
            </p:nvSpPr>
            <p:spPr>
              <a:xfrm>
                <a:off x="8644474" y="5929007"/>
                <a:ext cx="284120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7" name="TextBox 105"/>
              <p:cNvSpPr txBox="1">
                <a:spLocks noChangeArrowheads="1"/>
              </p:cNvSpPr>
              <p:nvPr/>
            </p:nvSpPr>
            <p:spPr bwMode="auto">
              <a:xfrm>
                <a:off x="8585738" y="5884526"/>
                <a:ext cx="36420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0" name="Group 106"/>
            <p:cNvGrpSpPr>
              <a:grpSpLocks/>
            </p:cNvGrpSpPr>
            <p:nvPr/>
          </p:nvGrpSpPr>
          <p:grpSpPr bwMode="auto">
            <a:xfrm>
              <a:off x="7059632" y="6272904"/>
              <a:ext cx="286272" cy="369332"/>
              <a:chOff x="8643446" y="5884526"/>
              <a:chExt cx="286272" cy="369332"/>
            </a:xfrm>
          </p:grpSpPr>
          <p:sp>
            <p:nvSpPr>
              <p:cNvPr id="108" name="Rectangle 107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5" name="TextBox 108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1" name="Group 109"/>
            <p:cNvGrpSpPr>
              <a:grpSpLocks/>
            </p:cNvGrpSpPr>
            <p:nvPr/>
          </p:nvGrpSpPr>
          <p:grpSpPr bwMode="auto">
            <a:xfrm>
              <a:off x="6724664" y="6272904"/>
              <a:ext cx="351379" cy="369332"/>
              <a:chOff x="8592150" y="5884526"/>
              <a:chExt cx="351379" cy="369332"/>
            </a:xfrm>
          </p:grpSpPr>
          <p:sp>
            <p:nvSpPr>
              <p:cNvPr id="111" name="Rectangle 110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3" name="TextBox 111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5" name="Group 131"/>
          <p:cNvGrpSpPr>
            <a:grpSpLocks/>
          </p:cNvGrpSpPr>
          <p:nvPr/>
        </p:nvGrpSpPr>
        <p:grpSpPr bwMode="auto">
          <a:xfrm>
            <a:off x="6956425" y="5780088"/>
            <a:ext cx="1473200" cy="382587"/>
            <a:chOff x="5117255" y="6058590"/>
            <a:chExt cx="1473779" cy="382948"/>
          </a:xfrm>
        </p:grpSpPr>
        <p:grpSp>
          <p:nvGrpSpPr>
            <p:cNvPr id="11291" name="Group 112"/>
            <p:cNvGrpSpPr>
              <a:grpSpLocks/>
            </p:cNvGrpSpPr>
            <p:nvPr/>
          </p:nvGrpSpPr>
          <p:grpSpPr bwMode="auto">
            <a:xfrm>
              <a:off x="6214008" y="6058590"/>
              <a:ext cx="377026" cy="369332"/>
              <a:chOff x="8579326" y="5884526"/>
              <a:chExt cx="377026" cy="369332"/>
            </a:xfrm>
          </p:grpSpPr>
          <p:sp>
            <p:nvSpPr>
              <p:cNvPr id="114" name="Rectangle 113"/>
              <p:cNvSpPr/>
              <p:nvPr/>
            </p:nvSpPr>
            <p:spPr>
              <a:xfrm>
                <a:off x="8645080" y="5929018"/>
                <a:ext cx="284275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5" name="TextBox 114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2" name="Group 115"/>
            <p:cNvGrpSpPr>
              <a:grpSpLocks/>
            </p:cNvGrpSpPr>
            <p:nvPr/>
          </p:nvGrpSpPr>
          <p:grpSpPr bwMode="auto">
            <a:xfrm>
              <a:off x="5968808" y="6058590"/>
              <a:ext cx="311920" cy="369332"/>
              <a:chOff x="8617798" y="5884526"/>
              <a:chExt cx="311920" cy="369332"/>
            </a:xfrm>
          </p:grpSpPr>
          <p:sp>
            <p:nvSpPr>
              <p:cNvPr id="117" name="Rectangle 116"/>
              <p:cNvSpPr/>
              <p:nvPr/>
            </p:nvSpPr>
            <p:spPr>
              <a:xfrm>
                <a:off x="8644479" y="5929018"/>
                <a:ext cx="285863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3" name="TextBox 117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3" name="Group 118"/>
            <p:cNvGrpSpPr>
              <a:grpSpLocks/>
            </p:cNvGrpSpPr>
            <p:nvPr/>
          </p:nvGrpSpPr>
          <p:grpSpPr bwMode="auto">
            <a:xfrm>
              <a:off x="5707038" y="6060064"/>
              <a:ext cx="286272" cy="369332"/>
              <a:chOff x="8643446" y="5884526"/>
              <a:chExt cx="286272" cy="369332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8642858" y="5929132"/>
                <a:ext cx="287449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1" name="TextBox 12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4" name="Group 121"/>
            <p:cNvGrpSpPr>
              <a:grpSpLocks/>
            </p:cNvGrpSpPr>
            <p:nvPr/>
          </p:nvGrpSpPr>
          <p:grpSpPr bwMode="auto">
            <a:xfrm>
              <a:off x="5404130" y="6060064"/>
              <a:ext cx="305508" cy="369332"/>
              <a:chOff x="8624210" y="5884526"/>
              <a:chExt cx="305508" cy="369332"/>
            </a:xfrm>
          </p:grpSpPr>
          <p:sp>
            <p:nvSpPr>
              <p:cNvPr id="123" name="Rectangle 122"/>
              <p:cNvSpPr/>
              <p:nvPr/>
            </p:nvSpPr>
            <p:spPr>
              <a:xfrm>
                <a:off x="8643844" y="5929132"/>
                <a:ext cx="285862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9" name="TextBox 123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5" name="Group 124"/>
            <p:cNvGrpSpPr>
              <a:grpSpLocks/>
            </p:cNvGrpSpPr>
            <p:nvPr/>
          </p:nvGrpSpPr>
          <p:grpSpPr bwMode="auto">
            <a:xfrm>
              <a:off x="5117255" y="6072206"/>
              <a:ext cx="338555" cy="369332"/>
              <a:chOff x="8617197" y="5898142"/>
              <a:chExt cx="338555" cy="369332"/>
            </a:xfrm>
          </p:grpSpPr>
          <p:sp>
            <p:nvSpPr>
              <p:cNvPr id="126" name="Rectangle 125"/>
              <p:cNvSpPr/>
              <p:nvPr/>
            </p:nvSpPr>
            <p:spPr>
              <a:xfrm>
                <a:off x="8644196" y="5930607"/>
                <a:ext cx="285862" cy="2844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7" name="TextBox 126"/>
              <p:cNvSpPr txBox="1">
                <a:spLocks noChangeArrowheads="1"/>
              </p:cNvSpPr>
              <p:nvPr/>
            </p:nvSpPr>
            <p:spPr bwMode="auto">
              <a:xfrm>
                <a:off x="8617197" y="5898142"/>
                <a:ext cx="338555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2" name="Group 128"/>
          <p:cNvGrpSpPr>
            <a:grpSpLocks/>
          </p:cNvGrpSpPr>
          <p:nvPr/>
        </p:nvGrpSpPr>
        <p:grpSpPr bwMode="auto">
          <a:xfrm>
            <a:off x="4000500" y="4524375"/>
            <a:ext cx="1143000" cy="404813"/>
            <a:chOff x="5857884" y="3929066"/>
            <a:chExt cx="1143008" cy="405258"/>
          </a:xfrm>
        </p:grpSpPr>
        <p:sp>
          <p:nvSpPr>
            <p:cNvPr id="11288" name="TextBox 22"/>
            <p:cNvSpPr txBox="1">
              <a:spLocks noChangeArrowheads="1"/>
            </p:cNvSpPr>
            <p:nvPr/>
          </p:nvSpPr>
          <p:spPr bwMode="auto">
            <a:xfrm>
              <a:off x="5857884" y="3929066"/>
              <a:ext cx="642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argc: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572264" y="4000583"/>
              <a:ext cx="428628" cy="286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11290" name="TextBox 127"/>
            <p:cNvSpPr txBox="1">
              <a:spLocks noChangeArrowheads="1"/>
            </p:cNvSpPr>
            <p:nvPr/>
          </p:nvSpPr>
          <p:spPr bwMode="auto">
            <a:xfrm>
              <a:off x="6644116" y="3964992"/>
              <a:ext cx="30008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6" name="Straight Arrow Connector 135"/>
          <p:cNvCxnSpPr>
            <a:stCxn id="27" idx="2"/>
            <a:endCxn id="11313" idx="0"/>
          </p:cNvCxnSpPr>
          <p:nvPr/>
        </p:nvCxnSpPr>
        <p:spPr>
          <a:xfrm rot="5400000">
            <a:off x="7352507" y="5066506"/>
            <a:ext cx="404812" cy="349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/>
          <p:cNvCxnSpPr/>
          <p:nvPr/>
        </p:nvCxnSpPr>
        <p:spPr>
          <a:xfrm rot="5400000">
            <a:off x="7321551" y="5035550"/>
            <a:ext cx="500062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/>
          <p:nvPr/>
        </p:nvCxnSpPr>
        <p:spPr>
          <a:xfrm rot="5400000">
            <a:off x="6644481" y="5287169"/>
            <a:ext cx="1000125" cy="1588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rot="5400000">
            <a:off x="5967413" y="5537200"/>
            <a:ext cx="1500188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Arrow Connector 143"/>
          <p:cNvCxnSpPr/>
          <p:nvPr/>
        </p:nvCxnSpPr>
        <p:spPr>
          <a:xfrm rot="5400000">
            <a:off x="5964238" y="4465638"/>
            <a:ext cx="642937" cy="1587"/>
          </a:xfrm>
          <a:prstGeom prst="straightConnector1">
            <a:avLst/>
          </a:prstGeom>
          <a:ln w="19050">
            <a:headEnd type="stealt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7071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 conversions</a:t>
            </a:r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4560888" y="3616325"/>
            <a:ext cx="3827462" cy="290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FF0000"/>
                </a:solidFill>
                <a:latin typeface="Times New Roman" panose="02020603050405020304" pitchFamily="18" charset="0"/>
              </a:rPr>
              <a:t>int atoi(char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double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0000FF"/>
                </a:solidFill>
                <a:latin typeface="Times New Roman" panose="02020603050405020304" pitchFamily="18" charset="0"/>
              </a:rPr>
              <a:t>float atof(char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long atol(char *str)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13316" name="Text Box 6"/>
          <p:cNvSpPr txBox="1">
            <a:spLocks noChangeArrowheads="1"/>
          </p:cNvSpPr>
          <p:nvPr/>
        </p:nvSpPr>
        <p:spPr bwMode="auto">
          <a:xfrm>
            <a:off x="527050" y="1885950"/>
            <a:ext cx="71405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main(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, char *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reportError</a:t>
            </a:r>
            <a:r>
              <a:rPr lang="en-US" altLang="nl-BE" sz="1800" dirty="0"/>
              <a:t>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exit(1);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double x = </a:t>
            </a:r>
            <a:r>
              <a:rPr lang="en-US" altLang="nl-BE" sz="1800" dirty="0" err="1">
                <a:solidFill>
                  <a:srgbClr val="0000FF"/>
                </a:solidFill>
              </a:rPr>
              <a:t>atof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 = </a:t>
            </a:r>
            <a:r>
              <a:rPr lang="en-US" altLang="nl-BE" sz="1800" dirty="0" err="1">
                <a:solidFill>
                  <a:srgbClr val="FF0000"/>
                </a:solidFill>
              </a:rPr>
              <a:t>atoi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printf</a:t>
            </a:r>
            <a:r>
              <a:rPr lang="en-US" altLang="nl-BE" sz="1800" dirty="0"/>
              <a:t>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27655" name="Text Box 7"/>
          <p:cNvSpPr txBox="1">
            <a:spLocks noChangeArrowheads="1"/>
          </p:cNvSpPr>
          <p:nvPr/>
        </p:nvSpPr>
        <p:spPr bwMode="auto">
          <a:xfrm>
            <a:off x="1547813" y="5516563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4376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Exit status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2674938"/>
            <a:ext cx="4543425" cy="406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107950" y="500063"/>
            <a:ext cx="6442075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void reportError(char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6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int main(int argc, char *argv[])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printf(“%d arguments\n”, argc);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(argc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FF0000"/>
                </a:solidFill>
              </a:rPr>
              <a:t>exit(1)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double x = atof(argv[1]);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int n = atoi(argv[2]);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return </a:t>
            </a:r>
            <a:r>
              <a:rPr lang="en-US" altLang="nl-BE" sz="1600">
                <a:solidFill>
                  <a:schemeClr val="folHlink"/>
                </a:solidFill>
              </a:rPr>
              <a:t>EXIT_SUCCESS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double power(double x, 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(n &lt; 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reportError("exponent should be positive");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0000FF"/>
                </a:solidFill>
              </a:rPr>
              <a:t>exit(2)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double p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for (i = 1; i &lt;=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    p *=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return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547813" y="4652963"/>
            <a:ext cx="2879725" cy="288925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1331913" y="2205038"/>
            <a:ext cx="3095625" cy="1655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9" name="Line 9"/>
          <p:cNvSpPr>
            <a:spLocks noChangeShapeType="1"/>
          </p:cNvSpPr>
          <p:nvPr/>
        </p:nvSpPr>
        <p:spPr bwMode="auto">
          <a:xfrm>
            <a:off x="2700338" y="3500438"/>
            <a:ext cx="1727200" cy="2376487"/>
          </a:xfrm>
          <a:prstGeom prst="line">
            <a:avLst/>
          </a:prstGeom>
          <a:noFill/>
          <a:ln w="19050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621463" y="1125538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5623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7" grpId="0" animBg="1"/>
      <p:bldP spid="30728" grpId="0" animBg="1"/>
      <p:bldP spid="30729" grpId="0" animBg="1"/>
      <p:bldP spid="30730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 and C11 extensions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https://github.com/gjbex/training-material/tree/master/C/C99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12624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ANSI C standard in 1989: ANSI C or C89</a:t>
            </a:r>
          </a:p>
          <a:p>
            <a:r>
              <a:rPr lang="en-US" dirty="0"/>
              <a:t>Update in 1999: C99 standard</a:t>
            </a:r>
          </a:p>
          <a:p>
            <a:pPr lvl="1"/>
            <a:r>
              <a:rPr lang="en-US" dirty="0"/>
              <a:t>IEEE 754 floating point support</a:t>
            </a:r>
          </a:p>
          <a:p>
            <a:pPr lvl="1"/>
            <a:r>
              <a:rPr lang="en-US" dirty="0"/>
              <a:t>inline functions</a:t>
            </a:r>
          </a:p>
          <a:p>
            <a:pPr lvl="1"/>
            <a:r>
              <a:rPr lang="en-US" dirty="0"/>
              <a:t>intermingled declarations &amp; code</a:t>
            </a:r>
          </a:p>
          <a:p>
            <a:pPr lvl="1"/>
            <a:r>
              <a:rPr lang="en-US" dirty="0"/>
              <a:t>Boolean &amp; complex type</a:t>
            </a:r>
          </a:p>
          <a:p>
            <a:pPr lvl="1"/>
            <a:r>
              <a:rPr lang="en-US" dirty="0"/>
              <a:t>variable length arrays</a:t>
            </a:r>
          </a:p>
          <a:p>
            <a:pPr lvl="1"/>
            <a:r>
              <a:rPr lang="en-US" dirty="0"/>
              <a:t>flexible arrays members</a:t>
            </a:r>
          </a:p>
          <a:p>
            <a:pPr lvl="1"/>
            <a:r>
              <a:rPr lang="en-US" dirty="0"/>
              <a:t>one line comment: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// …</a:t>
            </a:r>
          </a:p>
          <a:p>
            <a:pPr lvl="1"/>
            <a:r>
              <a:rPr lang="en-US" dirty="0"/>
              <a:t>restrict keyword</a:t>
            </a: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Update in 2011: C11 standard</a:t>
            </a:r>
          </a:p>
          <a:p>
            <a:pPr lvl="1"/>
            <a:r>
              <a:rPr lang="en-US" dirty="0"/>
              <a:t>variable length arrays are optional feature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gets</a:t>
            </a:r>
            <a:r>
              <a:rPr lang="en-US" dirty="0"/>
              <a:t> function removed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131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5508104" y="3645024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182150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 754 floating point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dirty="0"/>
              <a:t>: 4 byte, single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dirty="0"/>
              <a:t>: 8 byte, double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</a:t>
            </a:r>
            <a:r>
              <a:rPr lang="en-US" dirty="0"/>
              <a:t>: 12 byte, extended precision</a:t>
            </a:r>
          </a:p>
          <a:p>
            <a:r>
              <a:rPr lang="en-US" dirty="0"/>
              <a:t>Rounding well-defined</a:t>
            </a:r>
          </a:p>
          <a:p>
            <a:r>
              <a:rPr lang="en-US" dirty="0"/>
              <a:t>Support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699792" y="5157192"/>
            <a:ext cx="305859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33938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 call: expensive</a:t>
            </a:r>
          </a:p>
          <a:p>
            <a:pPr lvl="1"/>
            <a:r>
              <a:rPr lang="en-US" dirty="0"/>
              <a:t>call stack must be maintained</a:t>
            </a:r>
          </a:p>
          <a:p>
            <a:pPr lvl="1"/>
            <a:r>
              <a:rPr lang="en-US" dirty="0"/>
              <a:t>stack variables allocated, initialized</a:t>
            </a:r>
          </a:p>
          <a:p>
            <a:r>
              <a:rPr lang="en-US" dirty="0"/>
              <a:t>Small functions, called often: lots of overhead</a:t>
            </a:r>
          </a:p>
          <a:p>
            <a:r>
              <a:rPr lang="en-US" dirty="0"/>
              <a:t>Inline functions: function code inserted in caller</a:t>
            </a:r>
          </a:p>
          <a:p>
            <a:pPr lvl="1"/>
            <a:r>
              <a:rPr lang="en-US" dirty="0"/>
              <a:t>good compilers try that anyway</a:t>
            </a:r>
          </a:p>
          <a:p>
            <a:pPr lvl="1"/>
            <a:r>
              <a:rPr lang="en-US" dirty="0"/>
              <a:t>helping compilers: better optimization!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133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5202259"/>
            <a:ext cx="309571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inline</a:t>
            </a:r>
            <a:r>
              <a:rPr lang="en-US" altLang="nl-BE" sz="1800" dirty="0"/>
              <a:t> double </a:t>
            </a:r>
            <a:r>
              <a:rPr lang="en-US" altLang="nl-BE" sz="1800" dirty="0" err="1"/>
              <a:t>sqr</a:t>
            </a:r>
            <a:r>
              <a:rPr lang="en-US" altLang="nl-BE" sz="1800" dirty="0"/>
              <a:t>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x*x;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420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6084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C89</a:t>
            </a:r>
          </a:p>
          <a:p>
            <a:pPr lvl="1"/>
            <a:r>
              <a:rPr lang="en-US" dirty="0"/>
              <a:t>true: non-zero integer, non-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en-US" dirty="0"/>
              <a:t> pointer</a:t>
            </a:r>
          </a:p>
          <a:p>
            <a:pPr lvl="1"/>
            <a:r>
              <a:rPr lang="en-US" dirty="0"/>
              <a:t>false: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</a:p>
          <a:p>
            <a:r>
              <a:rPr lang="en-US" dirty="0"/>
              <a:t>C99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</a:t>
            </a:r>
            <a:r>
              <a:rPr lang="en-US" dirty="0"/>
              <a:t> (declared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stdbool.h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134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5940152" y="2386032"/>
            <a:ext cx="2935419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stdbool.h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n = …;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bool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if (n &lt; 2)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false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true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while (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n &amp;&amp;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(n %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 ==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("%</a:t>
            </a:r>
            <a:r>
              <a:rPr lang="en-US" altLang="nl-BE" sz="1800" dirty="0" err="1"/>
              <a:t>sprime</a:t>
            </a:r>
            <a:r>
              <a:rPr lang="en-US" altLang="nl-BE" sz="1800" dirty="0"/>
              <a:t>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? "" : "not ");</a:t>
            </a:r>
          </a:p>
        </p:txBody>
      </p:sp>
    </p:spTree>
    <p:extLst>
      <p:ext uri="{BB962C8B-B14F-4D97-AF65-F5344CB8AC3E}">
        <p14:creationId xmlns:p14="http://schemas.microsoft.com/office/powerpoint/2010/main" val="36299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 complex</a:t>
            </a:r>
            <a:r>
              <a:rPr lang="en-US" dirty="0"/>
              <a:t>: single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 complex</a:t>
            </a:r>
            <a:r>
              <a:rPr lang="en-US" dirty="0"/>
              <a:t>: double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 complex</a:t>
            </a:r>
            <a:r>
              <a:rPr lang="en-US" dirty="0"/>
              <a:t>: extended precision</a:t>
            </a:r>
          </a:p>
          <a:p>
            <a:r>
              <a:rPr lang="en-US" dirty="0"/>
              <a:t>Declarations in </a:t>
            </a:r>
            <a:r>
              <a:rPr lang="en-US" dirty="0" err="1"/>
              <a:t>complex.h</a:t>
            </a:r>
            <a:endParaRPr lang="en-US" dirty="0"/>
          </a:p>
          <a:p>
            <a:pPr lvl="1"/>
            <a:r>
              <a:rPr lang="en-US" dirty="0"/>
              <a:t>types</a:t>
            </a:r>
          </a:p>
          <a:p>
            <a:pPr lvl="1"/>
            <a:r>
              <a:rPr lang="en-US" dirty="0"/>
              <a:t>literal: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lvl="1"/>
            <a:r>
              <a:rPr lang="en-US" dirty="0"/>
              <a:t>functions, e.g.,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creal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cimag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csqrt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cexp</a:t>
            </a:r>
            <a:r>
              <a:rPr lang="en-US" dirty="0"/>
              <a:t>,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6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136</a:t>
            </a:fld>
            <a:endParaRPr lang="nl-BE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71600" y="2204864"/>
            <a:ext cx="472437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complex.h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double complex</a:t>
            </a:r>
            <a:r>
              <a:rPr lang="en-US" altLang="nl-BE" sz="1800" dirty="0"/>
              <a:t> z = 1.0 + 2.0*</a:t>
            </a:r>
            <a:r>
              <a:rPr lang="en-US" altLang="nl-BE" sz="1800" b="1" dirty="0">
                <a:solidFill>
                  <a:srgbClr val="C00000"/>
                </a:solidFill>
              </a:rPr>
              <a:t>I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("z = %lf%+lf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\n", </a:t>
            </a:r>
            <a:r>
              <a:rPr lang="en-US" altLang="nl-BE" sz="1800" b="1" dirty="0" err="1">
                <a:solidFill>
                  <a:srgbClr val="C00000"/>
                </a:solidFill>
              </a:rPr>
              <a:t>creal</a:t>
            </a:r>
            <a:r>
              <a:rPr lang="en-US" altLang="nl-BE" sz="1800" dirty="0"/>
              <a:t>(z), </a:t>
            </a:r>
            <a:r>
              <a:rPr lang="en-US" altLang="nl-BE" sz="1800" b="1" dirty="0" err="1">
                <a:solidFill>
                  <a:srgbClr val="C00000"/>
                </a:solidFill>
              </a:rPr>
              <a:t>cimag</a:t>
            </a:r>
            <a:r>
              <a:rPr lang="en-US" altLang="nl-BE" sz="1800" dirty="0"/>
              <a:t>(z));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conj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csqrt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</a:t>
            </a:r>
            <a:r>
              <a:rPr lang="en-US" altLang="nl-BE" sz="1800" dirty="0"/>
              <a:t> =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  <a:r>
              <a:rPr lang="en-US" altLang="nl-BE" sz="1800" dirty="0"/>
              <a:t> </a:t>
            </a:r>
            <a:r>
              <a:rPr lang="en-US" altLang="nl-BE" sz="1800" dirty="0" err="1"/>
              <a:t>z_sqrt</a:t>
            </a:r>
            <a:r>
              <a:rPr lang="en-US" altLang="nl-BE" sz="1800" b="1" dirty="0">
                <a:solidFill>
                  <a:srgbClr val="C00000"/>
                </a:solidFill>
              </a:rPr>
              <a:t>*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156550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Length of stack array need not be known at compile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996952"/>
            <a:ext cx="459613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void sort(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a[],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[n];  // use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 as temporary array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// do sort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88307"/>
            <a:ext cx="73223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array on stack, so lifetime restricted to scope, i.e.,</a:t>
            </a:r>
            <a:br>
              <a:rPr lang="en-US" sz="2400" dirty="0"/>
            </a:br>
            <a:r>
              <a:rPr lang="en-US" sz="2400" dirty="0"/>
              <a:t>         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malloc</a:t>
            </a:r>
            <a:r>
              <a:rPr lang="en-US" sz="2400" dirty="0"/>
              <a:t>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sz="2400" dirty="0"/>
              <a:t> still required for dynamic memory</a:t>
            </a:r>
          </a:p>
        </p:txBody>
      </p:sp>
    </p:spTree>
    <p:extLst>
      <p:ext uri="{BB962C8B-B14F-4D97-AF65-F5344CB8AC3E}">
        <p14:creationId xmlns:p14="http://schemas.microsoft.com/office/powerpoint/2010/main" val="174202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array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member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struct</a:t>
            </a:r>
            <a:r>
              <a:rPr lang="en-US" dirty="0"/>
              <a:t> can be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138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132856"/>
            <a:ext cx="6912768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 err="1"/>
              <a:t>typedef</a:t>
            </a:r>
            <a:r>
              <a:rPr lang="fr-FR" altLang="nl-BE" sz="1800" dirty="0"/>
              <a:t> </a:t>
            </a:r>
            <a:r>
              <a:rPr lang="fr-FR" altLang="nl-BE" sz="1800" dirty="0" err="1"/>
              <a:t>struct</a:t>
            </a:r>
            <a:r>
              <a:rPr lang="fr-FR" altLang="nl-BE" sz="1800" dirty="0"/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dirty="0" err="1"/>
              <a:t>int</a:t>
            </a:r>
            <a:r>
              <a:rPr lang="fr-FR" altLang="nl-BE" sz="1800" dirty="0"/>
              <a:t> </a:t>
            </a:r>
            <a:r>
              <a:rPr lang="fr-FR" altLang="nl-BE" sz="1800" dirty="0" err="1"/>
              <a:t>dims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b="1" dirty="0">
                <a:solidFill>
                  <a:srgbClr val="C00000"/>
                </a:solidFill>
              </a:rPr>
              <a:t>double position[]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} </a:t>
            </a:r>
            <a:r>
              <a:rPr lang="fr-FR" altLang="nl-BE" sz="1800" dirty="0" err="1"/>
              <a:t>Particle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nl-BE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Particle *</a:t>
            </a:r>
            <a:r>
              <a:rPr lang="en-US" altLang="nl-BE" sz="1800" dirty="0" err="1"/>
              <a:t>init_particle</a:t>
            </a:r>
            <a:r>
              <a:rPr lang="en-US" altLang="nl-BE" sz="1800" dirty="0"/>
              <a:t>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dims)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 *particle = (Particle *) </a:t>
            </a:r>
            <a:r>
              <a:rPr lang="en-US" altLang="nl-BE" sz="1800" dirty="0" err="1"/>
              <a:t>malloc</a:t>
            </a:r>
            <a:r>
              <a:rPr lang="en-US" altLang="nl-BE" sz="1800" dirty="0"/>
              <a:t>(</a:t>
            </a:r>
            <a:r>
              <a:rPr lang="en-US" altLang="nl-BE" sz="1800" dirty="0" err="1"/>
              <a:t>sizeof</a:t>
            </a:r>
            <a:r>
              <a:rPr lang="en-US" altLang="nl-BE" sz="1800" dirty="0"/>
              <a:t>(Particle)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                                                               dims*</a:t>
            </a:r>
            <a:r>
              <a:rPr lang="en-US" altLang="nl-BE" sz="1800" b="1" dirty="0" err="1">
                <a:solidFill>
                  <a:srgbClr val="C00000"/>
                </a:solidFill>
              </a:rPr>
              <a:t>sizeof</a:t>
            </a:r>
            <a:r>
              <a:rPr lang="en-US" altLang="nl-BE" sz="1800" b="1" dirty="0">
                <a:solidFill>
                  <a:srgbClr val="C00000"/>
                </a:solidFill>
              </a:rPr>
              <a:t>(double)</a:t>
            </a:r>
            <a:r>
              <a:rPr lang="en-US" altLang="nl-BE" sz="1800" dirty="0"/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(particle == NULL) // panic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particle-&gt;mass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particle-&gt;dims = dims;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for 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0;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dims;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particle-&gt;position[</a:t>
            </a:r>
            <a:r>
              <a:rPr lang="en-US" altLang="nl-BE" sz="1800" dirty="0" err="1"/>
              <a:t>i</a:t>
            </a:r>
            <a:r>
              <a:rPr lang="en-US" altLang="nl-BE" sz="1800" dirty="0"/>
              <a:t>]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92280" y="2996952"/>
            <a:ext cx="15420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When done,</a:t>
            </a:r>
          </a:p>
          <a:p>
            <a:r>
              <a:rPr lang="en-US" dirty="0"/>
              <a:t>single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dirty="0"/>
              <a:t> call</a:t>
            </a:r>
          </a:p>
        </p:txBody>
      </p:sp>
    </p:spTree>
    <p:extLst>
      <p:ext uri="{BB962C8B-B14F-4D97-AF65-F5344CB8AC3E}">
        <p14:creationId xmlns:p14="http://schemas.microsoft.com/office/powerpoint/2010/main" val="411748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Arrays in C</a:t>
            </a:r>
          </a:p>
          <a:p>
            <a:pPr lvl="1"/>
            <a:r>
              <a:rPr lang="en-US" dirty="0"/>
              <a:t>address of first element</a:t>
            </a:r>
          </a:p>
          <a:p>
            <a:pPr lvl="1"/>
            <a:r>
              <a:rPr lang="en-US" dirty="0"/>
              <a:t>no semantics for compiler</a:t>
            </a:r>
          </a:p>
          <a:p>
            <a:r>
              <a:rPr lang="en-US" dirty="0"/>
              <a:t>Multiple arrays as function arguments</a:t>
            </a:r>
          </a:p>
          <a:p>
            <a:pPr lvl="1"/>
            <a:r>
              <a:rPr lang="en-US" dirty="0"/>
              <a:t>do they overlap?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Help compiler, use restrict</a:t>
            </a:r>
          </a:p>
          <a:p>
            <a:pPr lvl="1"/>
            <a:r>
              <a:rPr lang="en-US" dirty="0"/>
              <a:t>programmer's assurance to compiler that arrays don't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400" y="4077072"/>
            <a:ext cx="6933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Many optimizations, vectorization cannot be done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6056591"/>
            <a:ext cx="6246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daxpy_r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z, double a,</a:t>
            </a:r>
            <a:b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x,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y,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n);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75598"/>
              </p:ext>
            </p:extLst>
          </p:nvPr>
        </p:nvGraphicFramePr>
        <p:xfrm>
          <a:off x="6958674" y="5872163"/>
          <a:ext cx="1258886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253800" progId="Equation.3">
                  <p:embed/>
                </p:oleObj>
              </mc:Choice>
              <mc:Fallback>
                <p:oleObj name="Equation" r:id="rId2" imgW="660240" imgH="253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958674" y="5872163"/>
                        <a:ext cx="1258886" cy="484187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8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1FC0E-2D2F-D1E0-4393-1FDF4828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5C44D-7076-74DD-9BCD-5457F3D90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US" dirty="0"/>
              <a:t> versus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dirty="0"/>
              <a:t>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sin(double)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(float)</a:t>
            </a:r>
          </a:p>
          <a:p>
            <a:r>
              <a:rPr lang="en-US" dirty="0"/>
              <a:t>Performance pitfall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r>
              <a:rPr lang="en-US" dirty="0"/>
              <a:t>: implementation decided by compiler based on argument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1B22C-C903-2AD5-85AE-97011BA7F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83360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 &amp; code can be intermingled</a:t>
            </a:r>
          </a:p>
          <a:p>
            <a:pPr lvl="1"/>
            <a:r>
              <a:rPr lang="en-US" dirty="0"/>
              <a:t>declare variables as soon as needed, not earlier</a:t>
            </a:r>
          </a:p>
          <a:p>
            <a:pPr lvl="1"/>
            <a:r>
              <a:rPr lang="en-US" dirty="0"/>
              <a:t>declaration of iteration variables in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n-US" dirty="0"/>
              <a:t>-statement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One-line 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763688" y="3212976"/>
            <a:ext cx="38363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a[n] = …;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if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is_verbose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fprintf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stderr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"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array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initialized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\n");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= 0.0;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 = 0; i &lt; n; i++)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+= a[i];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688" y="5798145"/>
            <a:ext cx="45448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= 0;  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holds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of items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srand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(n);</a:t>
            </a:r>
          </a:p>
        </p:txBody>
      </p:sp>
    </p:spTree>
    <p:extLst>
      <p:ext uri="{BB962C8B-B14F-4D97-AF65-F5344CB8AC3E}">
        <p14:creationId xmlns:p14="http://schemas.microsoft.com/office/powerpoint/2010/main" val="352415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GSl</a:t>
            </a:r>
            <a:r>
              <a:rPr lang="en-US" dirty="0"/>
              <a:t>: GNU Scientific Library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https://github.com/gjbex/training-material/tree/master/Math/GSL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764680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lnSpcReduction="10000"/>
          </a:bodyPr>
          <a:lstStyle/>
          <a:p>
            <a:r>
              <a:rPr lang="en-US" sz="4000" b="1" dirty="0"/>
              <a:t>G</a:t>
            </a:r>
            <a:r>
              <a:rPr lang="en-US" dirty="0"/>
              <a:t>nu </a:t>
            </a:r>
            <a:r>
              <a:rPr lang="en-US" sz="4000" b="1" dirty="0"/>
              <a:t>S</a:t>
            </a:r>
            <a:r>
              <a:rPr lang="en-US" dirty="0"/>
              <a:t>cientific </a:t>
            </a:r>
            <a:r>
              <a:rPr lang="en-US" sz="4000" b="1" dirty="0"/>
              <a:t>L</a:t>
            </a:r>
            <a:r>
              <a:rPr lang="en-US" dirty="0"/>
              <a:t>ibrary</a:t>
            </a:r>
          </a:p>
          <a:p>
            <a:r>
              <a:rPr lang="en-US" dirty="0"/>
              <a:t>Data structures</a:t>
            </a:r>
          </a:p>
          <a:p>
            <a:pPr lvl="1"/>
            <a:r>
              <a:rPr lang="en-US" dirty="0"/>
              <a:t>Complex numbers</a:t>
            </a:r>
          </a:p>
          <a:p>
            <a:pPr lvl="1"/>
            <a:r>
              <a:rPr lang="en-US" dirty="0"/>
              <a:t>Vectors &amp; matrices</a:t>
            </a:r>
          </a:p>
          <a:p>
            <a:pPr lvl="1"/>
            <a:r>
              <a:rPr lang="en-US" dirty="0"/>
              <a:t>Permutations &amp; combinations</a:t>
            </a:r>
          </a:p>
          <a:p>
            <a:pPr lvl="1"/>
            <a:r>
              <a:rPr lang="en-US" dirty="0" err="1"/>
              <a:t>Multisets</a:t>
            </a:r>
            <a:endParaRPr lang="en-US" dirty="0"/>
          </a:p>
          <a:p>
            <a:pPr lvl="1"/>
            <a:r>
              <a:rPr lang="en-US" dirty="0"/>
              <a:t>Histograms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tuples</a:t>
            </a:r>
            <a:endParaRPr lang="en-US" dirty="0"/>
          </a:p>
          <a:p>
            <a:r>
              <a:rPr lang="en-US" dirty="0"/>
              <a:t>Special functions &amp; physical 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250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Algorithms</a:t>
            </a:r>
          </a:p>
          <a:p>
            <a:pPr lvl="1"/>
            <a:r>
              <a:rPr lang="en-US" dirty="0"/>
              <a:t>Root finding (polynomials, general one-dimensional, multidimensional)</a:t>
            </a:r>
          </a:p>
          <a:p>
            <a:pPr lvl="1"/>
            <a:r>
              <a:rPr lang="en-US" dirty="0"/>
              <a:t>Linear algebra (LU, QR, </a:t>
            </a:r>
            <a:r>
              <a:rPr lang="en-US" dirty="0" err="1"/>
              <a:t>Cholesky</a:t>
            </a:r>
            <a:r>
              <a:rPr lang="en-US" dirty="0"/>
              <a:t>,…)</a:t>
            </a:r>
          </a:p>
          <a:p>
            <a:pPr lvl="1"/>
            <a:r>
              <a:rPr lang="en-US" dirty="0" err="1"/>
              <a:t>Eigensystems</a:t>
            </a:r>
            <a:endParaRPr lang="en-US" dirty="0"/>
          </a:p>
          <a:p>
            <a:pPr lvl="1"/>
            <a:r>
              <a:rPr lang="en-US" dirty="0"/>
              <a:t>Fast Fourier transform, wavelet transform, discrete </a:t>
            </a:r>
            <a:r>
              <a:rPr lang="en-US" dirty="0" err="1"/>
              <a:t>Hankel</a:t>
            </a:r>
            <a:r>
              <a:rPr lang="en-US" dirty="0"/>
              <a:t> transforms</a:t>
            </a:r>
          </a:p>
          <a:p>
            <a:pPr lvl="1"/>
            <a:r>
              <a:rPr lang="en-US" dirty="0" err="1"/>
              <a:t>Quadratures</a:t>
            </a:r>
            <a:r>
              <a:rPr lang="en-US" dirty="0"/>
              <a:t> (classic, Monte Carlo)</a:t>
            </a:r>
          </a:p>
          <a:p>
            <a:pPr lvl="1"/>
            <a:r>
              <a:rPr lang="en-US" dirty="0"/>
              <a:t>Random number generators, sequences, distributions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 err="1"/>
              <a:t>Oridinary</a:t>
            </a:r>
            <a:r>
              <a:rPr lang="en-US" dirty="0"/>
              <a:t> differential equations</a:t>
            </a:r>
          </a:p>
          <a:p>
            <a:pPr lvl="1"/>
            <a:r>
              <a:rPr lang="en-US" dirty="0"/>
              <a:t>Interpolation, </a:t>
            </a:r>
            <a:r>
              <a:rPr lang="en-US" dirty="0" err="1"/>
              <a:t>splines</a:t>
            </a:r>
            <a:endParaRPr lang="en-US" dirty="0"/>
          </a:p>
          <a:p>
            <a:pPr lvl="1"/>
            <a:r>
              <a:rPr lang="en-US" dirty="0" err="1"/>
              <a:t>Chebyshev</a:t>
            </a:r>
            <a:r>
              <a:rPr lang="en-US" dirty="0"/>
              <a:t> approximation</a:t>
            </a:r>
          </a:p>
          <a:p>
            <a:pPr lvl="1"/>
            <a:r>
              <a:rPr lang="en-US" dirty="0"/>
              <a:t>Numerical differentiation</a:t>
            </a:r>
          </a:p>
          <a:p>
            <a:pPr lvl="1"/>
            <a:r>
              <a:rPr lang="en-US" dirty="0"/>
              <a:t>Minimization (one-dimensional, multidimensional)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15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how to use it?</a:t>
            </a:r>
            <a:endParaRPr lang="nl-BE" dirty="0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2060848"/>
            <a:ext cx="5477782" cy="2862322"/>
            <a:chOff x="1043608" y="2060848"/>
            <a:chExt cx="5477782" cy="2862322"/>
          </a:xfrm>
        </p:grpSpPr>
        <p:sp>
          <p:nvSpPr>
            <p:cNvPr id="10" name="Rectangle 2"/>
            <p:cNvSpPr>
              <a:spLocks noChangeArrowheads="1"/>
            </p:cNvSpPr>
            <p:nvPr/>
          </p:nvSpPr>
          <p:spPr bwMode="auto">
            <a:xfrm>
              <a:off x="1043608" y="2060848"/>
              <a:ext cx="5477782" cy="286232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CC =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gcc</a:t>
              </a: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 = -O2 -g 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std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=c99 -Wall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CPPFLAGS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LDFLAGS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--libs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all: pendulum.exe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%.exe: %.o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-o $@ $^ $(LDFLAGS)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%.o: %.c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-c -o $@ $&lt;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clean: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rm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-f *.o *.exe core</a:t>
              </a: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77514" y="4615393"/>
              <a:ext cx="1043876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11960" y="5566380"/>
            <a:ext cx="338227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part of standard Linux distros,</a:t>
            </a:r>
            <a:br>
              <a:rPr lang="en-US" dirty="0"/>
            </a:br>
            <a:r>
              <a:rPr lang="en-US" dirty="0"/>
              <a:t>use package manager to install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2145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double (default)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long double</a:t>
            </a:r>
          </a:p>
          <a:p>
            <a:pPr lvl="1"/>
            <a:r>
              <a:rPr lang="en-US" dirty="0"/>
              <a:t>complex double</a:t>
            </a:r>
          </a:p>
          <a:p>
            <a:pPr lvl="1"/>
            <a:r>
              <a:rPr lang="en-US" dirty="0"/>
              <a:t>complex float</a:t>
            </a:r>
          </a:p>
          <a:p>
            <a:pPr lvl="1"/>
            <a:r>
              <a:rPr lang="en-US" dirty="0"/>
              <a:t>complex long double</a:t>
            </a:r>
          </a:p>
          <a:p>
            <a:pPr lvl="1"/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en-US" dirty="0" err="1"/>
              <a:t>uint</a:t>
            </a:r>
            <a:endParaRPr lang="en-US" dirty="0"/>
          </a:p>
          <a:p>
            <a:pPr lvl="1"/>
            <a:r>
              <a:rPr lang="en-US" dirty="0"/>
              <a:t>long</a:t>
            </a:r>
          </a:p>
          <a:p>
            <a:pPr lvl="1"/>
            <a:r>
              <a:rPr lang="en-US" dirty="0" err="1"/>
              <a:t>ulong</a:t>
            </a:r>
            <a:endParaRPr lang="en-US" dirty="0"/>
          </a:p>
          <a:p>
            <a:pPr lvl="1"/>
            <a:r>
              <a:rPr lang="en-US" dirty="0"/>
              <a:t>short</a:t>
            </a:r>
          </a:p>
          <a:p>
            <a:pPr lvl="1"/>
            <a:r>
              <a:rPr lang="en-US" dirty="0" err="1"/>
              <a:t>ushort</a:t>
            </a:r>
            <a:endParaRPr lang="en-US" dirty="0"/>
          </a:p>
          <a:p>
            <a:pPr lvl="1"/>
            <a:r>
              <a:rPr lang="en-US" dirty="0"/>
              <a:t>char</a:t>
            </a:r>
          </a:p>
          <a:p>
            <a:pPr lvl="1"/>
            <a:r>
              <a:rPr lang="en-US" dirty="0" err="1"/>
              <a:t>uchar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285104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958011"/>
          </a:xfrm>
        </p:spPr>
        <p:txBody>
          <a:bodyPr>
            <a:normAutofit/>
          </a:bodyPr>
          <a:lstStyle/>
          <a:p>
            <a:r>
              <a:rPr lang="en-US" dirty="0"/>
              <a:t>Creating a vector and a matrix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pPr lvl="1">
              <a:buNone/>
            </a:pP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481858"/>
            <a:ext cx="5554726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(size);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 0;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&lt; size;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gsl_matrix *m = gsl_matrix_alloc(rows, cols);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for (i = 0; i &lt; rows; i++)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    gsl_matrix_set(m, i, j, sqrt(i*cols + j));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263811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reading &amp; writing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47031"/>
            <a:ext cx="6526146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FILE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rows = 3, cols = 3;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fopen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("matrices.txt", "r")) == NULL)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err(EXIT_FAILURE, "can't open file");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b,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750" y="4725144"/>
            <a:ext cx="2117887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-5.3    -7.2   2.3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1.2    -1.3  -3.5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0.3     0.0  -9.1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4.3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0.0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818" y="4779396"/>
            <a:ext cx="2016224" cy="720080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255802" y="5606996"/>
            <a:ext cx="504056" cy="648072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236296" y="4293096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matrices.txt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27857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 BLAS: complex multiplication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Matrix-vector product (level 2 BLAS)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2276872"/>
            <a:ext cx="8577989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gsl_math.h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rows;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*M_PI, -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(m,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gsl_blas_zgemv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CblasNoTrans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alpha, m, v, beta, 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…</a:t>
            </a:r>
          </a:p>
        </p:txBody>
      </p:sp>
      <p:graphicFrame>
        <p:nvGraphicFramePr>
          <p:cNvPr id="19458" name="Object 2"/>
          <p:cNvGraphicFramePr>
            <a:graphicFrameLocks noChangeAspect="1"/>
          </p:cNvGraphicFramePr>
          <p:nvPr/>
        </p:nvGraphicFramePr>
        <p:xfrm>
          <a:off x="3059832" y="6021288"/>
          <a:ext cx="233045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244600" imgH="203200" progId="Equation.3">
                  <p:embed/>
                </p:oleObj>
              </mc:Choice>
              <mc:Fallback>
                <p:oleObj name="Vergelijking" r:id="rId2" imgW="1244600" imgH="203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6021288"/>
                        <a:ext cx="233045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6149837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84" y="1447031"/>
            <a:ext cx="693972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*P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gsl_linalg_LU_decomp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&amp;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gsl_linalg_LU_solve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b, x);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aphicFrame>
        <p:nvGraphicFramePr>
          <p:cNvPr id="37890" name="Object 2"/>
          <p:cNvGraphicFramePr>
            <a:graphicFrameLocks noChangeAspect="1"/>
          </p:cNvGraphicFramePr>
          <p:nvPr/>
        </p:nvGraphicFramePr>
        <p:xfrm>
          <a:off x="1763688" y="5373216"/>
          <a:ext cx="1427162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761669" imgH="177723" progId="Equation.3">
                  <p:embed/>
                </p:oleObj>
              </mc:Choice>
              <mc:Fallback>
                <p:oleObj name="Vergelijking" r:id="rId2" imgW="761669" imgH="177723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5373216"/>
                        <a:ext cx="1427162" cy="331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4390851" y="4822080"/>
          <a:ext cx="3565525" cy="191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1905000" imgH="1028700" progId="Equation.3">
                  <p:embed/>
                </p:oleObj>
              </mc:Choice>
              <mc:Fallback>
                <p:oleObj name="Vergelijking" r:id="rId4" imgW="1905000" imgH="1028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0851" y="4822080"/>
                        <a:ext cx="3565525" cy="1919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604064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664" y="2228671"/>
            <a:ext cx="623279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f(double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*p =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exp(-p-&gt;sigma*x*x)*sin(p-&gt;a + p-&gt;b*x);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512" y="4005064"/>
            <a:ext cx="4257897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b, sigma;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{0.3, 1.0, 0.05};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5" name="Picture 4" descr="minimu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355976" y="3068960"/>
            <a:ext cx="4536504" cy="34023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668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66775"/>
            <a:ext cx="7837402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minimum = -1.0, lower = -3.0, upper = 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100, status;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*T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&amp;f;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(void *)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&amp;F, minimum, lower, upper);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lower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upper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status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(lower, upper, 1.0e-6, 0.0);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while (status == GSL_CONTINUE &amp;&amp;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(status == GSL_SUCCESS)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minimum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gsl_min_fminimizer_free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137744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Non-linear pendulum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to set of ODEs</a:t>
            </a:r>
          </a:p>
        </p:txBody>
      </p:sp>
      <p:graphicFrame>
        <p:nvGraphicFramePr>
          <p:cNvPr id="38914" name="Object 2"/>
          <p:cNvGraphicFramePr>
            <a:graphicFrameLocks noChangeAspect="1"/>
          </p:cNvGraphicFramePr>
          <p:nvPr/>
        </p:nvGraphicFramePr>
        <p:xfrm>
          <a:off x="1050478" y="2574354"/>
          <a:ext cx="3665538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955800" imgH="419100" progId="Equation.3">
                  <p:embed/>
                </p:oleObj>
              </mc:Choice>
              <mc:Fallback>
                <p:oleObj name="Vergelijking" r:id="rId2" imgW="1955800" imgH="4191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0478" y="2574354"/>
                        <a:ext cx="3665538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043608" y="4725119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667000" imgH="965200" progId="Equation.3">
                  <p:embed/>
                </p:oleObj>
              </mc:Choice>
              <mc:Fallback>
                <p:oleObj name="Vergelijking" r:id="rId4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3608" y="4725119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43959" y="1629147"/>
            <a:ext cx="976313" cy="2447925"/>
            <a:chOff x="1343" y="1480"/>
            <a:chExt cx="615" cy="1542"/>
          </a:xfrm>
        </p:grpSpPr>
        <p:sp>
          <p:nvSpPr>
            <p:cNvPr id="9" name="Oval 4"/>
            <p:cNvSpPr>
              <a:spLocks noChangeArrowheads="1"/>
            </p:cNvSpPr>
            <p:nvPr/>
          </p:nvSpPr>
          <p:spPr bwMode="auto">
            <a:xfrm>
              <a:off x="1343" y="2740"/>
              <a:ext cx="181" cy="18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5"/>
            <p:cNvSpPr>
              <a:spLocks noChangeArrowheads="1"/>
            </p:cNvSpPr>
            <p:nvPr/>
          </p:nvSpPr>
          <p:spPr bwMode="auto">
            <a:xfrm>
              <a:off x="1912" y="1480"/>
              <a:ext cx="46" cy="4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flipV="1">
              <a:off x="1474" y="1525"/>
              <a:ext cx="453" cy="12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927" y="1525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Arc 15"/>
            <p:cNvSpPr>
              <a:spLocks/>
            </p:cNvSpPr>
            <p:nvPr/>
          </p:nvSpPr>
          <p:spPr bwMode="auto">
            <a:xfrm flipH="1" flipV="1">
              <a:off x="1701" y="2160"/>
              <a:ext cx="226" cy="4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" name="Object 16"/>
            <p:cNvGraphicFramePr>
              <a:graphicFrameLocks noChangeAspect="1"/>
            </p:cNvGraphicFramePr>
            <p:nvPr/>
          </p:nvGraphicFramePr>
          <p:xfrm>
            <a:off x="1701" y="2205"/>
            <a:ext cx="161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5" imgH="177415" progId="Equation.3">
                    <p:embed/>
                  </p:oleObj>
                </mc:Choice>
                <mc:Fallback>
                  <p:oleObj name="Equation" r:id="rId6" imgW="126725" imgH="17741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1" y="2205"/>
                          <a:ext cx="161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22"/>
            <p:cNvGraphicFramePr>
              <a:graphicFrameLocks noChangeAspect="1"/>
            </p:cNvGraphicFramePr>
            <p:nvPr/>
          </p:nvGraphicFramePr>
          <p:xfrm>
            <a:off x="1362" y="2387"/>
            <a:ext cx="112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8669" imgH="177338" progId="Equation.3">
                    <p:embed/>
                  </p:oleObj>
                </mc:Choice>
                <mc:Fallback>
                  <p:oleObj name="Equation" r:id="rId8" imgW="88669" imgH="177338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387"/>
                          <a:ext cx="112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381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equations</a:t>
            </a:r>
          </a:p>
        </p:txBody>
      </p:sp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952401" y="5013176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667000" imgH="965200" progId="Equation.3">
                  <p:embed/>
                </p:oleObj>
              </mc:Choice>
              <mc:Fallback>
                <p:oleObj name="Vergelijking" r:id="rId2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2401" y="5013176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0001" y="2193826"/>
            <a:ext cx="7058343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f[],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f[0] = y[1];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f[1] = -(g/l)*sin(y[0]) - q*y[1] + F*sin(Omega*t);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071497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</a:t>
            </a:r>
            <a:r>
              <a:rPr lang="en-US" dirty="0" err="1"/>
              <a:t>Jacobian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79512" y="2193826"/>
            <a:ext cx="7487947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gsl_matrix_view_array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2);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*m =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dfdy_mat.matrix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0, 0.0);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1, 1.0);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0, -(g/l)*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(y[0]));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1, -q);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[0] = 0.0;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[1] = F*Omega*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(Omega*t);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292080" y="4149080"/>
            <a:ext cx="3528392" cy="1872208"/>
            <a:chOff x="5292080" y="4149080"/>
            <a:chExt cx="3528392" cy="1872208"/>
          </a:xfrm>
        </p:grpSpPr>
        <p:sp>
          <p:nvSpPr>
            <p:cNvPr id="14" name="Rectangle 13"/>
            <p:cNvSpPr/>
            <p:nvPr/>
          </p:nvSpPr>
          <p:spPr>
            <a:xfrm>
              <a:off x="5292080" y="4149080"/>
              <a:ext cx="3528392" cy="1872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1" name="Object 5"/>
            <p:cNvGraphicFramePr>
              <a:graphicFrameLocks noChangeAspect="1"/>
            </p:cNvGraphicFramePr>
            <p:nvPr/>
          </p:nvGraphicFramePr>
          <p:xfrm>
            <a:off x="5443512" y="4285630"/>
            <a:ext cx="928688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2" imgW="495085" imgH="393529" progId="Equation.3">
                    <p:embed/>
                  </p:oleObj>
                </mc:Choice>
                <mc:Fallback>
                  <p:oleObj name="Vergelijking" r:id="rId2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3512" y="4285630"/>
                          <a:ext cx="928688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2" name="Object 6"/>
            <p:cNvGraphicFramePr>
              <a:graphicFrameLocks noChangeAspect="1"/>
            </p:cNvGraphicFramePr>
            <p:nvPr/>
          </p:nvGraphicFramePr>
          <p:xfrm>
            <a:off x="7524328" y="4285630"/>
            <a:ext cx="857250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4" imgW="457002" imgH="393529" progId="Equation.3">
                    <p:embed/>
                  </p:oleObj>
                </mc:Choice>
                <mc:Fallback>
                  <p:oleObj name="Vergelijking" r:id="rId4" imgW="457002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4285630"/>
                          <a:ext cx="857250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3" name="Object 7"/>
            <p:cNvGraphicFramePr>
              <a:graphicFrameLocks noChangeAspect="1"/>
            </p:cNvGraphicFramePr>
            <p:nvPr/>
          </p:nvGraphicFramePr>
          <p:xfrm>
            <a:off x="5436096" y="5085184"/>
            <a:ext cx="1833563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6" imgW="977476" imgH="393529" progId="Equation.3">
                    <p:embed/>
                  </p:oleObj>
                </mc:Choice>
                <mc:Fallback>
                  <p:oleObj name="Vergelijking" r:id="rId6" imgW="977476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6096" y="5085184"/>
                          <a:ext cx="1833563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4" name="Object 8"/>
            <p:cNvGraphicFramePr>
              <a:graphicFrameLocks noChangeAspect="1"/>
            </p:cNvGraphicFramePr>
            <p:nvPr/>
          </p:nvGraphicFramePr>
          <p:xfrm>
            <a:off x="7524328" y="5085184"/>
            <a:ext cx="111918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8" imgW="596641" imgH="393529" progId="Equation.3">
                    <p:embed/>
                  </p:oleObj>
                </mc:Choice>
                <mc:Fallback>
                  <p:oleObj name="Vergelijking" r:id="rId8" imgW="596641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5085184"/>
                          <a:ext cx="111918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oup 17"/>
          <p:cNvGrpSpPr/>
          <p:nvPr/>
        </p:nvGrpSpPr>
        <p:grpSpPr>
          <a:xfrm>
            <a:off x="4211960" y="5013176"/>
            <a:ext cx="2448272" cy="1728192"/>
            <a:chOff x="5436096" y="4869160"/>
            <a:chExt cx="2448272" cy="1728192"/>
          </a:xfrm>
        </p:grpSpPr>
        <p:sp>
          <p:nvSpPr>
            <p:cNvPr id="17" name="Rectangle 16"/>
            <p:cNvSpPr/>
            <p:nvPr/>
          </p:nvSpPr>
          <p:spPr>
            <a:xfrm>
              <a:off x="5436096" y="4869160"/>
              <a:ext cx="2448272" cy="1728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5" name="Object 9"/>
            <p:cNvGraphicFramePr>
              <a:graphicFrameLocks noChangeAspect="1"/>
            </p:cNvGraphicFramePr>
            <p:nvPr/>
          </p:nvGraphicFramePr>
          <p:xfrm>
            <a:off x="5704911" y="5013176"/>
            <a:ext cx="928687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0" imgW="495085" imgH="393529" progId="Equation.3">
                    <p:embed/>
                  </p:oleObj>
                </mc:Choice>
                <mc:Fallback>
                  <p:oleObj name="Vergelijking" r:id="rId10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4911" y="5013176"/>
                          <a:ext cx="928687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6" name="Object 10"/>
            <p:cNvGraphicFramePr>
              <a:graphicFrameLocks noChangeAspect="1"/>
            </p:cNvGraphicFramePr>
            <p:nvPr/>
          </p:nvGraphicFramePr>
          <p:xfrm>
            <a:off x="5691907" y="5753836"/>
            <a:ext cx="197643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2" imgW="1054100" imgH="393700" progId="Equation.3">
                    <p:embed/>
                  </p:oleObj>
                </mc:Choice>
                <mc:Fallback>
                  <p:oleObj name="Vergelijking" r:id="rId12" imgW="1054100" imgH="3937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91907" y="5753836"/>
                          <a:ext cx="197643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17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333" y="1556792"/>
            <a:ext cx="8884163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t = 0.0,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y[2] = {params.theta0, params.omega0};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*T = gsl_odeiv_step_rkf45;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(T, 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*c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gsl_odeiv_control_standard_new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(params.tol, 0.0, 1.0, 1.0);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*e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gsl_odeiv_system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sys = {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while (t &lt;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status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gsl_odeiv_evolve_apply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(e, c, s, &amp;sys,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&amp;t,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y);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if (status != GSLSUCCESS)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warnx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("### warning: step %lf not successful\n", 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(e);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(c);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039287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8" y="1772816"/>
            <a:ext cx="6526146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gsl_rng_mt19937;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time(NULL));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double 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 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gsl_rng_free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4797152"/>
            <a:ext cx="844718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algorithms for pseudo-random number generation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035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550094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good programming language for</a:t>
            </a:r>
          </a:p>
          <a:p>
            <a:pPr lvl="1"/>
            <a:r>
              <a:rPr lang="en-US" dirty="0"/>
              <a:t>systems programming</a:t>
            </a:r>
          </a:p>
          <a:p>
            <a:pPr lvl="1"/>
            <a:r>
              <a:rPr lang="en-US" dirty="0"/>
              <a:t>numerical programming using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  <a:p>
            <a:pPr lvl="1"/>
            <a:r>
              <a:rPr lang="en-US" dirty="0"/>
              <a:t>simulations</a:t>
            </a:r>
          </a:p>
          <a:p>
            <a:r>
              <a:rPr lang="en-US" dirty="0"/>
              <a:t>C drawbacks</a:t>
            </a:r>
          </a:p>
          <a:p>
            <a:pPr lvl="1"/>
            <a:r>
              <a:rPr lang="en-US" dirty="0"/>
              <a:t>very limited standard library</a:t>
            </a:r>
          </a:p>
          <a:p>
            <a:pPr lvl="1"/>
            <a:r>
              <a:rPr lang="en-US" dirty="0"/>
              <a:t>can be tedious</a:t>
            </a:r>
          </a:p>
          <a:p>
            <a:r>
              <a:rPr lang="en-US" dirty="0"/>
              <a:t>C99 offers interesting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56176" y="3401516"/>
            <a:ext cx="23267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Fast executables!</a:t>
            </a:r>
          </a:p>
        </p:txBody>
      </p:sp>
    </p:spTree>
    <p:extLst>
      <p:ext uri="{BB962C8B-B14F-4D97-AF65-F5344CB8AC3E}">
        <p14:creationId xmlns:p14="http://schemas.microsoft.com/office/powerpoint/2010/main" val="245075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Debugging</a:t>
            </a:r>
          </a:p>
          <a:p>
            <a:r>
              <a:rPr lang="en-US" dirty="0"/>
              <a:t>Profiling</a:t>
            </a:r>
          </a:p>
          <a:p>
            <a:r>
              <a:rPr lang="en-US" dirty="0"/>
              <a:t>Performance optimization</a:t>
            </a:r>
          </a:p>
          <a:p>
            <a:r>
              <a:rPr lang="en-US" dirty="0"/>
              <a:t>Reading/writing scientific data: HDF5</a:t>
            </a:r>
          </a:p>
          <a:p>
            <a:r>
              <a:rPr lang="en-US" dirty="0"/>
              <a:t>Parallel programming</a:t>
            </a:r>
          </a:p>
          <a:p>
            <a:pPr lvl="1"/>
            <a:r>
              <a:rPr lang="en-US" dirty="0"/>
              <a:t>shared memory programming: </a:t>
            </a:r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distributed programming: MPI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61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  <a:p>
            <a:r>
              <a:rPr lang="en-US" dirty="0"/>
              <a:t>B. Kernighan &amp; </a:t>
            </a:r>
            <a:r>
              <a:rPr lang="en-US" dirty="0" err="1"/>
              <a:t>R.Pike</a:t>
            </a:r>
            <a:r>
              <a:rPr lang="en-US" dirty="0"/>
              <a:t> (1999)</a:t>
            </a:r>
            <a:br>
              <a:rPr lang="en-US" dirty="0"/>
            </a:br>
            <a:r>
              <a:rPr lang="en-US" i="1" dirty="0"/>
              <a:t>The practice of programming</a:t>
            </a:r>
            <a:br>
              <a:rPr lang="en-US" dirty="0"/>
            </a:br>
            <a:r>
              <a:rPr lang="en-US" dirty="0"/>
              <a:t>Addison-Wesley Professional Computing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091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17058</Words>
  <Application>Microsoft Office PowerPoint</Application>
  <PresentationFormat>On-screen Show (4:3)</PresentationFormat>
  <Paragraphs>3470</Paragraphs>
  <Slides>161</Slides>
  <Notes>115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161</vt:i4>
      </vt:variant>
    </vt:vector>
  </HeadingPairs>
  <TitlesOfParts>
    <vt:vector size="176" baseType="lpstr">
      <vt:lpstr>Arial</vt:lpstr>
      <vt:lpstr>Calibri</vt:lpstr>
      <vt:lpstr>Cambria Math</vt:lpstr>
      <vt:lpstr>Courier New</vt:lpstr>
      <vt:lpstr>Edwardian Script ITC</vt:lpstr>
      <vt:lpstr>Euclid</vt:lpstr>
      <vt:lpstr>Euclid Extra</vt:lpstr>
      <vt:lpstr>Euclid Math Two</vt:lpstr>
      <vt:lpstr>Euclid Symbol</vt:lpstr>
      <vt:lpstr>EucrosiaUPC</vt:lpstr>
      <vt:lpstr>Symbol</vt:lpstr>
      <vt:lpstr>Times New Roman</vt:lpstr>
      <vt:lpstr>Office Theme</vt:lpstr>
      <vt:lpstr>Vergelijking</vt:lpstr>
      <vt:lpstr>Equation</vt:lpstr>
      <vt:lpstr>C for scientific programming</vt:lpstr>
      <vt:lpstr>Introduction</vt:lpstr>
      <vt:lpstr>Scope</vt:lpstr>
      <vt:lpstr>Training materials</vt:lpstr>
      <vt:lpstr>Syntax versus semantics</vt:lpstr>
      <vt:lpstr>Programming in C: overview</vt:lpstr>
      <vt:lpstr>C: a tutorial</vt:lpstr>
      <vt:lpstr>Program anatomy</vt:lpstr>
      <vt:lpstr>Variables</vt:lpstr>
      <vt:lpstr>Constants &amp; operators</vt:lpstr>
      <vt:lpstr>Output</vt:lpstr>
      <vt:lpstr>Input</vt:lpstr>
      <vt:lpstr>Functions</vt:lpstr>
      <vt:lpstr>Basic data types</vt:lpstr>
      <vt:lpstr>Structures and arrays</vt:lpstr>
      <vt:lpstr>Strings as arrays of char</vt:lpstr>
      <vt:lpstr>Conditional statement</vt:lpstr>
      <vt:lpstr>Iteration statement</vt:lpstr>
      <vt:lpstr>Improving code 1</vt:lpstr>
      <vt:lpstr>Improving code 2</vt:lpstr>
      <vt:lpstr>Improving code 3</vt:lpstr>
      <vt:lpstr>Improving code 4</vt:lpstr>
      <vt:lpstr>Example 1</vt:lpstr>
      <vt:lpstr>Example 2</vt:lpstr>
      <vt:lpstr>Example 3</vt:lpstr>
      <vt:lpstr>Example 4</vt:lpstr>
      <vt:lpstr>data types &amp; operators</vt:lpstr>
      <vt:lpstr>Names</vt:lpstr>
      <vt:lpstr>Types: overview</vt:lpstr>
      <vt:lpstr>char</vt:lpstr>
      <vt:lpstr>Special characters</vt:lpstr>
      <vt:lpstr>int</vt:lpstr>
      <vt:lpstr>float</vt:lpstr>
      <vt:lpstr>double</vt:lpstr>
      <vt:lpstr>Representation of double</vt:lpstr>
      <vt:lpstr>enum</vt:lpstr>
      <vt:lpstr>struct</vt:lpstr>
      <vt:lpstr>Type sizes</vt:lpstr>
      <vt:lpstr>Type conversion</vt:lpstr>
      <vt:lpstr>Accidental type conversions</vt:lpstr>
      <vt:lpstr>Variable declarations</vt:lpstr>
      <vt:lpstr>Operators: overview</vt:lpstr>
      <vt:lpstr>Arithmetic operators</vt:lpstr>
      <vt:lpstr>Relational &amp; logical operators</vt:lpstr>
      <vt:lpstr>Bitwise operators</vt:lpstr>
      <vt:lpstr>Assignment operators</vt:lpstr>
      <vt:lpstr>Increment/decrement operators</vt:lpstr>
      <vt:lpstr>Conditonal operator</vt:lpstr>
      <vt:lpstr>Operator precedence</vt:lpstr>
      <vt:lpstr>control flow</vt:lpstr>
      <vt:lpstr>Blocks &amp; scope</vt:lpstr>
      <vt:lpstr>Conditional statements: if</vt:lpstr>
      <vt:lpstr>Conditional statements: else-if</vt:lpstr>
      <vt:lpstr>Conditional statements: switch</vt:lpstr>
      <vt:lpstr>Iterative statements: for</vt:lpstr>
      <vt:lpstr>Iterative statements: while</vt:lpstr>
      <vt:lpstr>Break &amp; continue</vt:lpstr>
      <vt:lpstr>Equivalence of for and while</vt:lpstr>
      <vt:lpstr>break versus condition</vt:lpstr>
      <vt:lpstr>goto &amp; labels</vt:lpstr>
      <vt:lpstr>Functions</vt:lpstr>
      <vt:lpstr>Rationale</vt:lpstr>
      <vt:lpstr>Top-down design: top level</vt:lpstr>
      <vt:lpstr>Top-down design: functions</vt:lpstr>
      <vt:lpstr>C functions</vt:lpstr>
      <vt:lpstr>Return statement</vt:lpstr>
      <vt:lpstr>Programs &amp; flow</vt:lpstr>
      <vt:lpstr>Programs &amp; flow: example</vt:lpstr>
      <vt:lpstr>Single versus multiple returns</vt:lpstr>
      <vt:lpstr>External variables</vt:lpstr>
      <vt:lpstr>External variables: properties</vt:lpstr>
      <vt:lpstr>Scope: rules</vt:lpstr>
      <vt:lpstr>Scope: external variables</vt:lpstr>
      <vt:lpstr>Scope: multiple files</vt:lpstr>
      <vt:lpstr>Scope: rules</vt:lpstr>
      <vt:lpstr>Static external variables</vt:lpstr>
      <vt:lpstr>Static internal variables</vt:lpstr>
      <vt:lpstr>Variable initialization</vt:lpstr>
      <vt:lpstr>C: recursion</vt:lpstr>
      <vt:lpstr>C preprocessor</vt:lpstr>
      <vt:lpstr>C preprocessor: #define</vt:lpstr>
      <vt:lpstr>Building</vt:lpstr>
      <vt:lpstr>Testing &amp; contracts: assert</vt:lpstr>
      <vt:lpstr>Mathematical functions</vt:lpstr>
      <vt:lpstr>Pointers and arrays</vt:lpstr>
      <vt:lpstr>Motivating examples 1</vt:lpstr>
      <vt:lpstr>Motivating examples 2</vt:lpstr>
      <vt:lpstr>Von Neumann architecture</vt:lpstr>
      <vt:lpstr>Memory addresses</vt:lpstr>
      <vt:lpstr>Pointers: addresses</vt:lpstr>
      <vt:lpstr>Pointers: values</vt:lpstr>
      <vt:lpstr>Alternative visual representation</vt:lpstr>
      <vt:lpstr>Motivating examples revisited 1</vt:lpstr>
      <vt:lpstr>Motivating examples revisited 2</vt:lpstr>
      <vt:lpstr>Motivating examples revisited 3</vt:lpstr>
      <vt:lpstr>Motivating examples revisited 4</vt:lpstr>
      <vt:lpstr>Arrays, pointers &amp; arithmetic</vt:lpstr>
      <vt:lpstr>Dynamic memory allocation</vt:lpstr>
      <vt:lpstr>Motivating examples revisited 5</vt:lpstr>
      <vt:lpstr>Motivating examples revisited 5</vt:lpstr>
      <vt:lpstr>Motivating examples revisited 6</vt:lpstr>
      <vt:lpstr>2-dim. arrays vs. pointer arrays</vt:lpstr>
      <vt:lpstr>Pointer arrays</vt:lpstr>
      <vt:lpstr>Functions as parameters</vt:lpstr>
      <vt:lpstr>Pointers, arrays &amp; structures</vt:lpstr>
      <vt:lpstr>Pointer arrays</vt:lpstr>
      <vt:lpstr>Double dereferenced pointers</vt:lpstr>
      <vt:lpstr>Lists</vt:lpstr>
      <vt:lpstr>Lists: create list &amp; item</vt:lpstr>
      <vt:lpstr>Lists: prepend (incorrect)</vt:lpstr>
      <vt:lpstr>Lists: prepend (correct)</vt:lpstr>
      <vt:lpstr>Interludium: typedef</vt:lpstr>
      <vt:lpstr>Lists: prepend flow</vt:lpstr>
      <vt:lpstr>Traversing lists: contains</vt:lpstr>
      <vt:lpstr>Traversing lists: contains (cont.)</vt:lpstr>
      <vt:lpstr>Traversing lists: append</vt:lpstr>
      <vt:lpstr>Binary trees</vt:lpstr>
      <vt:lpstr>Useful data structures</vt:lpstr>
      <vt:lpstr>File I/O &amp; command line arguments</vt:lpstr>
      <vt:lpstr>Input/output</vt:lpstr>
      <vt:lpstr>File I/O: reading</vt:lpstr>
      <vt:lpstr>File I/O: writing</vt:lpstr>
      <vt:lpstr>File I/O: tidbits</vt:lpstr>
      <vt:lpstr>Format strings</vt:lpstr>
      <vt:lpstr>Other file I/O function</vt:lpstr>
      <vt:lpstr>Command line arguments</vt:lpstr>
      <vt:lpstr>Command line arguments 2</vt:lpstr>
      <vt:lpstr>String conversions</vt:lpstr>
      <vt:lpstr>Exit status</vt:lpstr>
      <vt:lpstr>C99 and C11 extensions</vt:lpstr>
      <vt:lpstr>Introduction</vt:lpstr>
      <vt:lpstr>IEEE 754 floating point support</vt:lpstr>
      <vt:lpstr>Inline functions</vt:lpstr>
      <vt:lpstr>Boolean type</vt:lpstr>
      <vt:lpstr>Complex type</vt:lpstr>
      <vt:lpstr>Complex numbers example</vt:lpstr>
      <vt:lpstr>Variable length arrays</vt:lpstr>
      <vt:lpstr>Flexible array members</vt:lpstr>
      <vt:lpstr>Restrict</vt:lpstr>
      <vt:lpstr>tgmath.h</vt:lpstr>
      <vt:lpstr>Miscellaneous</vt:lpstr>
      <vt:lpstr>GSl: GNU Scientific Library</vt:lpstr>
      <vt:lpstr>GSL: what is it?</vt:lpstr>
      <vt:lpstr>GSL: what is it?</vt:lpstr>
      <vt:lpstr>GSL: how to use it?</vt:lpstr>
      <vt:lpstr>GSL: vector &amp; matrix types</vt:lpstr>
      <vt:lpstr>GSL: vector &amp; matrix example</vt:lpstr>
      <vt:lpstr>GSL: reading &amp; writing matrices</vt:lpstr>
      <vt:lpstr>GSL BLAS: complex multiplication</vt:lpstr>
      <vt:lpstr>GSL: solving equations</vt:lpstr>
      <vt:lpstr>GSL: computing minimum</vt:lpstr>
      <vt:lpstr>GSL: computing minimum</vt:lpstr>
      <vt:lpstr>GSL: solving ODEs</vt:lpstr>
      <vt:lpstr>GSL: solving ODEs</vt:lpstr>
      <vt:lpstr>GSL: solving ODEs</vt:lpstr>
      <vt:lpstr>GSL: solving ODEs</vt:lpstr>
      <vt:lpstr>GSL: random numbers</vt:lpstr>
      <vt:lpstr>Conclusions</vt:lpstr>
      <vt:lpstr>Conclusions</vt:lpstr>
      <vt:lpstr>More to explore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physics</dc:title>
  <dc:creator>Geert Jan Bex</dc:creator>
  <cp:lastModifiedBy>Geert Jan Bex</cp:lastModifiedBy>
  <cp:revision>34</cp:revision>
  <dcterms:created xsi:type="dcterms:W3CDTF">2015-12-23T15:15:26Z</dcterms:created>
  <dcterms:modified xsi:type="dcterms:W3CDTF">2025-08-13T08:12:42Z</dcterms:modified>
</cp:coreProperties>
</file>