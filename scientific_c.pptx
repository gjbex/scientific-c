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9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  <p:sldId id="370" r:id="rId119"/>
    <p:sldId id="371" r:id="rId120"/>
    <p:sldId id="372" r:id="rId121"/>
    <p:sldId id="373" r:id="rId122"/>
    <p:sldId id="374" r:id="rId123"/>
    <p:sldId id="375" r:id="rId124"/>
    <p:sldId id="376" r:id="rId125"/>
    <p:sldId id="378" r:id="rId126"/>
    <p:sldId id="377" r:id="rId127"/>
    <p:sldId id="385" r:id="rId128"/>
    <p:sldId id="386" r:id="rId129"/>
    <p:sldId id="387" r:id="rId130"/>
    <p:sldId id="388" r:id="rId131"/>
    <p:sldId id="389" r:id="rId132"/>
    <p:sldId id="390" r:id="rId133"/>
    <p:sldId id="391" r:id="rId134"/>
    <p:sldId id="392" r:id="rId135"/>
    <p:sldId id="393" r:id="rId136"/>
    <p:sldId id="394" r:id="rId137"/>
    <p:sldId id="395" r:id="rId138"/>
    <p:sldId id="396" r:id="rId139"/>
    <p:sldId id="397" r:id="rId140"/>
    <p:sldId id="398" r:id="rId141"/>
    <p:sldId id="399" r:id="rId142"/>
    <p:sldId id="400" r:id="rId143"/>
    <p:sldId id="401" r:id="rId144"/>
    <p:sldId id="402" r:id="rId145"/>
    <p:sldId id="403" r:id="rId146"/>
    <p:sldId id="404" r:id="rId147"/>
    <p:sldId id="405" r:id="rId148"/>
    <p:sldId id="406" r:id="rId149"/>
    <p:sldId id="407" r:id="rId150"/>
    <p:sldId id="408" r:id="rId151"/>
    <p:sldId id="409" r:id="rId152"/>
    <p:sldId id="410" r:id="rId153"/>
    <p:sldId id="411" r:id="rId154"/>
    <p:sldId id="382" r:id="rId155"/>
    <p:sldId id="383" r:id="rId156"/>
    <p:sldId id="412" r:id="rId157"/>
    <p:sldId id="384" r:id="rId158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99" id="{3789D1E7-A78A-4166-B0AF-6F8C3134DEB1}">
          <p14:sldIdLst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62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12/08/2025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40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49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50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60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61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117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118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119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12/08/2025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12/08/2025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12/08/2025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12/08/2025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12/08/2025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12/08/2025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12/08/2025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0.wmf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wm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wmf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/C99" TargetMode="Externa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wmf"/><Relationship Id="rId4" Type="http://schemas.openxmlformats.org/officeDocument/2006/relationships/oleObject" Target="../embeddings/oleObject7.bin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3.wmf"/><Relationship Id="rId7" Type="http://schemas.openxmlformats.org/officeDocument/2006/relationships/image" Target="../media/image25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4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6.wmf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3.wmf"/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2.wmf"/><Relationship Id="rId5" Type="http://schemas.openxmlformats.org/officeDocument/2006/relationships/image" Target="../media/image29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1.wmf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consist of {A,…,Z,a,…,z,_,0,…,9}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starts with {A,…,Z,a,…,z,_}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variables: 31 </a:t>
            </a:r>
            <a:r>
              <a:rPr lang="en-US" altLang="nl-BE" sz="2000" i="1"/>
              <a:t>significant</a:t>
            </a:r>
            <a:endParaRPr lang="en-US" altLang="nl-BE" sz="2000"/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functions: 6 </a:t>
            </a:r>
            <a:r>
              <a:rPr lang="en-US" altLang="nl-BE" sz="2000" i="1"/>
              <a:t>significant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no reserved words allowed: </a:t>
            </a:r>
            <a:r>
              <a:rPr lang="en-US" altLang="nl-BE" sz="2400">
                <a:latin typeface="Times New Roman" pitchFamily="18" charset="0"/>
              </a:rPr>
              <a:t>if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while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char</a:t>
            </a:r>
            <a:r>
              <a:rPr lang="en-US" altLang="nl-BE" sz="2400"/>
              <a:t>, </a:t>
            </a:r>
            <a:r>
              <a:rPr lang="en-US" altLang="nl-BE" sz="2400">
                <a:latin typeface="Times New Roman" pitchFamily="18" charset="0"/>
              </a:rPr>
              <a:t>int</a:t>
            </a:r>
            <a:r>
              <a:rPr lang="en-US" altLang="nl-BE" sz="240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camelCase (e.g., </a:t>
            </a:r>
            <a:r>
              <a:rPr lang="en-US" altLang="nl-BE" sz="2000">
                <a:latin typeface="Times New Roman" pitchFamily="18" charset="0"/>
              </a:rPr>
              <a:t>nrOfRuns</a:t>
            </a:r>
            <a:r>
              <a:rPr lang="en-US" altLang="nl-BE" sz="2000"/>
              <a:t>) or </a:t>
            </a:r>
            <a:r>
              <a:rPr lang="en-US" altLang="nl-BE" sz="2000">
                <a:latin typeface="Times New Roman" pitchFamily="18" charset="0"/>
              </a:rPr>
              <a:t>'_'</a:t>
            </a:r>
            <a:r>
              <a:rPr lang="en-US" altLang="nl-BE" sz="2000"/>
              <a:t> (e.g., </a:t>
            </a:r>
            <a:r>
              <a:rPr lang="en-US" altLang="nl-BE" sz="2000">
                <a:latin typeface="Times New Roman" pitchFamily="18" charset="0"/>
              </a:rPr>
              <a:t>nr_of_runs</a:t>
            </a:r>
            <a:r>
              <a:rPr lang="en-US" altLang="nl-BE" sz="200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float</a:t>
            </a:r>
            <a:r>
              <a:rPr lang="en-US" altLang="nl-BE"/>
              <a:t> &amp;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float</a:t>
            </a:r>
            <a:r>
              <a:rPr lang="en-US" altLang="nl-BE"/>
              <a:t>: forget it for now</a:t>
            </a:r>
          </a:p>
          <a:p>
            <a:pPr eaLnBrk="1" hangingPunct="1"/>
            <a:r>
              <a:rPr lang="en-US" altLang="nl-BE"/>
              <a:t>size: typically 8 bytes</a:t>
            </a:r>
            <a:br>
              <a:rPr lang="en-US" altLang="nl-BE"/>
            </a:br>
            <a:r>
              <a:rPr lang="en-US" altLang="nl-BE"/>
              <a:t>  </a:t>
            </a:r>
            <a:r>
              <a:rPr lang="en-US" altLang="nl-BE" sz="240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/>
              <a:t>precision: </a:t>
            </a:r>
            <a:r>
              <a:rPr lang="en-US" altLang="nl-BE">
                <a:latin typeface="Times New Roman" pitchFamily="18" charset="0"/>
              </a:rPr>
              <a:t>DBL_EPSILON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/>
              <a:t>modifiers: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long double</a:t>
            </a:r>
            <a:r>
              <a:rPr lang="en-US" altLang="nl-BE"/>
              <a:t>: rarely used</a:t>
            </a:r>
          </a:p>
          <a:p>
            <a:pPr eaLnBrk="1" hangingPunct="1"/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/>
              <a:t>convention: use decimal separator</a:t>
            </a:r>
            <a:r>
              <a:rPr lang="en-US" altLang="nl-BE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4714875" y="1341438"/>
            <a:ext cx="4249738" cy="1943100"/>
            <a:chOff x="2880" y="799"/>
            <a:chExt cx="2677" cy="1224"/>
          </a:xfrm>
        </p:grpSpPr>
        <p:sp>
          <p:nvSpPr>
            <p:cNvPr id="9221" name="Text Box 5"/>
            <p:cNvSpPr txBox="1">
              <a:spLocks noChangeArrowheads="1"/>
            </p:cNvSpPr>
            <p:nvPr/>
          </p:nvSpPr>
          <p:spPr bwMode="auto">
            <a:xfrm>
              <a:off x="4059" y="79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float.h</a:t>
              </a:r>
            </a:p>
          </p:txBody>
        </p:sp>
        <p:sp>
          <p:nvSpPr>
            <p:cNvPr id="9222" name="Line 6"/>
            <p:cNvSpPr>
              <a:spLocks noChangeShapeType="1"/>
            </p:cNvSpPr>
            <p:nvPr/>
          </p:nvSpPr>
          <p:spPr bwMode="auto">
            <a:xfrm flipH="1">
              <a:off x="2880" y="1071"/>
              <a:ext cx="1134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/>
            <p:cNvSpPr>
              <a:spLocks noChangeShapeType="1"/>
            </p:cNvSpPr>
            <p:nvPr/>
          </p:nvSpPr>
          <p:spPr bwMode="auto">
            <a:xfrm flipH="1">
              <a:off x="4241" y="1117"/>
              <a:ext cx="0" cy="9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)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65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12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12L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long</a:t>
            </a:r>
            <a:r>
              <a:rPr lang="en-US" altLang="nl-BE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5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5.0</a:t>
            </a:r>
            <a:r>
              <a:rPr lang="en-US" altLang="nl-BE"/>
              <a:t> (</a:t>
            </a:r>
            <a:r>
              <a:rPr lang="en-US" altLang="nl-BE">
                <a:latin typeface="Times New Roman" pitchFamily="18" charset="0"/>
              </a:rPr>
              <a:t>double</a:t>
            </a:r>
            <a:r>
              <a:rPr lang="en-US" altLang="nl-BE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12 + 3.2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(int) 12L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(int) 5.3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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5</a:t>
            </a:r>
            <a:r>
              <a:rPr lang="en-US" altLang="nl-BE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information, e.g., </a:t>
            </a:r>
            <a:r>
              <a:rPr lang="en-US" altLang="nl-BE">
                <a:latin typeface="Times New Roman" pitchFamily="18" charset="0"/>
              </a:rPr>
              <a:t>int i, j;</a:t>
            </a:r>
          </a:p>
          <a:p>
            <a:pPr eaLnBrk="1" hangingPunct="1"/>
            <a:r>
              <a:rPr lang="en-US" altLang="nl-BE"/>
              <a:t>assignment, e.g., </a:t>
            </a:r>
            <a:r>
              <a:rPr lang="en-US" altLang="nl-BE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/>
              <a:t>can be an expression, e.g.,</a:t>
            </a:r>
            <a:r>
              <a:rPr lang="en-US" altLang="nl-BE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/>
              <a:t>constants can't be modified, must be assigned upon declaration:</a:t>
            </a:r>
            <a:br>
              <a:rPr lang="en-US" altLang="nl-BE"/>
            </a:br>
            <a:r>
              <a:rPr lang="en-US" altLang="nl-BE"/>
              <a:t>    </a:t>
            </a:r>
            <a:r>
              <a:rPr lang="en-US" altLang="nl-BE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258888" y="4191000"/>
            <a:ext cx="6842125" cy="1355725"/>
            <a:chOff x="1259632" y="4191058"/>
            <a:chExt cx="6840760" cy="1355791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9337" y="4191058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/>
          </a:p>
          <a:p>
            <a:pPr eaLnBrk="1" hangingPunct="1">
              <a:lnSpc>
                <a:spcPct val="90000"/>
              </a:lnSpc>
            </a:pPr>
            <a:endParaRPr lang="en-US" altLang="nl-BE" sz="2800"/>
          </a:p>
          <a:p>
            <a:pPr eaLnBrk="1" hangingPunct="1">
              <a:lnSpc>
                <a:spcPct val="90000"/>
              </a:lnSpc>
            </a:pPr>
            <a:endParaRPr lang="en-US" altLang="nl-BE" sz="2800"/>
          </a:p>
          <a:p>
            <a:pPr eaLnBrk="1" hangingPunct="1">
              <a:lnSpc>
                <a:spcPct val="90000"/>
              </a:lnSpc>
            </a:pPr>
            <a:endParaRPr lang="en-US" altLang="nl-BE" sz="2800"/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6;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>
                <a:latin typeface="Times New Roman" panose="02020603050405020304" pitchFamily="18" charset="0"/>
              </a:rPr>
              <a:t>(fac(input[i]) == output[i]);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 &amp; C11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https://github.com/gjbex/training-material/tree/master/C/C99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ANSI C standard in 1989: ANSI C or C89</a:t>
            </a:r>
          </a:p>
          <a:p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IEEE 754 floating point support</a:t>
            </a:r>
          </a:p>
          <a:p>
            <a:pPr lvl="1"/>
            <a:r>
              <a:rPr lang="en-US" dirty="0"/>
              <a:t>inline functions</a:t>
            </a:r>
          </a:p>
          <a:p>
            <a:pPr lvl="1"/>
            <a:r>
              <a:rPr lang="en-US" dirty="0"/>
              <a:t>intermingled declarations &amp; code</a:t>
            </a:r>
          </a:p>
          <a:p>
            <a:pPr lvl="1"/>
            <a:r>
              <a:rPr lang="en-US" dirty="0"/>
              <a:t>Boolean &amp; complex type</a:t>
            </a:r>
          </a:p>
          <a:p>
            <a:pPr lvl="1"/>
            <a:r>
              <a:rPr lang="en-US" dirty="0"/>
              <a:t>variable length arrays</a:t>
            </a:r>
          </a:p>
          <a:p>
            <a:pPr lvl="1"/>
            <a:r>
              <a:rPr lang="en-US" dirty="0"/>
              <a:t>flexible arrays members</a:t>
            </a:r>
          </a:p>
          <a:p>
            <a:pPr lvl="1"/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pPr lvl="1"/>
            <a:r>
              <a:rPr lang="en-US" dirty="0"/>
              <a:t>restrict keyword</a:t>
            </a:r>
          </a:p>
          <a:p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variable length arrays are optional feature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  <p:sp>
        <p:nvSpPr>
          <p:cNvPr id="7" name="TextBox 6"/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6084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n-US" dirty="0"/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 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</a:t>
            </a:r>
          </a:p>
          <a:p>
            <a:r>
              <a:rPr lang="en-US" dirty="0"/>
              <a:t>Profiling</a:t>
            </a:r>
          </a:p>
          <a:p>
            <a:r>
              <a:rPr lang="en-US" dirty="0"/>
              <a:t>Performance optimization</a:t>
            </a:r>
          </a:p>
          <a:p>
            <a:r>
              <a:rPr lang="en-US" dirty="0"/>
              <a:t>Reading/writing scientific data: HDF5</a:t>
            </a:r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16795</Words>
  <Application>Microsoft Office PowerPoint</Application>
  <PresentationFormat>On-screen Show (4:3)</PresentationFormat>
  <Paragraphs>3429</Paragraphs>
  <Slides>157</Slides>
  <Notes>114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157</vt:i4>
      </vt:variant>
    </vt:vector>
  </HeadingPairs>
  <TitlesOfParts>
    <vt:vector size="172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Equation</vt:lpstr>
      <vt:lpstr>Vergelijking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 &amp; double</vt:lpstr>
      <vt:lpstr>Representation of double</vt:lpstr>
      <vt:lpstr>enum</vt:lpstr>
      <vt:lpstr>struct</vt:lpstr>
      <vt:lpstr>Type sizes</vt:lpstr>
      <vt:lpstr>Type conversion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 &amp; C11 extensions</vt:lpstr>
      <vt:lpstr>Introduction</vt:lpstr>
      <vt:lpstr>IEEE 754 floating point support</vt:lpstr>
      <vt:lpstr>Inline functions</vt:lpstr>
      <vt:lpstr>Boolean type</vt:lpstr>
      <vt:lpstr>Complex type</vt:lpstr>
      <vt:lpstr>Complex numbers example</vt:lpstr>
      <vt:lpstr>Variable length arrays</vt:lpstr>
      <vt:lpstr>Flexible array members</vt:lpstr>
      <vt:lpstr>Restrict</vt:lpstr>
      <vt:lpstr>Miscellaneous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31</cp:revision>
  <dcterms:created xsi:type="dcterms:W3CDTF">2015-12-23T15:15:26Z</dcterms:created>
  <dcterms:modified xsi:type="dcterms:W3CDTF">2025-08-12T15:05:35Z</dcterms:modified>
</cp:coreProperties>
</file>